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ae32ec26c04819" /><Relationship Type="http://schemas.openxmlformats.org/officeDocument/2006/relationships/extended-properties" Target="/docProps/app.xml" Id="Rc5b49e46ef934834" /><Relationship Type="http://schemas.openxmlformats.org/officeDocument/2006/relationships/officeDocument" Target="/ppt/presentation.xml" Id="R8e9f9fb98d9a4a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6c4de28867478b"/>
  </p:sldMasterIdLst>
  <p:notesMasterIdLst>
    <p:notesMasterId xmlns:r="http://schemas.openxmlformats.org/officeDocument/2006/relationships" r:id="Rac85956309de42bd"/>
  </p:notesMasterIdLst>
  <p:sldIdLst>
    <p:sldId xmlns:r="http://schemas.openxmlformats.org/officeDocument/2006/relationships" id="256" r:id="R98ca1ddd0caf422c"/>
    <p:sldId xmlns:r="http://schemas.openxmlformats.org/officeDocument/2006/relationships" id="257" r:id="R42337b291b624cd9"/>
    <p:sldId xmlns:r="http://schemas.openxmlformats.org/officeDocument/2006/relationships" id="258" r:id="Rbfda180fc5104771"/>
    <p:sldId xmlns:r="http://schemas.openxmlformats.org/officeDocument/2006/relationships" id="259" r:id="Ra6af4c055da24d7a"/>
    <p:sldId xmlns:r="http://schemas.openxmlformats.org/officeDocument/2006/relationships" id="260" r:id="Rfe23d6433140471b"/>
    <p:sldId xmlns:r="http://schemas.openxmlformats.org/officeDocument/2006/relationships" id="261" r:id="R1ad13983229c49c4"/>
    <p:sldId xmlns:r="http://schemas.openxmlformats.org/officeDocument/2006/relationships" id="262" r:id="R415821e25306434b"/>
    <p:sldId xmlns:r="http://schemas.openxmlformats.org/officeDocument/2006/relationships" id="263" r:id="Rdcb7054bf44d4d25"/>
    <p:sldId xmlns:r="http://schemas.openxmlformats.org/officeDocument/2006/relationships" id="264" r:id="Rc5685a98860a47c1"/>
    <p:sldId xmlns:r="http://schemas.openxmlformats.org/officeDocument/2006/relationships" id="265" r:id="R22c08d5195664393"/>
    <p:sldId xmlns:r="http://schemas.openxmlformats.org/officeDocument/2006/relationships" id="266" r:id="Rcd649d0c52af46e7"/>
    <p:sldId xmlns:r="http://schemas.openxmlformats.org/officeDocument/2006/relationships" id="267" r:id="Rbf562805d777479f"/>
    <p:sldId xmlns:r="http://schemas.openxmlformats.org/officeDocument/2006/relationships" id="268" r:id="R000242d0b1484478"/>
    <p:sldId xmlns:r="http://schemas.openxmlformats.org/officeDocument/2006/relationships" id="269" r:id="Rbcc3c13d5c8e47d9"/>
    <p:sldId xmlns:r="http://schemas.openxmlformats.org/officeDocument/2006/relationships" id="270" r:id="R8b2e0bc078f54297"/>
    <p:sldId xmlns:r="http://schemas.openxmlformats.org/officeDocument/2006/relationships" id="271" r:id="R07fd7f29f4894c22"/>
    <p:sldId xmlns:r="http://schemas.openxmlformats.org/officeDocument/2006/relationships" id="272" r:id="R098a5cc0bae642f3"/>
    <p:sldId xmlns:r="http://schemas.openxmlformats.org/officeDocument/2006/relationships" id="273" r:id="R7297a368d2714e04"/>
    <p:sldId xmlns:r="http://schemas.openxmlformats.org/officeDocument/2006/relationships" id="274" r:id="R133b8e434f4545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50af1cf09a462a" /><Relationship Type="http://schemas.openxmlformats.org/officeDocument/2006/relationships/slideMaster" Target="/ppt/slideMasters/slideMaster1.xml" Id="R586c4de28867478b" /><Relationship Type="http://schemas.openxmlformats.org/officeDocument/2006/relationships/notesMaster" Target="/ppt/notesMasters/notesMaster1.xml" Id="Rac85956309de42bd" /><Relationship Type="http://schemas.openxmlformats.org/officeDocument/2006/relationships/presProps" Target="/ppt/presProps.xml" Id="R172ef1bbf31a4e8b" /><Relationship Type="http://schemas.openxmlformats.org/officeDocument/2006/relationships/tableStyles" Target="/ppt/tableStyles.xml" Id="Rd8773ae38bec42a0" /><Relationship Type="http://schemas.openxmlformats.org/officeDocument/2006/relationships/slide" Target="/ppt/slides/slide1.xml" Id="R98ca1ddd0caf422c" /><Relationship Type="http://schemas.openxmlformats.org/officeDocument/2006/relationships/slide" Target="/ppt/slides/slide2.xml" Id="R42337b291b624cd9" /><Relationship Type="http://schemas.openxmlformats.org/officeDocument/2006/relationships/slide" Target="/ppt/slides/slide3.xml" Id="Rbfda180fc5104771" /><Relationship Type="http://schemas.openxmlformats.org/officeDocument/2006/relationships/slide" Target="/ppt/slides/slide4.xml" Id="Ra6af4c055da24d7a" /><Relationship Type="http://schemas.openxmlformats.org/officeDocument/2006/relationships/slide" Target="/ppt/slides/slide5.xml" Id="Rfe23d6433140471b" /><Relationship Type="http://schemas.openxmlformats.org/officeDocument/2006/relationships/slide" Target="/ppt/slides/slide6.xml" Id="R1ad13983229c49c4" /><Relationship Type="http://schemas.openxmlformats.org/officeDocument/2006/relationships/slide" Target="/ppt/slides/slide7.xml" Id="R415821e25306434b" /><Relationship Type="http://schemas.openxmlformats.org/officeDocument/2006/relationships/slide" Target="/ppt/slides/slide8.xml" Id="Rdcb7054bf44d4d25" /><Relationship Type="http://schemas.openxmlformats.org/officeDocument/2006/relationships/slide" Target="/ppt/slides/slide9.xml" Id="Rc5685a98860a47c1" /><Relationship Type="http://schemas.openxmlformats.org/officeDocument/2006/relationships/slide" Target="/ppt/slides/slide10.xml" Id="R22c08d5195664393" /><Relationship Type="http://schemas.openxmlformats.org/officeDocument/2006/relationships/slide" Target="/ppt/slides/slide11.xml" Id="Rcd649d0c52af46e7" /><Relationship Type="http://schemas.openxmlformats.org/officeDocument/2006/relationships/slide" Target="/ppt/slides/slide12.xml" Id="Rbf562805d777479f" /><Relationship Type="http://schemas.openxmlformats.org/officeDocument/2006/relationships/slide" Target="/ppt/slides/slide13.xml" Id="R000242d0b1484478" /><Relationship Type="http://schemas.openxmlformats.org/officeDocument/2006/relationships/slide" Target="/ppt/slides/slide14.xml" Id="Rbcc3c13d5c8e47d9" /><Relationship Type="http://schemas.openxmlformats.org/officeDocument/2006/relationships/slide" Target="/ppt/slides/slide15.xml" Id="R8b2e0bc078f54297" /><Relationship Type="http://schemas.openxmlformats.org/officeDocument/2006/relationships/slide" Target="/ppt/slides/slide16.xml" Id="R07fd7f29f4894c22" /><Relationship Type="http://schemas.openxmlformats.org/officeDocument/2006/relationships/slide" Target="/ppt/slides/slide17.xml" Id="R098a5cc0bae642f3" /><Relationship Type="http://schemas.openxmlformats.org/officeDocument/2006/relationships/slide" Target="/ppt/slides/slide18.xml" Id="R7297a368d2714e04" /><Relationship Type="http://schemas.openxmlformats.org/officeDocument/2006/relationships/slide" Target="/ppt/slides/slide19.xml" Id="R133b8e434f4545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8c1169272841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5cda4c20054e0d" /><Relationship Type="http://schemas.openxmlformats.org/officeDocument/2006/relationships/notesMaster" Target="/ppt/notesMasters/notesMaster1.xml" Id="Rf9b934a5d87d45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7dee26ddd54164" /><Relationship Type="http://schemas.openxmlformats.org/officeDocument/2006/relationships/notesMaster" Target="/ppt/notesMasters/notesMaster1.xml" Id="Rae9d1358c2ee4a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0a4e3e57f64d99" /><Relationship Type="http://schemas.openxmlformats.org/officeDocument/2006/relationships/notesMaster" Target="/ppt/notesMasters/notesMaster1.xml" Id="Rbf1ee9a8e06f44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bb9cf345fc41e5" /><Relationship Type="http://schemas.openxmlformats.org/officeDocument/2006/relationships/notesMaster" Target="/ppt/notesMasters/notesMaster1.xml" Id="R0ee1328c2f2145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793bb7ed2d4fb5" /><Relationship Type="http://schemas.openxmlformats.org/officeDocument/2006/relationships/notesMaster" Target="/ppt/notesMasters/notesMaster1.xml" Id="Rc7e9567d593d43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ff522376284e12" /><Relationship Type="http://schemas.openxmlformats.org/officeDocument/2006/relationships/notesMaster" Target="/ppt/notesMasters/notesMaster1.xml" Id="R714480edc1b743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b10963cfdd4312" /><Relationship Type="http://schemas.openxmlformats.org/officeDocument/2006/relationships/notesMaster" Target="/ppt/notesMasters/notesMaster1.xml" Id="R776b96989cab44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67d1f44edd4968" /><Relationship Type="http://schemas.openxmlformats.org/officeDocument/2006/relationships/notesMaster" Target="/ppt/notesMasters/notesMaster1.xml" Id="Rbdcd071d69aa44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8a55defbd04b32" /><Relationship Type="http://schemas.openxmlformats.org/officeDocument/2006/relationships/notesMaster" Target="/ppt/notesMasters/notesMaster1.xml" Id="R576caaba786047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e8c462e0134ea2" /><Relationship Type="http://schemas.openxmlformats.org/officeDocument/2006/relationships/notesMaster" Target="/ppt/notesMasters/notesMaster1.xml" Id="R92f44586c6f741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ec0b887e934bd3" /><Relationship Type="http://schemas.openxmlformats.org/officeDocument/2006/relationships/notesMaster" Target="/ppt/notesMasters/notesMaster1.xml" Id="Rdd638f04df5646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5ec2ff79ed43a9" /><Relationship Type="http://schemas.openxmlformats.org/officeDocument/2006/relationships/notesMaster" Target="/ppt/notesMasters/notesMaster1.xml" Id="Rf51b3fe441714c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05aefeddfc04280" /><Relationship Type="http://schemas.openxmlformats.org/officeDocument/2006/relationships/notesMaster" Target="/ppt/notesMasters/notesMaster1.xml" Id="R5da0ad4062af45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9697255c4a4a95" /><Relationship Type="http://schemas.openxmlformats.org/officeDocument/2006/relationships/notesMaster" Target="/ppt/notesMasters/notesMaster1.xml" Id="R6bc53d6f0c254a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48d27a7a0e748a1" /><Relationship Type="http://schemas.openxmlformats.org/officeDocument/2006/relationships/notesMaster" Target="/ppt/notesMasters/notesMaster1.xml" Id="R9e87bb7ffe3b43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1ef6dd4d4ef4e1f" /><Relationship Type="http://schemas.openxmlformats.org/officeDocument/2006/relationships/notesMaster" Target="/ppt/notesMasters/notesMaster1.xml" Id="R26f42c3209e943a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4e3810a352431d" /><Relationship Type="http://schemas.openxmlformats.org/officeDocument/2006/relationships/notesMaster" Target="/ppt/notesMasters/notesMaster1.xml" Id="R98604b095426417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650bf57c5d84015" /><Relationship Type="http://schemas.openxmlformats.org/officeDocument/2006/relationships/notesMaster" Target="/ppt/notesMasters/notesMaster1.xml" Id="Rdd037012d2f94a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85695930a81446a" /><Relationship Type="http://schemas.openxmlformats.org/officeDocument/2006/relationships/notesMaster" Target="/ppt/notesMasters/notesMaster1.xml" Id="R3559c90cc2d14d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30b777b8ea4b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bd7c783a9d4414" /><Relationship Type="http://schemas.openxmlformats.org/officeDocument/2006/relationships/slideLayout" Target="/ppt/slideLayouts/slideLayout1.xml" Id="Rcd23a55254dc4e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23a55254dc4e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17a8afa584112" /><Relationship Type="http://schemas.openxmlformats.org/officeDocument/2006/relationships/notesSlide" Target="/ppt/notesSlides/notesSlide1.xml" Id="R0a451bf1298048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002110a904ea8" /><Relationship Type="http://schemas.openxmlformats.org/officeDocument/2006/relationships/notesSlide" Target="/ppt/notesSlides/notesSlide2.xml" Id="R70ba0e3a78124d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e082e5d3b4286" /><Relationship Type="http://schemas.openxmlformats.org/officeDocument/2006/relationships/notesSlide" Target="/ppt/notesSlides/notesSlide3.xml" Id="Rb6089ae1a3814c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7994b8b334292" /><Relationship Type="http://schemas.openxmlformats.org/officeDocument/2006/relationships/notesSlide" Target="/ppt/notesSlides/notesSlide4.xml" Id="Rb5df24a6d2ac4e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f38ea3959414a" /><Relationship Type="http://schemas.openxmlformats.org/officeDocument/2006/relationships/notesSlide" Target="/ppt/notesSlides/notesSlide5.xml" Id="R4311ca3c483441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34c43ab1d4d5a" /><Relationship Type="http://schemas.openxmlformats.org/officeDocument/2006/relationships/notesSlide" Target="/ppt/notesSlides/notesSlide6.xml" Id="R3cf04346d75e47d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094aff3bf40f0" /><Relationship Type="http://schemas.openxmlformats.org/officeDocument/2006/relationships/notesSlide" Target="/ppt/notesSlides/notesSlide7.xml" Id="Rf8c3e320f65840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1da1fbad54f96" /><Relationship Type="http://schemas.openxmlformats.org/officeDocument/2006/relationships/notesSlide" Target="/ppt/notesSlides/notesSlide8.xml" Id="Rf4f110f2c56e46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88eaed0c04596" /><Relationship Type="http://schemas.openxmlformats.org/officeDocument/2006/relationships/notesSlide" Target="/ppt/notesSlides/notesSlide9.xml" Id="R875ccdf182744d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51f939f92245d0" /><Relationship Type="http://schemas.openxmlformats.org/officeDocument/2006/relationships/notesSlide" Target="/ppt/notesSlides/notesSlide10.xml" Id="R76c5da98b4984c6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4748840ec4139" /><Relationship Type="http://schemas.openxmlformats.org/officeDocument/2006/relationships/notesSlide" Target="/ppt/notesSlides/notesSlide11.xml" Id="R8151a6d504c448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02fbf94af48e3" /><Relationship Type="http://schemas.openxmlformats.org/officeDocument/2006/relationships/image" Target="/ppt/media/image.png" Id="R3e1be344e7014bdc" /><Relationship Type="http://schemas.openxmlformats.org/officeDocument/2006/relationships/notesSlide" Target="/ppt/notesSlides/notesSlide12.xml" Id="R9bdf85e6e95b46f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6f3228c2c4619" /><Relationship Type="http://schemas.openxmlformats.org/officeDocument/2006/relationships/notesSlide" Target="/ppt/notesSlides/notesSlide13.xml" Id="R82d53bf338634b2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c4130acc75441b" /><Relationship Type="http://schemas.openxmlformats.org/officeDocument/2006/relationships/notesSlide" Target="/ppt/notesSlides/notesSlide14.xml" Id="Re54d733346b9432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36677bc76482e" /><Relationship Type="http://schemas.openxmlformats.org/officeDocument/2006/relationships/notesSlide" Target="/ppt/notesSlides/notesSlide15.xml" Id="R67f20f03c9784a4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125ce82c24dea" /><Relationship Type="http://schemas.openxmlformats.org/officeDocument/2006/relationships/notesSlide" Target="/ppt/notesSlides/notesSlide16.xml" Id="R74d524d836be4c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4c515c4dd4cab" /><Relationship Type="http://schemas.openxmlformats.org/officeDocument/2006/relationships/notesSlide" Target="/ppt/notesSlides/notesSlide17.xml" Id="R2910adb90e8546f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29a1a69ac459f" /><Relationship Type="http://schemas.openxmlformats.org/officeDocument/2006/relationships/notesSlide" Target="/ppt/notesSlides/notesSlide18.xml" Id="Ra092476761ba428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4c4cab23a457e" /><Relationship Type="http://schemas.openxmlformats.org/officeDocument/2006/relationships/notesSlide" Target="/ppt/notesSlides/notesSlide19.xml" Id="R7f9c389114bb41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8DCFDE-59F1-42A3-AD54-82481B03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04DED-5639-487B-A1CE-D8B6EA51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BÁO CÁO TỔNG KẾT 10 TUẦN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D5B921-AF15-41C0-957B-4A87A521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2EBE5-23AB-404B-B144-FC2F6847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DỰ ÁN KIỂM THỬ HỆ THỐNG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067F9E-BB96-4036-A946-08C70B99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AFC"/>
                </a:solidFill>
              </a:defRPr>
            </a:pPr>
            <a:r>
              <a:rPr sz="3900" b="1">
                <a:solidFill>
                  <a:srgbClr val="F8FAFC"/>
                </a:solidFill>
              </a:rPr>
              <a:t>Pickleball Court &amp; Coach</a:t>
            </a:r>
          </a:p>
          <a:p xmlns:a="http://schemas.openxmlformats.org/drawingml/2006/main">
            <a:pPr algn="l">
              <a:defRPr sz="3900" b="1">
                <a:solidFill>
                  <a:srgbClr val="F8FAFC"/>
                </a:solidFill>
              </a:defRPr>
            </a:pPr>
            <a:r>
              <a:rPr sz="3900" b="1">
                <a:solidFill>
                  <a:srgbClr val="F8FAFC"/>
                </a:solidFill>
              </a:rPr>
              <a:t>Booking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03B65-EEAA-45C4-9F50-2E07382D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38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AA9C0"/>
                </a:solidFill>
              </a:defRPr>
            </a:pPr>
            <a:r>
              <a:rPr sz="1800" b="0">
                <a:solidFill>
                  <a:srgbClr val="9AA9C0"/>
                </a:solidFill>
              </a:rPr>
              <a:t>Báo cáo hoạt động kiểm thử &amp; tự động hóa</a:t>
            </a:r>
          </a:p>
          <a:p xmlns:a="http://schemas.openxmlformats.org/drawingml/2006/main">
            <a:pPr algn="l">
              <a:defRPr sz="1800" b="0">
                <a:solidFill>
                  <a:srgbClr val="9AA9C0"/>
                </a:solidFill>
              </a:defRPr>
            </a:pPr>
            <a:r>
              <a:rPr sz="1800" b="0">
                <a:solidFill>
                  <a:srgbClr val="9AA9C0"/>
                </a:solidFill>
              </a:rPr>
              <a:t>10 tuần đồng hành cùng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7F5D3-77F9-451C-863F-3BAC6881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2476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DD874C-5FFB-43B1-8D96-B70C8EF7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NHÓM 3 • SWP391_SE1701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615BC-97A0-4AC4-8DE3-8D758E14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Đại học FPT TP.HCM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F926D-7250-4303-A130-349C3023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81100"/>
            <a:ext cx="3657600" cy="38862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61E09-8A4B-4A26-B3CD-F4C2C420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66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70660-E7E1-4B49-8F91-8C436505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47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CORE TEAM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22B1FE-3D76-4170-B115-A274F5B9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52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Trần Quốc Sang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AB5E89-95B6-4BEE-AF30-6692BBB9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09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PM / Tester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40C48-7B70-44F7-9B93-F770CB9F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Lê Thị Văn Anh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39D159-FA22-4A6A-B6E4-3841B113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0D89C"/>
                </a:solidFill>
              </a:defRPr>
            </a:pPr>
            <a:r>
              <a:rPr sz="1050" b="0">
                <a:solidFill>
                  <a:srgbClr val="00D89C"/>
                </a:solidFill>
              </a:rPr>
              <a:t>QA Leader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1F9FCE-98D5-4525-8250-9EB4FF72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765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Trương Quang Tuân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C9A5A-FB6F-468C-89E9-0FA93112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Tester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38905A-7380-4AE3-8E14-A17C81AC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Nguyễn Đào Văn Quý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8B9707-4895-4C1D-80FE-C705D934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957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Backend Developer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3EB045-F566-4E8C-9401-AB65DE51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005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Lê Hữu Sơn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D4812-E0DC-4F7A-93D3-2B2D1D50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57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Frontend Developer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CB1C91-211C-4341-8CD2-24710A14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6576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02FBF8-07F6-4D5F-8FB2-39F89BF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149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QUALITY • AUTOMATION • TRACEABILITY</a:t>
            </a:r>
          </a:p>
        </p:txBody>
      </p:sp>
    </p:spTree>
    <p:extLst>
      <p:ext uri="{BB962C8B-B14F-4D97-AF65-F5344CB8AC3E}">
        <p14:creationId xmlns:p14="http://schemas.microsoft.com/office/powerpoint/2010/main" val="629728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6DD105-0FC3-4066-94A5-60144267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655F5-A1D4-4A9D-AD95-861A0CAC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CHỨC NĂNG ĐƯỢC KIỂM THỬ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2BC19-CD11-4C5B-97BE-7BC3CB9B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2E556-2EA7-433B-99B2-E536FA7E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5 nghiệp vụ cốt lõi tạo nên trải nghiệm PCS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85016-2BA8-4E3E-82A4-38F33074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581FA-AAD6-421B-BD28-C2891EB8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Mỗi module được gắn với rủi ro nghiệp vụ và lớp kiểm thử phù hợp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1FCA44-0580-4C65-95E1-5CE92786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440E7-88BE-4050-9CD9-0300C3F4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D6B8D-86A5-4B40-BECF-7B5A2B87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383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AUTHENTICATION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4159E-4E06-4F1B-9F2B-84412819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4782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Đăng ký • đăng nhập • OAuth2 • phân quyền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14EE8-916A-476C-9C81-A383B058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D6F75-7DAB-401A-963D-D9CB380C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BEE8"/>
                </a:solidFill>
              </a:defRPr>
            </a:pPr>
            <a:r>
              <a:rPr sz="975" b="1">
                <a:solidFill>
                  <a:srgbClr val="08BEE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1B216-9A79-42FC-8F95-AF83FDE7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765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BOOKING &amp; SCHEDULING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EA376-4B9D-460E-A54F-C56F2D5D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8602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Chọn sân • giữ slot 10 phút • overlap 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4DC1E5-DBD9-4D91-A02C-EE96079D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0">
            <a:solidFill>
              <a:srgbClr val="4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941586-962F-43F9-8545-D65542CF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D8DFF"/>
                </a:solidFill>
              </a:defRPr>
            </a:pPr>
            <a:r>
              <a:rPr sz="975" b="1">
                <a:solidFill>
                  <a:srgbClr val="4D8D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4492F-5156-4331-B032-A6292806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PAYMENT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51CE2-B8DB-4BA7-9E35-6D9AD18B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QR PayOS • webhook IPN • trạng thái đơn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CA4622-2F05-4CBB-BECD-B4E48AC4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7195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8F0"/>
          </a:solidFill>
          <a:ln xmlns:a="http://schemas.openxmlformats.org/drawingml/2006/main" w="0">
            <a:solidFill>
              <a:srgbClr val="D93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B81F1F-5749-41E1-827E-04F5C232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38F0"/>
                </a:solidFill>
              </a:defRPr>
            </a:pPr>
            <a:r>
              <a:rPr sz="975" b="1">
                <a:solidFill>
                  <a:srgbClr val="D938F0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BA786A-D912-4CE6-95E1-837DAFB5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529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PROMOTION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0B37EC-350C-493D-8B4F-EF24C03C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6242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Voucher • min order • ngày hết hạn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687606-CF59-4D8D-A100-E3702708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57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D2E5AC-F5C8-459E-B7A8-12236BAF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C453"/>
                </a:solidFill>
              </a:defRPr>
            </a:pPr>
            <a:r>
              <a:rPr sz="975" b="1">
                <a:solidFill>
                  <a:srgbClr val="F6C453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9F168A-6965-41B0-B20A-6FF1F2CA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911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REVIEW &amp; RATING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EABB82-BDBE-4597-A685-12734D13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00625"/>
            <a:ext cx="695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Đánh giá sân và HLV sau buổi chơi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1579AA-F16D-4CAC-ABF3-FC16B116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62650"/>
            <a:ext cx="111252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83F3FD-8FB5-4D6F-ABB6-DBC10FA7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72175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D89C"/>
                </a:solidFill>
              </a:defRPr>
            </a:pPr>
            <a:r>
              <a:rPr sz="1200" b="1">
                <a:solidFill>
                  <a:srgbClr val="00D89C"/>
                </a:solidFill>
              </a:rPr>
              <a:t>Phạm vi chức năng → kịch bản kiểm thử → bằng chứng chất lượng</a:t>
            </a:r>
          </a:p>
        </p:txBody>
      </p:sp>
    </p:spTree>
    <p:extLst>
      <p:ext uri="{BB962C8B-B14F-4D97-AF65-F5344CB8AC3E}">
        <p14:creationId xmlns:p14="http://schemas.microsoft.com/office/powerpoint/2010/main" val="1565064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F76249-1E73-4DDC-8107-7FF602ED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76D3F-167B-4A60-85CB-68AA2891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TEST PLAN &amp;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28631-C085-472A-906D-D221B197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7F36A-DCDB-45D7-BC93-6F0AFDAE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ISTQB v4.0 định nghĩa rõ khi nào được bắt đầu và kết thúc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3BE9F-C7C8-47C1-B78F-9F5D872B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7EBA66-6972-4440-BB53-C7DC917D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Các tiêu chí biến kế hoạch kiểm thử thành một quality gate có thể đo lường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03C93-2789-4E6E-AB01-9EBB46BB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1816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A2CCF-A601-4691-B3E0-8A9105C6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FD854E-5EE3-437C-9334-6301FCBE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ENTRY CRITERIA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70254-16A1-4BFC-87D3-3B5F1061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F6027-0FDF-494E-9768-41820396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4229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API Route Handlers có cấu trúc logic cơ bản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9110A-27B4-4F95-B463-345218AE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ABA0E-E201-411E-8811-49C9D5E4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52800"/>
            <a:ext cx="4229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Vitest và JSDOM đã cấu hình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10D37-E146-4ED5-A576-8FDA9E4C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7468FF-463B-4361-884D-91208E7A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229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Mock data tập trung đã sẵn sàng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C9682-17A4-4D45-9CFD-3979A9DE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562600" cy="3638550"/>
          </a:xfrm>
          <a:prstGeom xmlns:a="http://schemas.openxmlformats.org/drawingml/2006/main" prst="roundRect">
            <a:avLst>
              <a:gd name="adj" fmla="val 3141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D1CD6-4141-49B7-B7BD-58C6FA52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621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FCCAF-8E9D-449C-B8F5-EB10E861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431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EXIT CRITERIA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35B8C9-3220-4D21-AFE8-4B274F1B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4BD0D5-8DE9-4E45-A254-D221C889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242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Test cases được thực thi và pass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30735-FE76-4D91-A760-FB798ED9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909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BEE8"/>
                </a:solidFill>
              </a:defRPr>
            </a:pPr>
            <a:r>
              <a:rPr sz="2850" b="1">
                <a:solidFill>
                  <a:srgbClr val="08BEE8"/>
                </a:solidFill>
              </a:rPr>
              <a:t>&gt;90%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4EB306-CAE4-41F5-ACC9-C27FCC47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24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Code coverage mục tiêu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7FB991-2178-4DFE-8366-521DB47F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91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5A67"/>
                </a:solidFill>
              </a:defRPr>
            </a:pPr>
            <a:r>
              <a:rPr sz="2850" b="1">
                <a:solidFill>
                  <a:srgbClr val="FF5A67"/>
                </a:solidFill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FAB309-7345-461C-ABAA-62E03D06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244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Critical / High defect mở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8B5883-E2CF-4339-9EAB-48B3F9EF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753100"/>
            <a:ext cx="2933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FB9B27-1332-4E84-805F-0A67DE6C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531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TEST_PLAN.md</a:t>
            </a:r>
          </a:p>
        </p:txBody>
      </p:sp>
    </p:spTree>
    <p:extLst>
      <p:ext uri="{BB962C8B-B14F-4D97-AF65-F5344CB8AC3E}">
        <p14:creationId xmlns:p14="http://schemas.microsoft.com/office/powerpoint/2010/main" val="294289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6DCE39-0C5D-4056-AE06-64571932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2041C-1CE5-4CC8-840C-F23CDE81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SCOPE &amp; DELIVERABLES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27F251-184D-4F70-8C99-0FB87384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D0584-F600-4DF7-BF1D-5F020592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Phạm vi gọn, sản phẩm bàn giao đầy đủ và có thể truy vết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8BBBF-9428-486D-9C07-B658FBA2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FCD9A-191D-4B99-BD3E-53921FA7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Nhóm ưu tiên chiều sâu automation thay vì mở rộng sang hạ tầng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761FD-E6D9-4773-A5DA-D4AB6245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IN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EFEFE-7E40-4BB3-BDE9-36190E85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4953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2DF6D-918D-48AA-AD8D-0861C0D1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2A9BC-5E66-4811-BAB4-54F0C76C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4514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Unit Test cho service logic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866E8E-AE7E-4197-8830-0ED8D309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8CA09-71F0-475E-9E92-89C8B263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4514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API Integration Test cho endpoints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843D77-88EB-42AC-AA8A-E40BC541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B0788-8F28-4E5F-9657-D3BD56F2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514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UI Component Test cho LoginPage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D90A7-DEB8-4A4D-8402-097C3884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67"/>
                </a:solidFill>
              </a:defRPr>
            </a:pPr>
            <a:r>
              <a:rPr sz="1350" b="1">
                <a:solidFill>
                  <a:srgbClr val="FF5A67"/>
                </a:solidFill>
              </a:rPr>
              <a:t>OUT OF SCOPE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6569E-7E15-4431-B4AA-2AE7EE6A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00250"/>
            <a:ext cx="5505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7"/>
          </a:solidFill>
          <a:ln xmlns:a="http://schemas.openxmlformats.org/drawingml/2006/main" w="0">
            <a:solidFill>
              <a:srgbClr val="FF5A6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94947D-3700-4905-AAF0-4434300C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58877-34C9-45EB-AF81-4CEF6A3A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4895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Load / Stress testing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39C49-1E54-4129-A0D3-B7F1F9DE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48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99FBC-AA11-46F9-80EE-9093D145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71800"/>
            <a:ext cx="4895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Network penetration testing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3EEE9E-29B3-4A90-8338-B12838BE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14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A2028C-4711-462E-972D-6D543432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38550"/>
            <a:ext cx="4895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8FAFC"/>
                </a:solidFill>
              </a:defRPr>
            </a:pPr>
            <a:r>
              <a:rPr sz="1500" b="0">
                <a:solidFill>
                  <a:srgbClr val="F8FAFC"/>
                </a:solidFill>
              </a:rPr>
              <a:t>Tài khoản ngân hàng thật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1F004F-EA2D-413F-909E-F5343761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FAFF8-540D-4D71-9100-C85C97FFC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DELIVERABLES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EEC4CE-8BBF-4BA0-8511-D034B77A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62550"/>
            <a:ext cx="25527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31D94A-7274-4280-A1A7-B8BAE1E7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TEST_PLAN.md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510835-26A2-4A94-AAA5-C9FDF31E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Kế hoạch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23C306-4B2E-4406-BA19-75444966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62550"/>
            <a:ext cx="25527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83111D-0A92-4B9D-B403-3955794E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76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8BEE8"/>
                </a:solidFill>
              </a:defRPr>
            </a:pPr>
            <a:r>
              <a:rPr sz="1275" b="1">
                <a:solidFill>
                  <a:srgbClr val="08BEE8"/>
                </a:solidFill>
              </a:rPr>
              <a:t>53 automated tests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902FC1-2B87-4593-AE03-62EAE299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5626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Mã kiểm thử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91D80D-42B1-4584-BA62-650B263D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62550"/>
            <a:ext cx="25527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008BD2-A985-4BBB-AAC4-235934E1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76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938F0"/>
                </a:solidFill>
              </a:defRPr>
            </a:pPr>
            <a:r>
              <a:rPr sz="1275" b="1">
                <a:solidFill>
                  <a:srgbClr val="D938F0"/>
                </a:solidFill>
              </a:rPr>
              <a:t>Postman Collection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C7CF77-61D8-47CA-AA16-200A073F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626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API assets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647911-B303-47F4-979E-B7E3E50E4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162550"/>
            <a:ext cx="25527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F93BC2-452B-4E87-9D73-BB37757F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76850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D8DFF"/>
                </a:solidFill>
              </a:defRPr>
            </a:pPr>
            <a:r>
              <a:rPr sz="1275" b="1">
                <a:solidFill>
                  <a:srgbClr val="4D8DFF"/>
                </a:solidFill>
              </a:rPr>
              <a:t>Defect + Summary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249AD6-D949-4EBD-A20E-DB6A1DD2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5626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AA9C0"/>
                </a:solidFill>
              </a:defRPr>
            </a:pPr>
            <a:r>
              <a:rPr sz="1050" b="0">
                <a:solidFill>
                  <a:srgbClr val="9AA9C0"/>
                </a:solidFill>
              </a:rPr>
              <a:t>Báo cáo</a:t>
            </a:r>
          </a:p>
        </p:txBody>
      </p:sp>
    </p:spTree>
    <p:extLst>
      <p:ext uri="{BB962C8B-B14F-4D97-AF65-F5344CB8AC3E}">
        <p14:creationId xmlns:p14="http://schemas.microsoft.com/office/powerpoint/2010/main" val="265790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FBEAE6-149F-4925-9635-29632255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A734D-72B9-4820-B9DB-D15B8CFB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TEST DATA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B6EDB-0266-4DF1-99BD-23DDC136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D1946-AB5D-4DBD-8A19-A3DD82D4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Một nguồn dữ liệu tập trung giúp test độc lập và dễ bảo trì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5434C-D3AE-4FF9-9281-863A676A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45897-57AA-46E0-B3CD-A28DE7E2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tests/data/testData.ts kiểm soát positive, negative và cleanup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D7A582-88CE-4F6F-923E-8EE6C2CE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3333750" cy="3714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EB8AC-FCCA-4E8D-85B0-8A028C6D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D89C"/>
                </a:solidFill>
              </a:defRPr>
            </a:pPr>
            <a:r>
              <a:rPr sz="1950" b="1">
                <a:solidFill>
                  <a:srgbClr val="00D89C"/>
                </a:solidFill>
              </a:rPr>
              <a:t>testData.ts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5AA1F-E5B0-48C4-886A-C32CCA11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SINGLE SOURCE OF TRUTH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75221-2CBD-4C9E-8107-E9FA83B2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33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3DB52-E344-4A6A-A102-4CB460A4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381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Accounts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Courts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Time slots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Voucher codes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Webhook payloads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85697-6176-441F-88FC-2A494965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76400"/>
            <a:ext cx="3429000" cy="3714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D6861-CCDB-49AE-8C09-38EA310E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240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5562E-549A-4AB7-ABE8-EE21BE7C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905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POSITIVE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DC922-096D-4E7A-A257-FE02D4FC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B4FF36-F5BC-47E4-A12C-F86ADAE3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9080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Đăng ký đúng định dạng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FCD5F7-93B6-420A-A4DF-DA3F7D61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B50D9C-EBEF-4FD7-A981-D0D341A5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5755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PayOS signature hợp lệ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9744F-AB0B-4878-A2F6-7E41236B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00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D1DCE9-224A-4E2F-8F05-7E031F73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924300"/>
            <a:ext cx="253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Booking ở slot trống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9EFC1D-933E-491F-9464-8D455BE6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76400"/>
            <a:ext cx="3600450" cy="37147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21172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79596-C931-435A-862B-24095C08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240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B588C5-7C48-457E-8160-592961C5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05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NEGATIVE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C149E3-FE1E-4AF7-A079-A72E3BC9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67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79AD6A-5B29-4AB4-8100-2FA3FDC0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908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Email sai / password yếu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681E03-5DC7-4974-8CBB-8942CE3E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BC08B5-CE19-4820-92F9-4A93CBDC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5755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Webhook sai signature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1CFF3-6DB4-49E9-8111-7952E361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30DE0A-08D0-4754-9DC8-8A14442D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24300"/>
            <a:ext cx="2705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Overlap / vượt 3 đơn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79211A-C5E0-4C24-93D3-3BEF01F2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95950"/>
            <a:ext cx="11125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B28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7FFDDC-06A1-4A24-88EB-D06715EF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vi.clearAllMocks() sau mỗi test → không ảnh hưởng chéo</a:t>
            </a:r>
          </a:p>
        </p:txBody>
      </p:sp>
    </p:spTree>
    <p:extLst>
      <p:ext uri="{BB962C8B-B14F-4D97-AF65-F5344CB8AC3E}">
        <p14:creationId xmlns:p14="http://schemas.microsoft.com/office/powerpoint/2010/main" val="4740536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E9D4318-710D-4D65-9F4F-31CCE940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7BFD2-E8EC-4790-AFC7-4A01F569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THIẾT KẾ HỘP ĐEN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D75F4-4E91-418A-8EA0-35015E20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C2839-0888-4BC9-A2B4-FBB203E4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8 quy tắc bao phủ toàn bộ tổ hợp đăng ký tài khoản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D2B63-2F0D-41FC-9F20-44F0AB48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7EB4BA-63F2-43E6-B27D-C023D519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Decision Table biến ba điều kiện đầu vào thành hành vi có thể kiểm chứng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A96953-BE68-404E-98BE-B43B9FF7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952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590D1-AB97-4F76-B05B-01144D41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Điều kiện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67E07-4B36-46C6-A537-85FB8999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842B9-3281-4BBC-9549-80A46FC1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CC0DF2-E676-423F-AC95-C17C7043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97086-84D2-4833-AE89-B3AC5F42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9E125-EA5B-4B2C-9349-D2D4E3D4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C830E-1C31-4958-BB3A-E6185CDE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D631DF-2EF4-4DDF-86AB-5F71C252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464B4-8E83-4ED0-886D-78FC5503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D5A631-A160-4533-92A6-D75FA729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A9331-9836-415C-BE7E-B2494DA4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BFB1F-E60C-4B19-B3DE-5AD32A3A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F25E9F-4F37-4F11-8923-1776E795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7BEFC-A8CB-40BC-8422-0E9E9BC5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1B1511-2B0B-4C9E-AB31-279BC395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672CB1-0E29-4548-899E-87B39783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790700"/>
            <a:ext cx="8953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8434AC-C3B0-4408-B7E0-878A1C0C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47850"/>
            <a:ext cx="781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AA9C0"/>
                </a:solidFill>
              </a:defRPr>
            </a:pPr>
            <a:r>
              <a:rPr sz="1125" b="1">
                <a:solidFill>
                  <a:srgbClr val="9AA9C0"/>
                </a:solidFill>
              </a:rPr>
              <a:t>R8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E6504-A25A-46C2-9B2B-360319E1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FC40EF-4BF6-41CA-B1C4-0ACF5AE9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Email hợp lệ &amp; duy nhất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D775A-9619-4B4F-B547-6EB11EE6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A1D867-6D27-4F5A-8B6F-30BFBDEF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37FAB7-E717-4FA1-98E5-31E89D10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ADC0AD-4CBF-46FD-9401-A6B6874C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E03CC8-D3C3-4CF1-AF21-4412AA47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B8AB04-E340-452F-8FB1-ECD5A880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7AF5EE-C251-4305-A9DA-A83358FD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55416E-240C-4F9C-A7C0-1F547FD3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D5CB9C-B7A6-401D-A688-4628BEDB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B1902D-0291-415D-AEA7-58EC11D6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6DE294-EDA9-47D6-87AA-C4055107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5FC8D1-C293-4B98-875B-73B80236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C442D4-DF0F-46A7-B1C3-07F62948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7E201C-4D94-430E-97DF-D20687D2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C3311E-DB80-497C-8A55-C20E0E0F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669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5E2A14-02E5-42D1-90D9-AA6D9E89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431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9638837-61B2-4CEA-8441-11BC6143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3F959B-DD8A-43D8-A4A2-3842A942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SĐT hợp lệ &amp; duy nhất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10113F-9335-4438-A84C-713698D2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269BD1-132E-41F7-BAE8-DA295EEE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ED1037-4768-48AD-99B2-242E1AB8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FB3B67-63A3-455C-B2C3-522CF78E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2B054A-CB10-48DD-BD3D-83DA7D10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CCCEE3-6D8E-4873-B229-F80E228E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DC70BD-6614-42AB-A2FB-DAA95806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865C4A6-AD73-4388-B1EF-C2C9966C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1F6D22-B988-4945-ABA6-614C4E88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6DEE29B-78AB-400D-9172-70AB0367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7785053-2D20-4967-845C-9CB67814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343F449-D5CC-4CDD-9FC5-090DCF53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FCF22B-C53F-4D60-AE56-99B5D551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7892C7-02C1-41A2-BEEA-1DBE9D8A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961585-0953-449C-8CB8-3401EB2C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146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765160-693C-4822-9E31-094B0B31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908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D55577-2DD7-460D-BDD7-7BB32D729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DB08AC9-E17D-4CFB-8779-02576158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Mật khẩu mạnh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83501F-744F-4C89-BA3F-69BB469E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B3A39DC-FDC7-4333-BE9C-74F92FE8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2B8A53-79C1-4CAA-A388-BF834585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EEEFD7F-3051-4B15-BF1B-A87BCDCC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88B25E8-4C72-45F6-ACA9-6662E4F1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A64698-E865-4CAA-88D0-69E01571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31ECB48-7C4A-43A9-B6F6-CD960FEB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41552EC-FB5E-4B69-95E5-85201472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263DD29-2F30-4C32-8AF2-8BCC2FB3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3B12D7E-8693-43A0-A996-54A4BF60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6079F9E-37CB-47F9-8D27-CDE20519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21AFD77-6FF3-487E-99FA-D1CAE717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2478C3F-5561-4251-A61D-355F895B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94267F-3D38-4B33-9850-2F739218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Y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9A0EDB1-59D3-4DCA-88BB-081EFD7D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623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D041F2-246B-4F34-BF67-9431FAC4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6385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5C59B8-D9BB-4FC1-A7AD-7A763EC6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2952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5E0C4B7-A4EE-4397-9C48-815C2A1C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2800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D89C"/>
                </a:solidFill>
              </a:defRPr>
            </a:pPr>
            <a:r>
              <a:rPr sz="1200" b="1">
                <a:solidFill>
                  <a:srgbClr val="00D89C"/>
                </a:solidFill>
              </a:rPr>
              <a:t>Kết quả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A183139-CDAD-4340-B928-6343ED46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936A60B-25E0-46FB-A183-1FEA0FBB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OK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9FF7118-3024-4B91-9A3D-91E69A2C3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D5A0C2D-1735-4E9A-A6EC-97EF9EAE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4AE2931-D12D-456C-9A8D-8407A5E7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476B482-4246-4D43-8123-E507F7E5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Phone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584372C-5A5D-465E-997D-1BC01C7B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2C8FC46-4333-4083-8E4E-AE55AD38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Both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11D5130-9CF0-440C-982F-2BD26952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F945F72-275B-4982-98C7-0856CFA9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Email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071D00D-40BC-4795-B4BC-8A91BE3D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AFDB393-3C20-4350-B869-89C92B28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Both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E11C533-D403-4EE6-AC56-9B998B37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220B5D0-FB13-4F86-A7F4-037D74F3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Both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453D9F2-3D0B-48CD-8B89-2D2E78CC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10050"/>
            <a:ext cx="8953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30D2CFF-0EEE-465E-9002-2E5351BB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86250"/>
            <a:ext cx="742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All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D737D2F-6641-4F03-B97A-822186A9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111252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DB203C2-81F7-4A09-9B15-5E7184A2E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8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6B8C93E-8DE4-49E3-98CC-EFC7E00B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TEST CASES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E9529E5-ED9F-45B0-961E-00A72085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334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TC_DT_01 → TC_DT_08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B7708E3-E692-4DE8-B209-A4F74809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19700"/>
            <a:ext cx="493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Phát hiện lỗi nhập liệu đồng thời thay vì chỉ kiểm tra từng trường riêng lẻ</a:t>
            </a:r>
          </a:p>
        </p:txBody>
      </p:sp>
    </p:spTree>
    <p:extLst>
      <p:ext uri="{BB962C8B-B14F-4D97-AF65-F5344CB8AC3E}">
        <p14:creationId xmlns:p14="http://schemas.microsoft.com/office/powerpoint/2010/main" val="14793775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F58C3AC-F304-42C5-A7E9-F14FFE16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E96E8-AD2E-47CE-B331-0D482F67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THIẾT KẾ USE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AC6B2-3B10-45B9-823B-3658544D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9FAC9-EA93-43F6-9B68-EB670D14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UC-04 khóa chặt hành trình Đặt sân → Thanh toán → Xác nhận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D6246-22F0-4E61-85A4-A9EE6B4A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CEA90-DF9D-4F25-B98F-88F1FDC9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Luồng cơ bản và ba ngoại lệ xác định rõ trạng thái của slot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1A8AD-C407-4043-B3D5-BAFA4266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72F0D-0551-48BC-B632-F320C12C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977F6-FF10-4AB9-B26A-C1E846099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A54E5E-5091-48E9-BC3C-D0072B1BF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Chọn sân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&amp; khung giờ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09F0B-6777-45FE-8710-EF146C67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061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FBCA1-1226-41E5-8AE6-D7474AF6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73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4D872-E435-486B-A856-A9ACA2C6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7E674-8704-48D7-B090-D9B2F576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Giữ slot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10 phút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37B1F9-2E62-4BFC-BCE8-5B912933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994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5D57BB-1618-4885-A847-F8D39354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206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B22C6-278D-4CDA-A114-40C9D51F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AC9ABF-9510-4964-86CA-0B188549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Quét QR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PayOS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450BB-9A06-4393-BC63-F28A2146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270" y="21050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EF86C-4B97-46A4-B497-651B8F56A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39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CE2B8A-D428-4173-967D-FA4E61A3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7DE700-2E91-486A-88EB-DCF97278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569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Webhook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IPN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FDCB9E-3862-4E90-8B48-AD497E5A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0720" y="1752600"/>
            <a:ext cx="208788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01486F-C16F-429E-AF23-E58DD7AA4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18383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7550F-5621-446A-9CD8-7E1CA9B8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020" y="2019300"/>
            <a:ext cx="1859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Đơn Paid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Khóa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E8162B-1E0B-4ED8-A56F-FAE99F20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8FAFC"/>
                </a:solidFill>
              </a:defRPr>
            </a:pPr>
            <a:r>
              <a:rPr sz="1800" b="1">
                <a:solidFill>
                  <a:srgbClr val="F8FAFC"/>
                </a:solidFill>
              </a:rPr>
              <a:t>3 luồng ngoại lệ quyết định độ bền của hệ thống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3C62A-8543-4D0D-A6BA-51AB3E28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67"/>
          </a:solidFill>
          <a:ln xmlns:a="http://schemas.openxmlformats.org/drawingml/2006/main" w="0">
            <a:solidFill>
              <a:srgbClr val="FF5A6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E5C1E0-B59D-4CE0-8DA1-CC1F3DE3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67"/>
                </a:solidFill>
              </a:defRPr>
            </a:pPr>
            <a:r>
              <a:rPr sz="1350" b="1">
                <a:solidFill>
                  <a:srgbClr val="FF5A67"/>
                </a:solidFill>
              </a:rPr>
              <a:t>AF1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118632-BBAF-4C97-A4B9-CB26808F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Trùng giờ chơi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AA45CA-D131-46A6-81B3-91A90FAC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86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Từ chối khi slot đã bị khóa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FE7AEC-1CED-447A-9AD0-AD7F3698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9E0EC8-C2AB-46D2-A907-9B8D1ED8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C453"/>
                </a:solidFill>
              </a:defRPr>
            </a:pPr>
            <a:r>
              <a:rPr sz="1350" b="1">
                <a:solidFill>
                  <a:srgbClr val="F6C453"/>
                </a:solidFill>
              </a:rPr>
              <a:t>AF2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04BC07-4F9D-4255-AA38-A97B4355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Vượt giới hạn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FA7C11-BB0F-4DD5-8FD6-1D80FC27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267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Chặn đơn thứ 4 trong ngày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8BB4BF-C4FB-4D5A-BFF8-756E689E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7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746958-96CC-4CF7-ABB3-A0E1FF1A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BEE8"/>
                </a:solidFill>
              </a:defRPr>
            </a:pPr>
            <a:r>
              <a:rPr sz="1350" b="1">
                <a:solidFill>
                  <a:srgbClr val="08BEE8"/>
                </a:solidFill>
              </a:rPr>
              <a:t>AF3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0909BA-958B-40F1-96EB-E2D2D5BF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Hủy / hết hạn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491276-F513-460F-89F6-E072A5AB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48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Giải phóng slot sau 10 phút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F9ED37-8590-4AD0-9737-C171EA0C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22860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C63F6A1-87C6-447A-8B31-6F624C2C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2425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8C55285-1515-4000-BD1E-F5ED6FCA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576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USE CASE TCs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C4B01B-0D25-49E1-91A9-8580E195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386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TC_UC_01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→</a:t>
            </a:r>
          </a:p>
          <a:p xmlns:a="http://schemas.openxmlformats.org/drawingml/2006/main">
            <a:pPr algn="ctr">
              <a:defRPr sz="1650" b="1">
                <a:solidFill>
                  <a:srgbClr val="F8FAFC"/>
                </a:solidFill>
              </a:defRPr>
            </a:pPr>
            <a:r>
              <a:rPr sz="1650" b="1">
                <a:solidFill>
                  <a:srgbClr val="F8FAFC"/>
                </a:solidFill>
              </a:rPr>
              <a:t>TC_UC_04</a:t>
            </a:r>
          </a:p>
        </p:txBody>
      </p:sp>
    </p:spTree>
    <p:extLst>
      <p:ext uri="{BB962C8B-B14F-4D97-AF65-F5344CB8AC3E}">
        <p14:creationId xmlns:p14="http://schemas.microsoft.com/office/powerpoint/2010/main" val="602625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1C94F0-93EA-4E24-AD5B-698F3B4C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679F9-F864-41BF-94DC-94050220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WHITE-BOX &amp; BVA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74D5D-9C6C-46C6-B40E-D05B6150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D1A91-87DA-4ACB-89CD-438F434C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Các biên nghiệp vụ được chuyển thành điểm kiểm thử cụ thể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C1137-30F9-411F-9DEF-F1F01F1C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85D506-51C9-4DB9-B624-7047A818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Không chỉ phủ dòng lệnh — nhóm kiểm tra đúng nơi hành vi thay đổi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C7094-0E8D-44FF-B13D-C3166B45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9A398-CA68-4CDD-8E98-EE30AC0A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BEE8"/>
                </a:solidFill>
              </a:defRPr>
            </a:pPr>
            <a:r>
              <a:rPr sz="1050" b="1">
                <a:solidFill>
                  <a:srgbClr val="08BEE8"/>
                </a:solidFill>
              </a:rPr>
              <a:t>HOÀN TIỀN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629BB-C6AE-42AF-97B2-CACCF91F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calculateRefundAmount()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5FCE3-32B8-40B7-BD5E-ED54F6A0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F5F26-5B5D-48E0-BC69-6E8D63D9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BEE8"/>
                </a:solidFill>
              </a:defRPr>
            </a:pPr>
            <a:r>
              <a:rPr sz="975" b="1">
                <a:solidFill>
                  <a:srgbClr val="08BEE8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14BEA-4ACA-475B-9B13-2169FF64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956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&lt; 2h: 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2E55D6-78B7-466C-856C-86ED6A07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6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BEE8"/>
                </a:solidFill>
              </a:defRPr>
            </a:pPr>
            <a:r>
              <a:rPr sz="975" b="1">
                <a:solidFill>
                  <a:srgbClr val="08BEE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4D97F-6686-4704-BF76-32F34CE6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195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2–12h: 70%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A3263-D36F-455E-B56D-B9CF2605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00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BEE8"/>
                </a:solidFill>
              </a:defRPr>
            </a:pPr>
            <a:r>
              <a:rPr sz="975" b="1">
                <a:solidFill>
                  <a:srgbClr val="08BEE8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8E001-499A-4B50-A377-30BB415E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&gt; 12h: 100%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8208B-B6E4-47E4-998F-9DFDADFE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90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B2B1D-D3DF-48BF-8B9E-B9E16A67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GIỚI HẠN ĐẶT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D9D12-6358-4042-902D-E0B10A8D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createBooking()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392004-A86F-4362-BAD4-AA35D1BD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5A365E-2990-40B7-8697-CFE8C6B4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BC918-CEFC-463C-9970-C0A84436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2956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Lượt 3: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EDE91E-D7D6-4FDD-AEA5-040E8A02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76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D6548A-9C4E-4E6D-BE2C-D9BA872B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195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Lượt 4: Block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3C5B29-1359-4826-856E-39AC3797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92E6C5-534D-4192-8AB4-C19CAB22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Ranh giới/ngày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52BCFA-8E6E-4703-9D58-4EE29DCF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790700"/>
            <a:ext cx="342900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CDADBE-BD25-4C77-99C6-92A6EC3F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3835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38F0"/>
                </a:solidFill>
              </a:defRPr>
            </a:pPr>
            <a:r>
              <a:rPr sz="1050" b="1">
                <a:solidFill>
                  <a:srgbClr val="D938F0"/>
                </a:solidFill>
              </a:rPr>
              <a:t>VOUCHER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5DB97A-CFEC-465A-BA90-DD72F5D8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validatePromotion()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B92FD6-008C-4D78-83D4-490ACBBA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6705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8F0"/>
          </a:solidFill>
          <a:ln xmlns:a="http://schemas.openxmlformats.org/drawingml/2006/main" w="0">
            <a:solidFill>
              <a:srgbClr val="D93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51A654-9578-4EC9-BE15-5D759D22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5280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38F0"/>
                </a:solidFill>
              </a:defRPr>
            </a:pPr>
            <a:r>
              <a:rPr sz="975" b="1">
                <a:solidFill>
                  <a:srgbClr val="D938F0"/>
                </a:solidFill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3220A6-AAB5-442E-B0A3-6A605A59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9565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Hết hạn T/F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CD46D3-FBB4-4D03-A6FC-6D26BE98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38F0"/>
                </a:solidFill>
              </a:defRPr>
            </a:pPr>
            <a:r>
              <a:rPr sz="975" b="1">
                <a:solidFill>
                  <a:srgbClr val="D938F0"/>
                </a:solidFill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FFDD10-C655-4D64-A5C9-F9B95228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19525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Min order T/F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DE7F62-CFC4-43FA-97D9-D868418E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00550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38F0"/>
                </a:solidFill>
              </a:defRPr>
            </a:pPr>
            <a:r>
              <a:rPr sz="975" b="1">
                <a:solidFill>
                  <a:srgbClr val="D938F0"/>
                </a:solidFill>
              </a:rPr>
              <a:t>03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DB34FF-E5F8-4CF6-8FF3-A6F43CC3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Phủ nhánh if/else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0B25D2-F5A6-4E63-B385-1E922C9DF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KỸ THUẬT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A6A541F-EFC1-449E-A437-D7DBEA2A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67350"/>
            <a:ext cx="6858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94F4D8-A580-4BB6-97B0-14BB6839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467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EP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EFFE20-298C-4C46-BE14-695077F9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67350"/>
            <a:ext cx="7810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A928C9-DAA7-4F1D-AC08-58956E2E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4673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BVA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21E4EA3-3462-4A8F-B355-F9A704DF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467350"/>
            <a:ext cx="12001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44EF10D-ABBF-4BD6-B2A7-62AEE2E6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673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STATEMENT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8F35C8-F556-4B04-8A7C-E4800F41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67350"/>
            <a:ext cx="10287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38F0"/>
          </a:solidFill>
          <a:ln xmlns:a="http://schemas.openxmlformats.org/drawingml/2006/main" w="9525">
            <a:solidFill>
              <a:srgbClr val="D93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8946B2-FAC5-41EC-9754-047FF979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4673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BRANCH</a:t>
            </a:r>
          </a:p>
        </p:txBody>
      </p:sp>
    </p:spTree>
    <p:extLst>
      <p:ext uri="{BB962C8B-B14F-4D97-AF65-F5344CB8AC3E}">
        <p14:creationId xmlns:p14="http://schemas.microsoft.com/office/powerpoint/2010/main" val="21068775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1DE529-ED3A-450D-9AF1-2C990717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E3118-EDB8-4126-8797-4A8C68DB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API TESTING WITH POSTMAN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9CB85-9982-4C58-AC8F-DD519ACE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97737-CB38-4A0C-A4B4-B7AFC669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Postman kiểm chứng contract HTTP trước khi đi sâu vào automation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58F06-A07A-431F-9F52-AC165BCE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5B6A8-8AB7-46B2-91B0-69242042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Collection tự lưu JWT và assert đồng thời status code lẫn response schema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93F721-4023-4568-B965-2CFE1710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41529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C9BABF-DC05-4154-A8E6-FB571A75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5D5A1-A233-42D3-8A7B-F853E446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ENVIRONMENT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0F04A9-6A83-4CF2-BE50-D2EB7A2F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BEE8"/>
                </a:solidFill>
              </a:defRPr>
            </a:pPr>
            <a:r>
              <a:rPr sz="1200" b="1">
                <a:solidFill>
                  <a:srgbClr val="08BEE8"/>
                </a:solidFill>
              </a:rPr>
              <a:t>baseUrl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3A1951-1B63-4D73-A261-D0558F82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5717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http://localhost:3000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9778F-7F6D-415C-B972-6CBC93E3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89C"/>
                </a:solidFill>
              </a:defRPr>
            </a:pPr>
            <a:r>
              <a:rPr sz="1200" b="1">
                <a:solidFill>
                  <a:srgbClr val="00D89C"/>
                </a:solidFill>
              </a:rPr>
              <a:t>jwt_token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4972F8-05DB-43B9-B59B-0FE982EA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670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AA9C0"/>
                </a:solidFill>
              </a:defRPr>
            </a:pPr>
            <a:r>
              <a:rPr sz="1275" b="0">
                <a:solidFill>
                  <a:srgbClr val="9AA9C0"/>
                </a:solidFill>
              </a:rPr>
              <a:t>Auto-save after login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8E2A5-6BFB-42A7-9F9C-E489B25C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5F21A5-2BA8-4039-86D2-CA48B7D98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481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COLLECTION 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192847-C1DD-4B35-8074-CFFABC22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6100" y="46196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7CF94E-CB60-493F-A898-0399C00A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996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3D14B-C257-4BC7-BC86-99F19A68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52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25357-CFC7-4D98-B64F-99C8B750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76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Register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C0E66-77AA-47E4-98B7-83D2E255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461962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F146D-A9B2-4625-AA52-52A671EF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550" y="4267200"/>
            <a:ext cx="996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59D2EE-6C54-4D6E-BDCE-4B7D63598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850" y="4352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1614BB-BE54-4FD9-9D2C-22B8DCBA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1850" y="4533900"/>
            <a:ext cx="76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Login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C4FD9A-5F76-4662-A1F7-C62FC2AE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950" y="4267200"/>
            <a:ext cx="9969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802CAE-9C14-46CA-A90D-05B57EBF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250" y="4352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F2A132-CD28-49C3-AF83-6BC3A3ED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250" y="4533900"/>
            <a:ext cx="768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Save JWT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A36110-117D-40AA-87D9-1E9CC1DF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76400"/>
            <a:ext cx="6591300" cy="373380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4AC4EC-8AB5-4FA3-90FD-F28355D3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431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C90A31-5EA5-4C25-8C46-082B56AD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240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POSTMAN TEST SCRIPT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822662-21F4-44BA-8DE4-B3E9EEC0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33650"/>
            <a:ext cx="59626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pm.test("Status code is 200/201", () =&gt; {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  pm.expect(pm.response.code)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    .to.be.oneOf([200, 201]);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});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pm.test("Response contains token", () =&gt; {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  pm.expect(pm.response.json())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    .to.have.property("token");</a:t>
            </a:r>
          </a:p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});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F9F743-3FC3-4C48-A19F-2A25D322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57850"/>
            <a:ext cx="45148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DA08BD-9208-4AB8-B1E1-7028AE03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657850"/>
            <a:ext cx="436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PCS.postman_collection.json</a:t>
            </a:r>
          </a:p>
        </p:txBody>
      </p:sp>
    </p:spTree>
    <p:extLst>
      <p:ext uri="{BB962C8B-B14F-4D97-AF65-F5344CB8AC3E}">
        <p14:creationId xmlns:p14="http://schemas.microsoft.com/office/powerpoint/2010/main" val="4382064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F7959B3-8CFA-49D6-9580-14AC0C06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88B11-E903-416C-B5CD-E5390E1E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AUTOMATION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0BCAE-7A63-4437-9011-F55F28BB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3530F-E444-4202-AFE7-311DE088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Vitest tạo một workspace kiểm thử nhanh, thống nhất và dễ bảo trì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030E2-FF92-4DED-9450-1C758551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D2C72-B99A-4F1C-9575-A2CE5E71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Backend chạy Node, UI chạy JSDOM, dữ liệu dùng chung qua testData.ts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5B0B5-3932-4973-A8C1-5E0D7E27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409575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D9FAF-39FB-4515-8279-893ABC20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D89C"/>
                </a:solidFill>
              </a:defRPr>
            </a:pPr>
            <a:r>
              <a:rPr sz="2100" b="1">
                <a:solidFill>
                  <a:srgbClr val="00D89C"/>
                </a:solidFill>
              </a:rPr>
              <a:t>VITEST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F5216A-5D8C-4D0A-B707-2ED6223F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Lý do lựa chọn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80E1C-E4CE-47CD-885B-BDFF268E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82164-69D8-4630-A6CF-B0A22E7E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TypeScript &amp; Next.js không cần Babel phức tạp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69EFEC-683D-4579-9FB1-84EEFEAE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5E77F6-4237-42C1-B217-CBC5D074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623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Chạy song song nhiều suite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BE1D68-05E9-45AF-A637-536F68A8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92FFE-CDEC-4AAA-9A74-353B0167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Mock API, repository và dependency linh hoạt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30E23-8793-4846-B893-E9FDC94E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434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C1758-BAC0-4582-B583-74A0DFB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Coverage V8 tích hợp trực tiếp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CB6AB-7395-4CBA-B49F-2B2A3360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659130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A5A69-6306-400C-83B9-CD192D19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038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7B866-5A0B-4ECB-A53A-F33D73ADC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19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WORKSPACE ARCHITECTURE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B0CC74-C5FF-4554-BF63-9FB07341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9413" y="3000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410E0A-24CC-4B13-AFE1-A5059C85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D6B1CB-C619-4E5A-A663-58D9713F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03AD03-A007-4A78-81D6-F72B3F28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vitest.config.ts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4346B4-0FC1-4EEE-B231-3684FC7C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000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A5F7B6-91C2-4965-9E43-40603B15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863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54B8F2-0329-406D-900C-C9409887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163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9820EB-B6A6-40E2-95C9-52BD48E5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163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Backend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Node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53B54D-20CC-41E1-965A-09F97D88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038" y="30003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25A258-ADEA-488D-A1A3-240B8C20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F4FC54-32CB-408F-A473-0A23D04D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FA93E4-B023-454E-B629-7E882F6A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Frontend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JSDOM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851C14-61D9-437E-B5BB-C2A6F8BA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488" y="2647950"/>
            <a:ext cx="1376363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7A8792-1C0E-48BB-AD4D-806DB20A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788" y="27336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5A143B-CA1A-477B-9304-A6C658FE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0788" y="2914650"/>
            <a:ext cx="114776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Coverage</a:t>
            </a:r>
          </a:p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V8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4FA45B-190F-46CD-B669-5D97890A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848100"/>
            <a:ext cx="5410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2654B1-CB66-4B21-ADC3-C16F74FF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35052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67AC4C-D15F-46E1-9677-7A424BCB8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95750"/>
            <a:ext cx="335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tests/data/testData.ts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46BA6A-B9E6-4A9D-AFBF-74ECD16D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411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9C0"/>
                </a:solidFill>
              </a:defRPr>
            </a:pPr>
            <a:r>
              <a:rPr sz="1275" b="0">
                <a:solidFill>
                  <a:srgbClr val="9AA9C0"/>
                </a:solidFill>
              </a:rPr>
              <a:t>Mock accounts • courts • slots • vouchers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F7B7B3-F632-4C78-B958-A3CD1688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0B28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B2E372C-6257-4874-BF0C-D4871167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Một nguồn dữ liệu kiểm thử → ít trùng lặp → thay đổi schema nhanh hơn</a:t>
            </a:r>
          </a:p>
        </p:txBody>
      </p:sp>
    </p:spTree>
    <p:extLst>
      <p:ext uri="{BB962C8B-B14F-4D97-AF65-F5344CB8AC3E}">
        <p14:creationId xmlns:p14="http://schemas.microsoft.com/office/powerpoint/2010/main" val="1386976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A4593E-6265-4C10-B121-68FD5531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19308-2761-40DB-BB43-737CE237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CODE COVERAGE WITH ISTANBUL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1928C8-10C4-4C16-83DF-D7490150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17F4E1-8322-4A4B-A212-0A20CC12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Coverage chứng minh bộ test đã đi qua các nhánh logic trọng yếu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AC249-8633-4349-8AE0-5294BE74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23CB4-C1B7-406F-B5BF-8CE28E98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Istanbul v8 xuất đồng thời số liệu tổng quan và báo cáo HTML theo từng dòng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0C192-DF8A-4658-9120-D038F05B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1BD07-8863-48A9-8143-7D036AB8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D433C-7474-4311-8ED6-5D66C63D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TOTAL TESTS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646DA-1713-45DD-B267-C7B53EA6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602C71-9C5B-42EB-AA8B-19163583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53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274FD-EAC2-4E10-8E54-5F99724C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B7B3C8-ACE9-4186-837E-48772624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9CB6B-B15F-4B4D-98A3-DAC2D94D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5A67"/>
                </a:solidFill>
              </a:defRPr>
            </a:pPr>
            <a:r>
              <a:rPr sz="2850" b="1">
                <a:solidFill>
                  <a:srgbClr val="FF5A67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5382D6-6E71-455B-9E8D-3CF02427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915CF7-A228-4AA4-820B-18733A37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1F77E0-879B-4992-B779-53931FB5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4FBC2-E4C5-4FEB-8501-85FCA9FF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PASS RATE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04868-5770-4127-B009-08F8786E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76400"/>
            <a:ext cx="19812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39F16-2939-43EB-8104-3EE88931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097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BEE8"/>
                </a:solidFill>
              </a:defRPr>
            </a:pPr>
            <a:r>
              <a:rPr sz="2850" b="1">
                <a:solidFill>
                  <a:srgbClr val="08BEE8"/>
                </a:solidFill>
              </a:rPr>
              <a:t>4.22s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17475-3722-4CCE-A112-9B997059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43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LOCAL 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B98D05-0977-46DD-8BC2-704A906D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ED48F7-13DB-40E4-B6DD-7C55CF7D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TEST SUITE ALLOCATION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48B262-DF9F-4B7D-AFF4-C2CF498F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Unit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5C5E09-71D4-48D4-BC71-02B1AC11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7147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41 TCs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CF7A6B-45ED-4FCD-9467-68789EDC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90950"/>
            <a:ext cx="7105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21874A-CFCD-496E-88E4-A640AB70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90950"/>
            <a:ext cx="549682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7331A2-921A-4777-8964-7FBA20AF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529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API Integration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A815F0-3258-472B-81B7-8795B867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35292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9 TCs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E184DC-BBE4-4475-B88B-C42AF12A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29125"/>
            <a:ext cx="7105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9CF819-1A1D-4D09-AA8F-CD63F0E3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29125"/>
            <a:ext cx="120662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FC93FC-31F6-4F5A-AD43-D2423DE0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911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UI Component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A670F-3C98-466F-9624-A5F34929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911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8FAFC"/>
                </a:solidFill>
              </a:defRPr>
            </a:pPr>
            <a:r>
              <a:rPr sz="1200" b="1">
                <a:solidFill>
                  <a:srgbClr val="F8FAFC"/>
                </a:solidFill>
              </a:rPr>
              <a:t>3 TCs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F2166C-1E94-48F6-936A-80DFCDC4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7105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A96587-749D-4047-81C2-7BFE439F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67300"/>
            <a:ext cx="40220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8F0"/>
          </a:solidFill>
          <a:ln xmlns:a="http://schemas.openxmlformats.org/drawingml/2006/main" w="0">
            <a:solidFill>
              <a:srgbClr val="D93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AD3532-C17C-4B47-AE5C-6CF5F5A7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A621E0-8090-4838-9A3E-1EAF727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8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D89C"/>
                </a:solidFill>
              </a:defRPr>
            </a:pPr>
            <a:r>
              <a:rPr sz="1275" b="1">
                <a:solidFill>
                  <a:srgbClr val="00D89C"/>
                </a:solidFill>
              </a:rPr>
              <a:t>Statements 92.5%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1F3B13-E3BE-4D7C-BFFE-64A3EE4B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78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BEE8"/>
                </a:solidFill>
              </a:defRPr>
            </a:pPr>
            <a:r>
              <a:rPr sz="1275" b="1">
                <a:solidFill>
                  <a:srgbClr val="08BEE8"/>
                </a:solidFill>
              </a:rPr>
              <a:t>Branches 88.3%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8229E0B-D57E-4EFC-8F6D-06BBC3667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816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38F0"/>
                </a:solidFill>
              </a:defRPr>
            </a:pPr>
            <a:r>
              <a:rPr sz="1275" b="1">
                <a:solidFill>
                  <a:srgbClr val="D938F0"/>
                </a:solidFill>
              </a:rPr>
              <a:t>Functions 95.0%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BA033D-B9A5-4DD4-AC18-3DE27588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7816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D8DFF"/>
                </a:solidFill>
              </a:defRPr>
            </a:pPr>
            <a:r>
              <a:rPr sz="1275" b="1">
                <a:solidFill>
                  <a:srgbClr val="4D8DFF"/>
                </a:solidFill>
              </a:rPr>
              <a:t>Lines 92.5%</a:t>
            </a:r>
          </a:p>
        </p:txBody>
      </p:sp>
    </p:spTree>
    <p:extLst>
      <p:ext uri="{BB962C8B-B14F-4D97-AF65-F5344CB8AC3E}">
        <p14:creationId xmlns:p14="http://schemas.microsoft.com/office/powerpoint/2010/main" val="16326225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2674F2-C421-4450-8290-119BBCBA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5F1B2-EE7E-413E-B649-5E4A0502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QA DASHBOARD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BA482-A62F-4C2A-889A-A917295D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C0FEF-E1D7-430F-B599-B7F84900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Dashboard biến kết quả kiểm thử thành bằng chứng có thể đọc ngay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2F210E-363B-4851-BA93-8E37C339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A456D-EF3F-4536-A06C-5AF5C96D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Một màn hình kết nối pass rate, phân bổ suite và trạng thái pipeline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be344e7014bdc"/>
          <a:stretch xmlns:a="http://schemas.openxmlformats.org/drawingml/2006/main"/>
        </p:blipFill>
        <p:spPr>
          <a:xfrm xmlns:a="http://schemas.openxmlformats.org/drawingml/2006/main">
            <a:off x="533400" y="1844018"/>
            <a:ext cx="7810500" cy="3951015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2DA442-7B96-48E9-B3D1-A98411E7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C7CB50-E609-47C0-9C63-4326EA49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52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AA9C0"/>
                </a:solidFill>
              </a:defRPr>
            </a:pPr>
            <a:r>
              <a:rPr sz="1275" b="1">
                <a:solidFill>
                  <a:srgbClr val="9AA9C0"/>
                </a:solidFill>
              </a:rPr>
              <a:t>OVERVIEW PORTAL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6B799-C513-465D-B65A-FBDBB386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00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52DA4-F00A-4124-BAA9-00613437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24100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53 Passed / 0 Failed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A64E37-9333-41ED-BF54-5B568AA7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ABBD85-CC4C-4767-8FD0-EC5B7B2A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05125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100% 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9388F-78A0-4C3E-ABF2-E9F63FE2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176673-5611-4248-86F3-6D5F887B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86150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Phân bổ Unit • API •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847E7-0BCC-45E1-A637-0648DD0C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433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C69F8-FAF5-48F2-BD56-6E93F296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67175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Pipeline 7 bước trực quan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35E62-B547-4866-973A-B1694775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724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EB2A17-E229-45FF-8630-61F30B34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48200"/>
            <a:ext cx="2514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Coverage theo 4 chỉ số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8BF1D5-0BC9-40FB-9881-EBDE2A81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34000"/>
            <a:ext cx="28003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0B28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6B2A8B-573B-4650-B13F-89CD953B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76875"/>
            <a:ext cx="2419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Evidence → quyết định</a:t>
            </a:r>
          </a:p>
        </p:txBody>
      </p:sp>
    </p:spTree>
    <p:extLst>
      <p:ext uri="{BB962C8B-B14F-4D97-AF65-F5344CB8AC3E}">
        <p14:creationId xmlns:p14="http://schemas.microsoft.com/office/powerpoint/2010/main" val="162858599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EEE973C-82ED-414D-B552-3155E187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9BB02F-5457-4124-AE31-2A2757FA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DASHBOARD VẬN HÀNH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6A54A-5E43-4E67-864B-641D138F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3C664-EE72-449D-8FD8-B302EE9C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Test Execution và Defect Center rút ngắn vòng phản hồi QA–Dev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4E04D-6EA4-46EE-9560-705111EF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DAF849-BBE1-475B-9E50-374557673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Mỗi kết quả đều có thể lọc, truy vết và mở chi tiết xử lý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774E6-3767-4ED3-A55B-24DA3D18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D4F1E-12EB-4B63-8EB4-792872C9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TEST EXECUTION GRID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E8D1A-7BC6-456F-943B-503FBB29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Search • Filter • Pagination • Priority •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DC8FF3-F619-4B7E-A91D-3B6BB7B7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7088B-E33E-42D5-A8AF-22EC6D2E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MODULE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67561-45A0-4862-9CE7-1E187C3C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PRIORITY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2A040-91DC-4489-8E66-6C18A022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14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78E54-C9E4-4837-95B3-EA14C664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7655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2E80D9-1E29-4B3C-8DD6-C3855927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TC_PAY_01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4D370-DD97-463D-81C5-1BBB9A81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Payment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A2D40-0141-41F0-8475-D749429E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DBCE0D-F3B0-47B8-AB81-4E2BE6F5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9146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032B1C-949A-4885-84F5-4B9B43FC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99F4BD-50E9-4CB6-AAB4-15F3CF94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TC_BOOK_04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0ED7E-078B-48F6-896D-6C82D693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Booking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CD870-A674-4DCF-9E4C-1F29A187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747D35-6AD2-4AEE-A4F4-CB541B21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3909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CFA327-95FF-40F4-A436-624B91B7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2905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8A089-043C-493C-9F50-BCADD49C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TC_REG_03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F9D97B-BCD5-424B-A43C-C1DE03E6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Auth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D7E672-A774-442B-86E4-D1DEA4D6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Medium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0F8BF4-E919-47A2-96FE-7DCC1E48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8671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95A138-E8FB-41C4-9619-C6373780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54673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EB41FE-A4A3-441C-959E-FDF6B7DB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TC_UI_02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0556EE-E774-4F76-88F6-33ED02E7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Login UI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060844-8A8A-4E09-8EA4-EFD16E57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8FAFC"/>
                </a:solidFill>
              </a:defRPr>
            </a:pPr>
            <a:r>
              <a:rPr sz="1125" b="0">
                <a:solidFill>
                  <a:srgbClr val="F8FAFC"/>
                </a:solidFill>
              </a:rPr>
              <a:t>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FF76E4-EC3B-4936-B8E6-FF100B39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434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F6096D-96D6-4D04-AE7F-01EDB772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573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77F13D-44E3-4138-B77C-6165A5A9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383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DEFECT DETAIL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20E228-ED39-48AC-9513-7B37F465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57400"/>
            <a:ext cx="5181600" cy="2876550"/>
          </a:xfrm>
          <a:prstGeom xmlns:a="http://schemas.openxmlformats.org/drawingml/2006/main" prst="roundRect">
            <a:avLst>
              <a:gd name="adj" fmla="val 397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2B96BA-DEE6-46BE-8B1C-56C846C3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5A67"/>
          </a:solidFill>
          <a:ln xmlns:a="http://schemas.openxmlformats.org/drawingml/2006/main" w="9525">
            <a:solidFill>
              <a:srgbClr val="FF5A6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B6A219-308F-4AF0-B7A5-741FD237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669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AA328C-A51C-4AEB-AF00-668C4F1F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669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DF_PAY_01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D4E683-C843-455F-9B26-908EC100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Timezone drift in refund calculation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EEECF4-865F-428E-BC7D-ED5FEEBE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194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STEPS TO REPRODUCE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CACCE9D-D1D7-4D45-A279-2F2ACFE9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1. Create booking near boundary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2. Cancel using local timezone</a:t>
            </a:r>
          </a:p>
          <a:p xmlns:a="http://schemas.openxmlformats.org/drawingml/2006/main">
            <a:pPr algn="l">
              <a:defRPr sz="1275" b="0">
                <a:solidFill>
                  <a:srgbClr val="F8FAFC"/>
                </a:solidFill>
              </a:defRPr>
            </a:pPr>
            <a:r>
              <a:rPr sz="1275" b="0">
                <a:solidFill>
                  <a:srgbClr val="F8FAFC"/>
                </a:solidFill>
              </a:rPr>
              <a:t>3. Compare expected refund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C18326-F6D3-4711-8AF6-79AD22CE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3865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A73C8C-2798-4F75-B52D-E1B2F416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720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SUGGESTED FIX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FD3299-EB15-4455-A794-610F5207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33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Normalize timezone or inject controlled clock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4FF8BF-768F-4B88-AF5A-49C64FC9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11252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26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9E69B4-9CC2-442C-ADAF-B8F54395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Chi tiết đủ ngữ cảnh giúp Dev tái hiện và sửa lỗi ngay trong một vòng</a:t>
            </a:r>
          </a:p>
        </p:txBody>
      </p:sp>
    </p:spTree>
    <p:extLst>
      <p:ext uri="{BB962C8B-B14F-4D97-AF65-F5344CB8AC3E}">
        <p14:creationId xmlns:p14="http://schemas.microsoft.com/office/powerpoint/2010/main" val="11867129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351CB0D-E9E8-41F4-9EBE-DFBABCEE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10267-1F49-4497-AC05-AF4791AA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TRUY VẾT &amp; XU HƯỚNG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C9228-3E1B-4971-8092-40549034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81A76-5CE1-430D-905C-CB5834FE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Traceability nối yêu cầu với test — trend chứng minh chất lượng cải thiện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501A8-7637-42B6-B4B5-70FD6E35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35040A-0C37-40AA-9DF1-1515FC58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Dashboard trả lời đồng thời: đã kiểm gì, ở đâu và thay đổi ra sao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C2F62B-DC77-4DBD-8E89-F18C6AB5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52578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FD785-5EA9-47E6-9757-AFCF904E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8B34D-4447-4B5B-8ECD-A4E26CA2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REQUIREMENT TRACEABILITY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8DC17-F8BE-473D-92DB-A45D636D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7DA52-B806-4D33-B41A-ECDC0D50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UC-01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7F365-C0E1-432D-8A2B-A0CEE91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574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TC_USR_01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47010-6995-484F-9347-3A50814D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57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9C0"/>
                </a:solidFill>
              </a:defRPr>
            </a:pPr>
            <a:r>
              <a:rPr sz="1125" b="0">
                <a:solidFill>
                  <a:srgbClr val="9AA9C0"/>
                </a:solidFill>
              </a:rPr>
              <a:t>tests/unit/user.test.ts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7232B-8F17-4909-9FF9-7721855E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E1BA3-9FE3-4B76-A2D0-E18A2B71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UC-04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4B726-E796-4DC5-B92A-F32F6B45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24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TC_PAY_01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52FFC-3340-4F1C-A56E-10DAD62A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9C0"/>
                </a:solidFill>
              </a:defRPr>
            </a:pPr>
            <a:r>
              <a:rPr sz="1125" b="0">
                <a:solidFill>
                  <a:srgbClr val="9AA9C0"/>
                </a:solidFill>
              </a:rPr>
              <a:t>tests/api/payment.api.test.ts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1D404D-E891-449D-ACA8-DE07FF6F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90950"/>
            <a:ext cx="7429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A8A31-210E-4A69-AEBE-4EF796E1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FR-12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D29F6-5885-451F-BE09-C5EE717C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7909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8FAFC"/>
                </a:solidFill>
              </a:defRPr>
            </a:pPr>
            <a:r>
              <a:rPr sz="1275" b="1">
                <a:solidFill>
                  <a:srgbClr val="F8FAFC"/>
                </a:solidFill>
              </a:rPr>
              <a:t>TC_BOOK_04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500091-6219-4ED8-9E96-84CF5983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9C0"/>
                </a:solidFill>
              </a:defRPr>
            </a:pPr>
            <a:r>
              <a:rPr sz="1125" b="0">
                <a:solidFill>
                  <a:srgbClr val="9AA9C0"/>
                </a:solidFill>
              </a:rPr>
              <a:t>tests/unit/booking.test.ts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7F703-E473-466F-8725-1341E4CC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57350"/>
            <a:ext cx="5486400" cy="325755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153923-F212-4347-894E-FB5F3816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E1DD03-68FF-4162-B158-DCBF9A11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66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TREND ANALYTICS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6F369B-CBAB-4094-BC72-63A6245F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47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FC198E-0E84-4A1E-9501-7EBD188C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4795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CBE937-49CC-444D-B5A1-9121406E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41727">
            <a:off x="6781800" y="4038600"/>
            <a:ext cx="916382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C97D1B-6A3B-4D82-9ED0-59F451FC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06097">
            <a:off x="7639050" y="3714750"/>
            <a:ext cx="90362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089B52-8C13-4450-A008-7AA70CA4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37749">
            <a:off x="8496300" y="3429000"/>
            <a:ext cx="938104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9A39F0-1049-4A85-91C5-315F562A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66805">
            <a:off x="9353550" y="3048000"/>
            <a:ext cx="89230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B25ADF-B8AC-4970-B107-31E6F1F8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78596">
            <a:off x="10210800" y="2800350"/>
            <a:ext cx="777091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4BD0C2-4961-41E1-B357-BC716703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81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A53A07-8FE7-48B1-B9A5-50EF3A93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E8CEFB-9304-438B-BF36-ACF1CA64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657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24BA5A-E9B8-4071-99CD-C619904F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3CE44D-1FEF-426E-A777-EE4FCFD5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71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A9CE41-FABC-413D-B782-84654397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A7E7B9-EF0E-4C3E-A4D0-5125B2F1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90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071A57-FFAC-43EE-8B30-DF55E093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8F0FE2-ACE1-4644-AF25-8FCB4EE0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43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1C3465-E5B2-4D55-A2E0-4FC6AA05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4531C40-4566-417C-899C-88B8B8F2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590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50F457-FBA7-4EBC-9C16-3B73C8B1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4386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R6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4006DC-2339-4B0D-B5A1-B7A5BE2A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D89C"/>
                </a:solidFill>
              </a:defRPr>
            </a:pPr>
            <a:r>
              <a:rPr sz="975" b="1">
                <a:solidFill>
                  <a:srgbClr val="00D89C"/>
                </a:solidFill>
              </a:rPr>
              <a:t>PASS RATE / COVERAGE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88B63A-9036-492A-991E-4E165D9F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AE1EAB-1B30-4B41-9180-BF1839AA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History Log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2337E8-A79D-4659-932D-B5DFBF9E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6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Đối soát Run A / B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95A125A-6C45-4CC2-AC71-5CBCBA30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C3EDCF-338A-4EFB-B319-63941DC1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257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Report Center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CF6BECF-9027-43A9-99D4-1CC8A34F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6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Tải báo cáo Markdown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84BF99-4D07-4FC2-AA70-BC7940B1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47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8F0"/>
          </a:solidFill>
          <a:ln xmlns:a="http://schemas.openxmlformats.org/drawingml/2006/main" w="0">
            <a:solidFill>
              <a:srgbClr val="D938F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08E994A-F940-4980-9F1F-6E3B9A7E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57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8FAFC"/>
                </a:solidFill>
              </a:defRPr>
            </a:pPr>
            <a:r>
              <a:rPr sz="1350" b="1">
                <a:solidFill>
                  <a:srgbClr val="F8FAFC"/>
                </a:solidFill>
              </a:rPr>
              <a:t>Settings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0DD9AC-41D8-4B71-A603-3F8FA44B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5626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Vitest • Timezone • Mock DB</a:t>
            </a:r>
          </a:p>
        </p:txBody>
      </p:sp>
    </p:spTree>
    <p:extLst>
      <p:ext uri="{BB962C8B-B14F-4D97-AF65-F5344CB8AC3E}">
        <p14:creationId xmlns:p14="http://schemas.microsoft.com/office/powerpoint/2010/main" val="10108977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32429E-34AF-46FA-A118-460CD2A6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B1AEA-A02A-48FC-AB08-05AB3BC0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DEFECT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A4AE7-7F9D-4F90-8899-562F48D7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76D9A-6C9B-4406-B8FB-D3F43C1A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Ba lỗi được đóng bằng một quy trình retest có kiểm soát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ED381-3200-4741-ADFA-F007DF25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AB39C-57B7-4609-8296-103D3305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Mỗi defect đi qua cùng một lifecycle và giữ bằng chứng sửa lỗi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BCA859-CDD2-4E38-9866-F9B442CD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4725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8DC383-9353-4EA2-922D-339DEE6C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857C0-FB85-4375-B566-900431DD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777C5-0A59-45B3-92EF-DF5980DD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New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E0453C-CBD5-452A-B6B5-C126271F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7500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54CE0-A0C6-4C20-B7AF-409A69DE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175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958914-AF59-4E4D-A565-E9DA3824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75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45843-50B1-4FD2-98A8-911ACB31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475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Assigned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47F57-E3F0-4C68-8FFE-8420AE31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D943AC-DB19-43C1-B50F-6813FA5C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8950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2A82FF-D8AD-4A1B-BA03-DE2DCA97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7522A-0434-4DB7-9DAA-AD005415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In Progress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80DD0-6733-472C-B91F-EF3DBF72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050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B7CF66-C82A-4AAC-B59A-D8C7BA60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2D1E8A-A252-4615-BFDB-0529CD18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63C5D8-7A49-4AB2-8D09-356800F2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Fixed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008DCC-9F92-4FFE-BE8D-3DDA0056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825" y="2009775"/>
            <a:ext cx="171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66C18-0764-49EF-8E53-EC12C0C5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FF5144-8CB5-4A8B-8455-591B8FC0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EF113A-9B9F-4AFB-8BAC-8C764AB8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800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Retest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D50399-5A5D-4349-A3D7-2FB63CFB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7275" y="1657350"/>
            <a:ext cx="1711325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876A3A-8B02-4A51-A187-0C169F26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17430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D89C"/>
                </a:solidFill>
              </a:defRPr>
            </a:pPr>
            <a:r>
              <a:rPr sz="900" b="1">
                <a:solidFill>
                  <a:srgbClr val="00D89C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49A5D5-E3F7-476C-B615-7A43A0F8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575" y="1924050"/>
            <a:ext cx="1482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8FAFC"/>
                </a:solidFill>
              </a:defRPr>
            </a:pPr>
            <a:r>
              <a:rPr sz="1125" b="1">
                <a:solidFill>
                  <a:srgbClr val="F8FAFC"/>
                </a:solidFill>
              </a:rPr>
              <a:t>Closed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7AEEE1-DB8C-4679-AE91-43C2D6BF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34290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F00F9A-A37D-462D-B1F9-B474FD08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5A67"/>
          </a:solidFill>
          <a:ln xmlns:a="http://schemas.openxmlformats.org/drawingml/2006/main" w="9525">
            <a:solidFill>
              <a:srgbClr val="FF5A6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D6770B-C968-445F-BA54-0C26B673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00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HIGH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635641-BE2C-494D-8ED0-EA17E63D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200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DF_PAY_01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2353DC-02C0-42F3-89E5-13B08007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Lệch múi giờ hoàn tiền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UTC vs UTC+7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0B1682-5473-4372-848D-6D12FF6A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FIXED • RETESTED • CLOSED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8A6A2E-CE2F-45A6-896E-6BEEF91F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71800"/>
            <a:ext cx="34290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93E91E-D60E-480E-9EB2-33B4C047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0040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C52400-9FE0-4A6E-8AB9-0CAF1384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00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MEDIUM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EE5717-86C8-4694-BB8F-71DF8AF5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00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DF_REG_01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C02604-426B-4B5E-B071-E69C0CDA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Email hai dấu chấm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được Zod chấp nhận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FC13F4-7A32-4CBB-A901-0EB66BCE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FIXED • RETESTED • CLOSED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AD805C-6356-43A5-84FA-A27E22CF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71800"/>
            <a:ext cx="3429000" cy="20574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3DD183-CC64-4135-87D7-604C6CDC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9144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77C898B-FC12-4E3F-A544-BE02B731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00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MEDIUM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734ECF-4019-4C68-8537-797C6521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004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DF_PAY_02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954DB31-E8FF-46B0-80A8-5FCD8D36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971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Webhook thiếu</a:t>
            </a:r>
          </a:p>
          <a:p xmlns:a="http://schemas.openxmlformats.org/drawingml/2006/main">
            <a:pPr algn="l">
              <a:defRPr sz="1500" b="1">
                <a:solidFill>
                  <a:srgbClr val="F8FAFC"/>
                </a:solidFill>
              </a:defRPr>
            </a:pPr>
            <a:r>
              <a:rPr sz="1500" b="1">
                <a:solidFill>
                  <a:srgbClr val="F8FAFC"/>
                </a:solidFill>
              </a:rPr>
              <a:t>success indicator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1022957-1363-41E4-A658-8212E846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971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D89C"/>
                </a:solidFill>
              </a:defRPr>
            </a:pPr>
            <a:r>
              <a:rPr sz="1050" b="1">
                <a:solidFill>
                  <a:srgbClr val="00D89C"/>
                </a:solidFill>
              </a:rPr>
              <a:t>FIXED • RETESTED • CLOSED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60D04A-AC5A-48DE-A27E-D2D7EF1E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111252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2830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3AB044-FEC1-49D2-BB42-34EB10EE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228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100%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9645C9-8008-4C55-8EB3-86FF0D7A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43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DEFECTS CLOSED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4A94F4-DD8E-42D3-86BD-2D40B5D8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543550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Không còn defect Critical/High mở trước khi bàn giao</a:t>
            </a:r>
          </a:p>
        </p:txBody>
      </p:sp>
    </p:spTree>
    <p:extLst>
      <p:ext uri="{BB962C8B-B14F-4D97-AF65-F5344CB8AC3E}">
        <p14:creationId xmlns:p14="http://schemas.microsoft.com/office/powerpoint/2010/main" val="8589159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FACD1E-625F-4182-9AD5-A984D743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5C9EB-0ED8-472C-BCB4-00BD8524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TEST SUMMARY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BF9E4-921A-429B-A413-807A4CE0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A508F8-615D-468E-9803-D2274E40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Kết quả cuối cùng đạt toàn bộ quality gate đã cam kết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4F358-74F1-478F-8A78-B8B97B76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1A0B6-C78D-4D6C-8815-E6AF92A8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53 test pass, không còn blocker và các luồng trọng yếu sẵn sàng bàn giao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1450C-1202-431F-A56D-3FC55B2D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19812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221215-0940-431E-894B-1944B05B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8FAFC"/>
                </a:solidFill>
              </a:defRPr>
            </a:pPr>
            <a:r>
              <a:rPr sz="2850" b="1">
                <a:solidFill>
                  <a:srgbClr val="F8FAFC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C9347-EDDA-4F34-A3D7-E283D83F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TOTAL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FA1CA-9DE5-4FB7-82B3-CFFB30F9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33550"/>
            <a:ext cx="19812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91192-B2E1-4E2D-9632-489CD391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88595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53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BDCE1F-D827-4B95-A0FE-658BF019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19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PASSED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D03D65-902E-42C8-8D5C-EB2F6C94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19812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3A8AB8-33A1-4A62-B404-6C50B8BF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5A67"/>
                </a:solidFill>
              </a:defRPr>
            </a:pPr>
            <a:r>
              <a:rPr sz="2850" b="1">
                <a:solidFill>
                  <a:srgbClr val="FF5A67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DDA52-F7DE-40D3-B759-5E6420A0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19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FAILED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C87106-76DB-4373-A284-45748633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33550"/>
            <a:ext cx="19812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3212A-9488-48E4-AA92-ED895A6C4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8595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6C453"/>
                </a:solidFill>
              </a:defRPr>
            </a:pPr>
            <a:r>
              <a:rPr sz="2850" b="1">
                <a:solidFill>
                  <a:srgbClr val="F6C453"/>
                </a:solidFill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ADFF8-340F-47CB-9A03-99B88A5E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19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BLOCKED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95476-14A3-4BB5-8BF1-027E75DC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733550"/>
            <a:ext cx="19812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AE1C6-75E5-4A67-9162-0010DF34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85950"/>
            <a:ext cx="1790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BEE8"/>
                </a:solidFill>
              </a:defRPr>
            </a:pPr>
            <a:r>
              <a:rPr sz="2850" b="1">
                <a:solidFill>
                  <a:srgbClr val="08BEE8"/>
                </a:solidFill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988194-E440-475F-BC2A-975578B9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4193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PASS 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DBFC7A-7446-4A7F-8C14-7F460DEC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111252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BE2F01-2C00-442C-853C-DF6C0434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AD0939-35A8-424A-B1BD-14905DCD4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RELEASE ASSESSMENT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2FCB8A-D23B-4FE9-A09A-A31D7D53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C96205-1C77-4DC5-9330-F1DE2AE1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1003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Đăng nhập và phân quyền hoạt động đúng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F4CB6A-FBE9-449D-A2DD-BE8EF8EA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9E0BFE-F76E-49AC-B37B-C2859CE9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1003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Đặt sân thời gian thực không phát sinh double-booking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E50337-3912-419C-B6D5-BFA56D7D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5D3BB5-F22F-47F6-A917-B07F1477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72050"/>
            <a:ext cx="1003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PayOS webhook và trạng thái đơn nhất quán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B7917A-5920-49FF-9C10-396E2160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764119-F3F0-4F2C-83ED-10ED12EA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48300"/>
            <a:ext cx="1003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8FAFC"/>
                </a:solidFill>
              </a:defRPr>
            </a:pPr>
            <a:r>
              <a:rPr sz="1425" b="0">
                <a:solidFill>
                  <a:srgbClr val="F8FAFC"/>
                </a:solidFill>
              </a:rPr>
              <a:t>Hủy lịch và hoàn tiền đúng các mốc nghiệp vụ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3D4ED7-FCEE-4E3C-9F0B-D79E07FE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924550"/>
            <a:ext cx="33909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8F5105-472C-4504-8318-4D71BA7C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924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RELEASE READY</a:t>
            </a:r>
          </a:p>
        </p:txBody>
      </p:sp>
    </p:spTree>
    <p:extLst>
      <p:ext uri="{BB962C8B-B14F-4D97-AF65-F5344CB8AC3E}">
        <p14:creationId xmlns:p14="http://schemas.microsoft.com/office/powerpoint/2010/main" val="10006042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BEEE08-C04C-41B0-BC49-48310365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3DD57-CF9C-4223-BC22-2F1B6B96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AI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D0AB1-2DD5-4821-A429-5E95A59F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681C13-B639-4E73-9CD3-C5B35F7E5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AI tăng tốc khởi tạo — nhóm vẫn chịu trách nhiệm kiểm chứng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746E5-0062-440B-9258-A3A1FB95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37C36-F10B-4062-BFD9-946BACB5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Prompt engineering hiệu quả khi mọi gợi ý đều được review bằng tài liệu và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AD6B4-7C11-408C-8AD0-8DC7B3DE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958F03-BFE8-4292-942E-56579590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4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D89C"/>
                </a:solidFill>
              </a:defRPr>
            </a:pPr>
            <a:r>
              <a:rPr sz="1650" b="1">
                <a:solidFill>
                  <a:srgbClr val="00D89C"/>
                </a:solidFill>
              </a:rPr>
              <a:t>ChatGPT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7CAC8-C5E4-433C-AB8F-92DFF2E4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Boilerplate test &amp; NextRequest mocks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6C855-A352-48CC-93D3-613BFEF9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95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8E7B1-5144-4CC9-B7B7-F049AD9C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4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BEE8"/>
                </a:solidFill>
              </a:defRPr>
            </a:pPr>
            <a:r>
              <a:rPr sz="1650" b="1">
                <a:solidFill>
                  <a:srgbClr val="08BEE8"/>
                </a:solidFill>
              </a:rPr>
              <a:t>Claude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9F23A-6DFD-4542-B046-A2422150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Use Case branches &amp; workspace config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9C9939-58BF-40CA-B308-53585CFD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3429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3DEC6-750B-4D5A-B0CD-E6ED0BB1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47850"/>
            <a:ext cx="300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38F0"/>
                </a:solidFill>
              </a:defRPr>
            </a:pPr>
            <a:r>
              <a:rPr sz="1650" b="1">
                <a:solidFill>
                  <a:srgbClr val="D938F0"/>
                </a:solidFill>
              </a:rPr>
              <a:t>GitHub Copilot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4765C-4D67-4F5E-B887-5D12F9A4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980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Gợi ý mã trong IDE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F2ADE-8922-47AA-A6D6-B5FC59D6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5181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EEAEEF-C8B4-4F72-AD67-4CA5E28E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2A96B2-4A78-44EB-A0FC-18612088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GIÁ TRỊ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C222CB-7062-4A60-AEF2-F37088D1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671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~50%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CE700-0F37-421B-ACE5-3220769C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BOILERPLATE ĐƯỢC HỖ TRỢ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E0694-D1DE-4644-8C3C-7246CCE1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AA9C0"/>
                </a:solidFill>
              </a:defRPr>
            </a:pPr>
            <a:r>
              <a:rPr sz="1275" b="0">
                <a:solidFill>
                  <a:srgbClr val="9AA9C0"/>
                </a:solidFill>
              </a:rPr>
              <a:t>Tiết kiệm thời gian khởi tạo để tập trung vào logic nghiệp vụ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08A8A9-9C02-4782-AAB5-14A2F991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55626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11720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768575-1B14-4603-9F24-6ECCA708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47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BAD5DD-7549-4B69-B592-855DAFAE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A9C0"/>
                </a:solidFill>
              </a:defRPr>
            </a:pPr>
            <a:r>
              <a:rPr sz="1200" b="1">
                <a:solidFill>
                  <a:srgbClr val="9AA9C0"/>
                </a:solidFill>
              </a:rPr>
              <a:t>AI MISTAKES → HUMAN FIX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212B4-E332-40E7-896C-B07A1C23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A51EF-89F2-42C7-A683-BFB911F8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67150"/>
            <a:ext cx="461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UTC cứng làm refund test fail ngẫu nhiên → dùng ngày động / clock kiểm soát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A544E3-7D26-4026-B9FA-B5A1DD50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67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41C483-5E16-4CDD-8572-F40FED69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91050"/>
            <a:ext cx="4610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8FAFC"/>
                </a:solidFill>
              </a:defRPr>
            </a:pPr>
            <a:r>
              <a:rPr sz="1350" b="0">
                <a:solidFill>
                  <a:srgbClr val="F8FAFC"/>
                </a:solidFill>
              </a:rPr>
              <a:t>Cú pháp RTL cũ → đối chiếu tài liệu v16 và cập nhật 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9BEB1E-C716-4276-BC3A-9FA18B04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8FAFC"/>
                </a:solidFill>
              </a:defRPr>
            </a:pPr>
            <a:r>
              <a:rPr sz="1425" b="1">
                <a:solidFill>
                  <a:srgbClr val="F8FAFC"/>
                </a:solidFill>
              </a:rPr>
              <a:t>Nguyên tắc: AI đề xuất • Con người xác minh • Test quyết định</a:t>
            </a:r>
          </a:p>
        </p:txBody>
      </p:sp>
    </p:spTree>
    <p:extLst>
      <p:ext uri="{BB962C8B-B14F-4D97-AF65-F5344CB8AC3E}">
        <p14:creationId xmlns:p14="http://schemas.microsoft.com/office/powerpoint/2010/main" val="162063742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E2F86DE-071F-4820-BF62-29A809A1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40A2E-ABF6-4ED7-A07F-4858510E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ĐÓNG GÓP THÀNH VIÊN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470068-62E3-4285-B0C6-930E065F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B8571-9597-4351-B538-6A0B7BED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8FAFC"/>
                </a:solidFill>
              </a:defRPr>
            </a:pPr>
            <a:r>
              <a:rPr sz="2625" b="1">
                <a:solidFill>
                  <a:srgbClr val="F8FAFC"/>
                </a:solidFill>
              </a:rPr>
              <a:t>Phân công rõ vai trò, nhưng chất lượng là trách nhiệm chung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290A0-948D-45DB-9838-0EF051D7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8DAF2-D571-40F7-AEA2-6246A9D8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AA9C0"/>
                </a:solidFill>
              </a:defRPr>
            </a:pPr>
            <a:r>
              <a:rPr sz="1200" b="0">
                <a:solidFill>
                  <a:srgbClr val="9AA9C0"/>
                </a:solidFill>
              </a:rPr>
              <a:t>Mỗi đóng góp gắn với deliverable và pull request có thể truy vết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6D6C6-607B-4BB4-A087-C8F816D7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0">
            <a:solidFill>
              <a:srgbClr val="4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BE3B7-342C-427F-8B45-8F07D520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Trần Quốc Sang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DEAD12-3D43-4A0B-9B7C-572486C6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D8DFF"/>
                </a:solidFill>
              </a:defRPr>
            </a:pPr>
            <a:r>
              <a:rPr sz="1125" b="1">
                <a:solidFill>
                  <a:srgbClr val="4D8DFF"/>
                </a:solidFill>
              </a:rPr>
              <a:t>PM / Tester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E4FB6A-F9E1-45DF-8763-486E879B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383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Kế hoạch • Decision Table • Use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5C994-E3A4-47D1-B5FB-74FEEEA9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526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4D8DFF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DC9BE-48D3-40F3-850E-B8C804DB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526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#1 • #3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3D205D-D867-4716-AC9B-636A0B71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39B37-9F9F-4CF9-9719-68868B3E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Lê Thị Văn Anh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91B73-2FC1-492E-92F5-EEF4C09E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D89C"/>
                </a:solidFill>
              </a:defRPr>
            </a:pPr>
            <a:r>
              <a:rPr sz="1125" b="1">
                <a:solidFill>
                  <a:srgbClr val="00D89C"/>
                </a:solidFill>
              </a:rPr>
              <a:t>QA Leader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7786A0-2413-40C8-AEAD-3EC1DFD3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146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Vitest/JSDOM • API tests •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C1C44D-511A-47D3-A824-9B780FD2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89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B75379-36CF-40A7-A137-29B6D550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6289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#6 • #7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120D7A-F2EB-45BA-8971-2D96BCC1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528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BEE8"/>
          </a:solidFill>
          <a:ln xmlns:a="http://schemas.openxmlformats.org/drawingml/2006/main" w="0">
            <a:solidFill>
              <a:srgbClr val="08B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6074EB-FF66-4F91-9C14-529BC2F4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Trương Quang Tuân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0479AF-0379-443C-B9E5-346311FE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BEE8"/>
                </a:solidFill>
              </a:defRPr>
            </a:pPr>
            <a:r>
              <a:rPr sz="1125" b="1">
                <a:solidFill>
                  <a:srgbClr val="08BEE8"/>
                </a:solidFill>
              </a:rPr>
              <a:t>Tester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9D6A16-1AB5-440E-BA90-B8F4076B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909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Unit Tests • Workspace config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D8D6E4-5612-4AD6-8B1F-E838AEBF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8BEE8"/>
          </a:solidFill>
          <a:ln xmlns:a="http://schemas.openxmlformats.org/drawingml/2006/main" w="9525">
            <a:solidFill>
              <a:srgbClr val="08B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416AB5-5CD3-4861-8B91-9ADAD538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052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#2 • #4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BDEEB1-0489-44A2-BB50-F6725CD5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solidFill>
              <a:srgbClr val="F6C4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4759B-C7F7-4997-870A-2AFDFEF4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Nguyễn Đào Văn Quý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784784-6586-4BF5-82A1-65287691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C453"/>
                </a:solidFill>
              </a:defRPr>
            </a:pPr>
            <a:r>
              <a:rPr sz="1125" b="1">
                <a:solidFill>
                  <a:srgbClr val="F6C453"/>
                </a:solidFill>
              </a:rPr>
              <a:t>Backend Dev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C22A9-0971-4483-B23A-9458C78C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672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API • Mock DB • Business fixes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5DC829-4376-415D-9468-B073B1F5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815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6C453"/>
          </a:solidFill>
          <a:ln xmlns:a="http://schemas.openxmlformats.org/drawingml/2006/main" w="9525">
            <a:solidFill>
              <a:srgbClr val="F6C45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7386C4-6951-40B1-A623-5606A0D8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3815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PR #5 • #8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6A4DDF-823A-4DB4-B05A-48FC2495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054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38F0"/>
          </a:solidFill>
          <a:ln xmlns:a="http://schemas.openxmlformats.org/drawingml/2006/main" w="0">
            <a:solidFill>
              <a:srgbClr val="D93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F062BB-6A5C-4531-AFCD-330086EA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8FAFC"/>
                </a:solidFill>
              </a:defRPr>
            </a:pPr>
            <a:r>
              <a:rPr sz="1575" b="1">
                <a:solidFill>
                  <a:srgbClr val="F8FAFC"/>
                </a:solidFill>
              </a:rPr>
              <a:t>Lê Hữu Sơn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35247E-4447-400C-A22D-1EDFC4FB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938F0"/>
                </a:solidFill>
              </a:defRPr>
            </a:pPr>
            <a:r>
              <a:rPr sz="1125" b="1">
                <a:solidFill>
                  <a:srgbClr val="D938F0"/>
                </a:solidFill>
              </a:rPr>
              <a:t>Frontend Dev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57B797-74A7-4E51-8824-8AEA9DC5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143500"/>
            <a:ext cx="542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LoginPage • RTL component logic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A0CB6B-7575-42F7-9B11-1AE40FE8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257800"/>
            <a:ext cx="16383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938F0"/>
          </a:solidFill>
          <a:ln xmlns:a="http://schemas.openxmlformats.org/drawingml/2006/main" w="9525">
            <a:solidFill>
              <a:srgbClr val="D938F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ECC30D-79CE-4587-B71F-7158F95B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2578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8FAFC"/>
                </a:solidFill>
              </a:defRPr>
            </a:pPr>
            <a:r>
              <a:rPr sz="975" b="1">
                <a:solidFill>
                  <a:srgbClr val="F8FAFC"/>
                </a:solidFill>
              </a:rPr>
              <a:t>PR #9 • #10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64ACCC-B100-4C25-A3D9-E8BB67C3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2667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11E33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AD8472-4578-4F00-BF7E-7630BC62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817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90085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0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89D045-B9B5-4292-8937-08B676461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PCS • QUALITY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02308-B0DD-4562-A9F7-84B0E3F3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9AA9C0"/>
                </a:solidFill>
              </a:defRPr>
            </a:pPr>
            <a:r>
              <a:rPr sz="975" b="1">
                <a:solidFill>
                  <a:srgbClr val="9AA9C0"/>
                </a:solidFill>
              </a:rPr>
              <a:t>KẾT LUẬN &amp; BƯỚC TIẾP THEO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4B572-959E-4B89-9BE6-816DD87F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AA9C0"/>
                </a:solidFill>
              </a:defRPr>
            </a:pPr>
            <a:r>
              <a:rPr sz="900" b="1">
                <a:solidFill>
                  <a:srgbClr val="9AA9C0"/>
                </a:solidFill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C2753-19EF-4A58-95D2-F97C687B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906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Nền tảng QA đã sẵn sàng.</a:t>
            </a:r>
          </a:p>
          <a:p xmlns:a="http://schemas.openxmlformats.org/drawingml/2006/main">
            <a:pPr algn="l">
              <a:defRPr sz="3000" b="1">
                <a:solidFill>
                  <a:srgbClr val="F8FAFC"/>
                </a:solidFill>
              </a:defRPr>
            </a:pPr>
            <a:r>
              <a:rPr sz="3000" b="1">
                <a:solidFill>
                  <a:srgbClr val="F8FAFC"/>
                </a:solidFill>
              </a:rPr>
              <a:t>Bước tiếp theo là mở rộng chiều sâu kiểm thử.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41A66F-BB77-4067-922C-114F9B4D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89C"/>
          </a:solidFill>
          <a:ln xmlns:a="http://schemas.openxmlformats.org/drawingml/2006/main" w="0">
            <a:solidFill>
              <a:srgbClr val="00D89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B0B34-053C-410D-A2F9-3AEB7EB37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10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374AC-EF55-445C-B849-D9AC877B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0D89C"/>
                </a:solidFill>
              </a:defRPr>
            </a:pPr>
            <a:r>
              <a:rPr sz="2850" b="1">
                <a:solidFill>
                  <a:srgbClr val="00D89C"/>
                </a:solidFill>
              </a:rPr>
              <a:t>53 / 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6F7E3-8AB9-4866-BB53-81D7B0B3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AUTOMATED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A5185-67AF-4A57-A0E1-3AA1C7DA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310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09CA8-9E3C-4687-B7E2-76E04DBB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38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08BEE8"/>
                </a:solidFill>
              </a:defRPr>
            </a:pPr>
            <a:r>
              <a:rPr sz="2850" b="1">
                <a:solidFill>
                  <a:srgbClr val="08BEE8"/>
                </a:solidFill>
              </a:rPr>
              <a:t>&gt;92.5%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3F1127-88E0-41A0-9D1F-DBF3804D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TARGETED COVERAGE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1E5D0-8530-481A-AFC3-356DE81E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686050"/>
            <a:ext cx="31051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1729"/>
          </a:solidFill>
          <a:ln xmlns:a="http://schemas.openxmlformats.org/drawingml/2006/main" w="9525">
            <a:solidFill>
              <a:srgbClr val="2231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4C9A7-F259-4101-92A3-DECA75BF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8384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938F0"/>
                </a:solidFill>
              </a:defRPr>
            </a:pPr>
            <a:r>
              <a:rPr sz="2850" b="1">
                <a:solidFill>
                  <a:srgbClr val="D938F0"/>
                </a:solidFill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00FFE-4B02-4A80-A1A8-14CAB027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AA9C0"/>
                </a:solidFill>
              </a:defRPr>
            </a:pPr>
            <a:r>
              <a:rPr sz="1050" b="1">
                <a:solidFill>
                  <a:srgbClr val="9AA9C0"/>
                </a:solidFill>
              </a:rPr>
              <a:t>DEFECTS CLOSED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3B83BE-C439-4894-B34A-54723C98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AA9C0"/>
                </a:solidFill>
              </a:defRPr>
            </a:pPr>
            <a:r>
              <a:rPr sz="1350" b="1">
                <a:solidFill>
                  <a:srgbClr val="9AA9C0"/>
                </a:solidFill>
              </a:rPr>
              <a:t>HƯỚNG PHÁT TRIỂN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F1991-5772-42B4-88DC-1F6A75D2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14A"/>
          </a:solidFill>
          <a:ln xmlns:a="http://schemas.openxmlformats.org/drawingml/2006/main" w="0">
            <a:solidFill>
              <a:srgbClr val="2231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F1AB4F-3361-4F41-A27A-4BBB341B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89C"/>
                </a:solidFill>
              </a:defRPr>
            </a:pPr>
            <a:r>
              <a:rPr sz="1350" b="1">
                <a:solidFill>
                  <a:srgbClr val="00D89C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7B855-208B-4373-8981-94DC19CE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530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K6 / JMeter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6C992-E6EE-4E03-ADC4-B834BFE3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530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Bổ sung performance gate vào pipeline CI/CD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034F0-A446-4F1A-83B7-6E04A9DA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BEE8"/>
                </a:solidFill>
              </a:defRPr>
            </a:pPr>
            <a:r>
              <a:rPr sz="1350" b="1">
                <a:solidFill>
                  <a:srgbClr val="08BEE8"/>
                </a:solidFill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2B417A-CC82-4B62-96BE-C21FCCB4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8FAFC"/>
                </a:solidFill>
              </a:defRPr>
            </a:pPr>
            <a:r>
              <a:rPr sz="1725" b="1">
                <a:solidFill>
                  <a:srgbClr val="F8FAFC"/>
                </a:solidFill>
              </a:rPr>
              <a:t>Playwright E2E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CF402E-5FBE-49A0-8A43-B5F6DD93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5245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AA9C0"/>
                </a:solidFill>
              </a:defRPr>
            </a:pPr>
            <a:r>
              <a:rPr sz="1350" b="0">
                <a:solidFill>
                  <a:srgbClr val="9AA9C0"/>
                </a:solidFill>
              </a:rPr>
              <a:t>Mở rộng sang Chrome, Safari và các hành trình thật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D5240-213F-446F-9B19-BAB4CA81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943600"/>
            <a:ext cx="3143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D89C"/>
          </a:solidFill>
          <a:ln xmlns:a="http://schemas.openxmlformats.org/drawingml/2006/main" w="9525">
            <a:solidFill>
              <a:srgbClr val="00D8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243B74-0F08-4235-85A1-D1581D4D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9436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F"/>
                </a:solidFill>
              </a:defRPr>
            </a:pPr>
            <a:r>
              <a:rPr sz="975" b="1">
                <a:solidFill>
                  <a:srgbClr val="07101F"/>
                </a:solidFill>
              </a:rPr>
              <a:t>READY FOR THE NEXT QUALITY GATE</a:t>
            </a:r>
          </a:p>
        </p:txBody>
      </p:sp>
    </p:spTree>
    <p:extLst>
      <p:ext uri="{BB962C8B-B14F-4D97-AF65-F5344CB8AC3E}">
        <p14:creationId xmlns:p14="http://schemas.microsoft.com/office/powerpoint/2010/main" val="513949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2026-07-19T12:02:31.8590000Z</dcterms:created>
  <dcterms:modified xsi:type="dcterms:W3CDTF">2026-07-19T12:02:31.8590000Z</dcterms:modified>
</coreProperties>
</file>