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565dde939d446fd" /><Relationship Type="http://schemas.openxmlformats.org/officeDocument/2006/relationships/extended-properties" Target="/docProps/app.xml" Id="Re7c133c1f0de4c6b" /><Relationship Type="http://schemas.openxmlformats.org/officeDocument/2006/relationships/officeDocument" Target="/ppt/presentation.xml" Id="R8ac266342622405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770dd3f687f4727"/>
  </p:sldMasterIdLst>
  <p:notesMasterIdLst>
    <p:notesMasterId xmlns:r="http://schemas.openxmlformats.org/officeDocument/2006/relationships" r:id="Re8da8f577dc54abe"/>
  </p:notesMasterIdLst>
  <p:sldIdLst>
    <p:sldId xmlns:r="http://schemas.openxmlformats.org/officeDocument/2006/relationships" id="256" r:id="R58410463f4834b7f"/>
    <p:sldId xmlns:r="http://schemas.openxmlformats.org/officeDocument/2006/relationships" id="257" r:id="R792c5a0d239a40f9"/>
    <p:sldId xmlns:r="http://schemas.openxmlformats.org/officeDocument/2006/relationships" id="258" r:id="R18cee909939c4ada"/>
    <p:sldId xmlns:r="http://schemas.openxmlformats.org/officeDocument/2006/relationships" id="259" r:id="R718c441876cb467b"/>
    <p:sldId xmlns:r="http://schemas.openxmlformats.org/officeDocument/2006/relationships" id="260" r:id="R29f9b7c0ce2a464b"/>
    <p:sldId xmlns:r="http://schemas.openxmlformats.org/officeDocument/2006/relationships" id="261" r:id="R422c9682dc6b4f34"/>
    <p:sldId xmlns:r="http://schemas.openxmlformats.org/officeDocument/2006/relationships" id="262" r:id="R5c08a115709c4595"/>
    <p:sldId xmlns:r="http://schemas.openxmlformats.org/officeDocument/2006/relationships" id="263" r:id="Rff0708532d1c40ec"/>
    <p:sldId xmlns:r="http://schemas.openxmlformats.org/officeDocument/2006/relationships" id="264" r:id="R0106cc2e312e41e8"/>
    <p:sldId xmlns:r="http://schemas.openxmlformats.org/officeDocument/2006/relationships" id="265" r:id="R7c59ecaab52944df"/>
    <p:sldId xmlns:r="http://schemas.openxmlformats.org/officeDocument/2006/relationships" id="266" r:id="Rae01bfb867fa421e"/>
    <p:sldId xmlns:r="http://schemas.openxmlformats.org/officeDocument/2006/relationships" id="267" r:id="R49afac3af9af45a7"/>
    <p:sldId xmlns:r="http://schemas.openxmlformats.org/officeDocument/2006/relationships" id="268" r:id="Rfd22b2d0361a474e"/>
    <p:sldId xmlns:r="http://schemas.openxmlformats.org/officeDocument/2006/relationships" id="269" r:id="R91ec098dfa52405a"/>
    <p:sldId xmlns:r="http://schemas.openxmlformats.org/officeDocument/2006/relationships" id="270" r:id="R163d2f8822ed480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93d679d116d4c5d" /><Relationship Type="http://schemas.openxmlformats.org/officeDocument/2006/relationships/slideMaster" Target="/ppt/slideMasters/slideMaster1.xml" Id="Re770dd3f687f4727" /><Relationship Type="http://schemas.openxmlformats.org/officeDocument/2006/relationships/notesMaster" Target="/ppt/notesMasters/notesMaster1.xml" Id="Re8da8f577dc54abe" /><Relationship Type="http://schemas.openxmlformats.org/officeDocument/2006/relationships/presProps" Target="/ppt/presProps.xml" Id="Refaf3b54f41c4097" /><Relationship Type="http://schemas.openxmlformats.org/officeDocument/2006/relationships/tableStyles" Target="/ppt/tableStyles.xml" Id="Recdbebd08be64f60" /><Relationship Type="http://schemas.openxmlformats.org/officeDocument/2006/relationships/slide" Target="/ppt/slides/slide1.xml" Id="R58410463f4834b7f" /><Relationship Type="http://schemas.openxmlformats.org/officeDocument/2006/relationships/slide" Target="/ppt/slides/slide2.xml" Id="R792c5a0d239a40f9" /><Relationship Type="http://schemas.openxmlformats.org/officeDocument/2006/relationships/slide" Target="/ppt/slides/slide3.xml" Id="R18cee909939c4ada" /><Relationship Type="http://schemas.openxmlformats.org/officeDocument/2006/relationships/slide" Target="/ppt/slides/slide4.xml" Id="R718c441876cb467b" /><Relationship Type="http://schemas.openxmlformats.org/officeDocument/2006/relationships/slide" Target="/ppt/slides/slide5.xml" Id="R29f9b7c0ce2a464b" /><Relationship Type="http://schemas.openxmlformats.org/officeDocument/2006/relationships/slide" Target="/ppt/slides/slide6.xml" Id="R422c9682dc6b4f34" /><Relationship Type="http://schemas.openxmlformats.org/officeDocument/2006/relationships/slide" Target="/ppt/slides/slide7.xml" Id="R5c08a115709c4595" /><Relationship Type="http://schemas.openxmlformats.org/officeDocument/2006/relationships/slide" Target="/ppt/slides/slide8.xml" Id="Rff0708532d1c40ec" /><Relationship Type="http://schemas.openxmlformats.org/officeDocument/2006/relationships/slide" Target="/ppt/slides/slide9.xml" Id="R0106cc2e312e41e8" /><Relationship Type="http://schemas.openxmlformats.org/officeDocument/2006/relationships/slide" Target="/ppt/slides/slide10.xml" Id="R7c59ecaab52944df" /><Relationship Type="http://schemas.openxmlformats.org/officeDocument/2006/relationships/slide" Target="/ppt/slides/slide11.xml" Id="Rae01bfb867fa421e" /><Relationship Type="http://schemas.openxmlformats.org/officeDocument/2006/relationships/slide" Target="/ppt/slides/slide12.xml" Id="R49afac3af9af45a7" /><Relationship Type="http://schemas.openxmlformats.org/officeDocument/2006/relationships/slide" Target="/ppt/slides/slide13.xml" Id="Rfd22b2d0361a474e" /><Relationship Type="http://schemas.openxmlformats.org/officeDocument/2006/relationships/slide" Target="/ppt/slides/slide14.xml" Id="R91ec098dfa52405a" /><Relationship Type="http://schemas.openxmlformats.org/officeDocument/2006/relationships/slide" Target="/ppt/slides/slide15.xml" Id="R163d2f8822ed480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e262b8f75434c8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63bfad85a834eb8" /><Relationship Type="http://schemas.openxmlformats.org/officeDocument/2006/relationships/notesMaster" Target="/ppt/notesMasters/notesMaster1.xml" Id="R34351df80472438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82aece0779c4d6f" /><Relationship Type="http://schemas.openxmlformats.org/officeDocument/2006/relationships/notesMaster" Target="/ppt/notesMasters/notesMaster1.xml" Id="R6858df5392d2442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287344ee6b24de8" /><Relationship Type="http://schemas.openxmlformats.org/officeDocument/2006/relationships/notesMaster" Target="/ppt/notesMasters/notesMaster1.xml" Id="R9b07744503a9491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81c845d05ac4353" /><Relationship Type="http://schemas.openxmlformats.org/officeDocument/2006/relationships/notesMaster" Target="/ppt/notesMasters/notesMaster1.xml" Id="R7d47acbf04e74c9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16ae03ca33f4166" /><Relationship Type="http://schemas.openxmlformats.org/officeDocument/2006/relationships/notesMaster" Target="/ppt/notesMasters/notesMaster1.xml" Id="Rea8ef481f9a241a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de3449c5b0e49d1" /><Relationship Type="http://schemas.openxmlformats.org/officeDocument/2006/relationships/notesMaster" Target="/ppt/notesMasters/notesMaster1.xml" Id="Rba184e84f379447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14c98a5cd95409a" /><Relationship Type="http://schemas.openxmlformats.org/officeDocument/2006/relationships/notesMaster" Target="/ppt/notesMasters/notesMaster1.xml" Id="Rf57f4c6ed20c451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91be9cad2444399" /><Relationship Type="http://schemas.openxmlformats.org/officeDocument/2006/relationships/notesMaster" Target="/ppt/notesMasters/notesMaster1.xml" Id="Ra52fff14a6c7400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915c89e1e44430e" /><Relationship Type="http://schemas.openxmlformats.org/officeDocument/2006/relationships/notesMaster" Target="/ppt/notesMasters/notesMaster1.xml" Id="Rd58221268663481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bcc53628be94105" /><Relationship Type="http://schemas.openxmlformats.org/officeDocument/2006/relationships/notesMaster" Target="/ppt/notesMasters/notesMaster1.xml" Id="R6fc4e68be6c2445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e70a7de669e4f3f" /><Relationship Type="http://schemas.openxmlformats.org/officeDocument/2006/relationships/notesMaster" Target="/ppt/notesMasters/notesMaster1.xml" Id="Rcb6bafdff67a409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9783085663a4af9" /><Relationship Type="http://schemas.openxmlformats.org/officeDocument/2006/relationships/notesMaster" Target="/ppt/notesMasters/notesMaster1.xml" Id="Rce0df6ede0f64ab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8a4dcc6cb99434a" /><Relationship Type="http://schemas.openxmlformats.org/officeDocument/2006/relationships/notesMaster" Target="/ppt/notesMasters/notesMaster1.xml" Id="Ra0be333107f54b6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d828f7c12144c56" /><Relationship Type="http://schemas.openxmlformats.org/officeDocument/2006/relationships/notesMaster" Target="/ppt/notesMasters/notesMaster1.xml" Id="Red5f59ac67ae4c8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9b78fb9ed0c471d" /><Relationship Type="http://schemas.openxmlformats.org/officeDocument/2006/relationships/notesMaster" Target="/ppt/notesMasters/notesMaster1.xml" Id="Rd2ad233745e44bd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aa82431148468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f78139a373949f0" /><Relationship Type="http://schemas.openxmlformats.org/officeDocument/2006/relationships/slideLayout" Target="/ppt/slideLayouts/slideLayout1.xml" Id="Rfd6f972c03c542d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d6f972c03c542d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d01e5007074dcb" /><Relationship Type="http://schemas.openxmlformats.org/officeDocument/2006/relationships/notesSlide" Target="/ppt/notesSlides/notesSlide1.xml" Id="R6897d993a40847a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63c9817ee84227" /><Relationship Type="http://schemas.openxmlformats.org/officeDocument/2006/relationships/notesSlide" Target="/ppt/notesSlides/notesSlide2.xml" Id="R6767da6135ba4bb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3f1684ed844383" /><Relationship Type="http://schemas.openxmlformats.org/officeDocument/2006/relationships/notesSlide" Target="/ppt/notesSlides/notesSlide3.xml" Id="R0c8d1292788f4c2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b8379dbfde48aa" /><Relationship Type="http://schemas.openxmlformats.org/officeDocument/2006/relationships/notesSlide" Target="/ppt/notesSlides/notesSlide4.xml" Id="Ra3a59bb0cd23460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ae21435ff04392" /><Relationship Type="http://schemas.openxmlformats.org/officeDocument/2006/relationships/notesSlide" Target="/ppt/notesSlides/notesSlide5.xml" Id="Rfb09fe7ccf4641f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c2840b52e2464d" /><Relationship Type="http://schemas.openxmlformats.org/officeDocument/2006/relationships/notesSlide" Target="/ppt/notesSlides/notesSlide6.xml" Id="R514493926c104b1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3d1777adac4c5e" /><Relationship Type="http://schemas.openxmlformats.org/officeDocument/2006/relationships/notesSlide" Target="/ppt/notesSlides/notesSlide7.xml" Id="R4865f4bcb2ad4d9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7f55521532456f" /><Relationship Type="http://schemas.openxmlformats.org/officeDocument/2006/relationships/notesSlide" Target="/ppt/notesSlides/notesSlide8.xml" Id="R6a3d5a870325431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5f9a8f9c5d427c" /><Relationship Type="http://schemas.openxmlformats.org/officeDocument/2006/relationships/image" Target="/ppt/media/image.png" Id="R1fed29cc80654f2d" /><Relationship Type="http://schemas.openxmlformats.org/officeDocument/2006/relationships/notesSlide" Target="/ppt/notesSlides/notesSlide9.xml" Id="Rd39018d7af6b40f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be20c3d0074220" /><Relationship Type="http://schemas.openxmlformats.org/officeDocument/2006/relationships/notesSlide" Target="/ppt/notesSlides/notesSlide10.xml" Id="R4fa06ec706b3474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e9cd367cf34698" /><Relationship Type="http://schemas.openxmlformats.org/officeDocument/2006/relationships/notesSlide" Target="/ppt/notesSlides/notesSlide11.xml" Id="R101b9505a148499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4a82b257fa4097" /><Relationship Type="http://schemas.openxmlformats.org/officeDocument/2006/relationships/notesSlide" Target="/ppt/notesSlides/notesSlide12.xml" Id="Ra8b6e4d36c934c8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b54b352fae4d98" /><Relationship Type="http://schemas.openxmlformats.org/officeDocument/2006/relationships/notesSlide" Target="/ppt/notesSlides/notesSlide13.xml" Id="R51dcc92a0702426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ea9f5cc8844012" /><Relationship Type="http://schemas.openxmlformats.org/officeDocument/2006/relationships/notesSlide" Target="/ppt/notesSlides/notesSlide14.xml" Id="R426575fe63d14aa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21c6c54e4348bc" /><Relationship Type="http://schemas.openxmlformats.org/officeDocument/2006/relationships/notesSlide" Target="/ppt/notesSlides/notesSlide15.xml" Id="R481eea9fbab94f5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E48B15-A689-419F-88BC-22D185400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57D"/>
                </a:solidFill>
              </a:defRPr>
            </a:pPr>
            <a:r>
              <a:rPr sz="975" b="1">
                <a:solidFill>
                  <a:srgbClr val="52657D"/>
                </a:solidFill>
              </a:rPr>
              <a:t>PCS • QUALITY ENGINEERING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53389A-CB31-4934-9E19-B61F837BD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8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57D"/>
                </a:solidFill>
              </a:defRPr>
            </a:pPr>
            <a:r>
              <a:rPr sz="975" b="1">
                <a:solidFill>
                  <a:srgbClr val="52657D"/>
                </a:solidFill>
              </a:rPr>
              <a:t>BÁO CÁO TỔNG KẾT 10 TUẦN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5D225F-9CA8-4D54-BD18-F9C5E9A87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57D"/>
                </a:solidFill>
              </a:defRPr>
            </a:pPr>
            <a:r>
              <a:rPr sz="900" b="1">
                <a:solidFill>
                  <a:srgbClr val="52657D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E78620-0F1C-4146-9AC1-CC05A5EF9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A978"/>
                </a:solidFill>
              </a:defRPr>
            </a:pPr>
            <a:r>
              <a:rPr sz="1350" b="1">
                <a:solidFill>
                  <a:srgbClr val="00A978"/>
                </a:solidFill>
              </a:rPr>
              <a:t>DỰ ÁN KIỂM THỬ HỆ THỐNG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5DE77D-4485-4CC6-8254-E3BDC3723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781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213B"/>
                </a:solidFill>
              </a:defRPr>
            </a:pPr>
            <a:r>
              <a:rPr sz="3900" b="1">
                <a:solidFill>
                  <a:srgbClr val="10213B"/>
                </a:solidFill>
              </a:rPr>
              <a:t>Pickleball Court &amp; Coach</a:t>
            </a:r>
          </a:p>
          <a:p xmlns:a="http://schemas.openxmlformats.org/drawingml/2006/main">
            <a:pPr algn="l">
              <a:defRPr sz="3900" b="1">
                <a:solidFill>
                  <a:srgbClr val="10213B"/>
                </a:solidFill>
              </a:defRPr>
            </a:pPr>
            <a:r>
              <a:rPr sz="3900" b="1">
                <a:solidFill>
                  <a:srgbClr val="10213B"/>
                </a:solidFill>
              </a:rPr>
              <a:t>Booking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41E885-8F62-4878-BF89-9A1AD37B8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638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57D"/>
                </a:solidFill>
              </a:defRPr>
            </a:pPr>
            <a:r>
              <a:rPr sz="1800" b="0">
                <a:solidFill>
                  <a:srgbClr val="52657D"/>
                </a:solidFill>
              </a:rPr>
              <a:t>Báo cáo hoạt động kiểm thử &amp; tự động hóa</a:t>
            </a:r>
          </a:p>
          <a:p xmlns:a="http://schemas.openxmlformats.org/drawingml/2006/main">
            <a:pPr algn="l">
              <a:defRPr sz="1800" b="0">
                <a:solidFill>
                  <a:srgbClr val="52657D"/>
                </a:solidFill>
              </a:defRPr>
            </a:pPr>
            <a:r>
              <a:rPr sz="1800" b="0">
                <a:solidFill>
                  <a:srgbClr val="52657D"/>
                </a:solidFill>
              </a:rPr>
              <a:t>10 tuần đồng hành cùng 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3D70A6-5D1E-434B-B1C4-DB7C0A8AC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48100"/>
            <a:ext cx="2476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B8"/>
          </a:solidFill>
          <a:ln xmlns:a="http://schemas.openxmlformats.org/drawingml/2006/main" w="0">
            <a:solidFill>
              <a:srgbClr val="008CB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4DB2FC-1724-4147-B850-0E4730A3F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957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13B"/>
                </a:solidFill>
              </a:defRPr>
            </a:pPr>
            <a:r>
              <a:rPr sz="1350" b="1">
                <a:solidFill>
                  <a:srgbClr val="10213B"/>
                </a:solidFill>
              </a:rPr>
              <a:t>NHÓM 3 • SWP391_SE1701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631743-C639-4ACD-8F59-6F6BD9E4B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29125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57D"/>
                </a:solidFill>
              </a:defRPr>
            </a:pPr>
            <a:r>
              <a:rPr sz="1200" b="0">
                <a:solidFill>
                  <a:srgbClr val="52657D"/>
                </a:solidFill>
              </a:rPr>
              <a:t>Đại học FPT TP.HCM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1AD224-C988-4D6A-8D4B-4481C6C9D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181100"/>
            <a:ext cx="3657600" cy="38862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7E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9B1BAF-396D-421C-BD91-C85B44504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466850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78"/>
          </a:solidFill>
          <a:ln xmlns:a="http://schemas.openxmlformats.org/drawingml/2006/main" w="0">
            <a:solidFill>
              <a:srgbClr val="00A9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F739B4-1E90-4EDF-8C4E-E66472DE8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4478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57D"/>
                </a:solidFill>
              </a:defRPr>
            </a:pPr>
            <a:r>
              <a:rPr sz="1200" b="1">
                <a:solidFill>
                  <a:srgbClr val="52657D"/>
                </a:solidFill>
              </a:rPr>
              <a:t>CORE TEAM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BE0D69-C001-4246-AF51-8363D3128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5262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13B"/>
                </a:solidFill>
              </a:defRPr>
            </a:pPr>
            <a:r>
              <a:rPr sz="1350" b="1">
                <a:solidFill>
                  <a:srgbClr val="10213B"/>
                </a:solidFill>
              </a:rPr>
              <a:t>Trần Quốc Sang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0F0B1C-4A9E-42D0-A972-B646C9981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098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57D"/>
                </a:solidFill>
              </a:defRPr>
            </a:pPr>
            <a:r>
              <a:rPr sz="1050" b="0">
                <a:solidFill>
                  <a:srgbClr val="52657D"/>
                </a:solidFill>
              </a:rPr>
              <a:t>PM / Tester 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F92D86-7BD9-42C4-B385-6D772B093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146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13B"/>
                </a:solidFill>
              </a:defRPr>
            </a:pPr>
            <a:r>
              <a:rPr sz="1350" b="1">
                <a:solidFill>
                  <a:srgbClr val="10213B"/>
                </a:solidFill>
              </a:rPr>
              <a:t>Lê Thị Văn Anh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59CEFC-F1C0-4413-B76B-80DEEA60F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717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A978"/>
                </a:solidFill>
              </a:defRPr>
            </a:pPr>
            <a:r>
              <a:rPr sz="1050" b="0">
                <a:solidFill>
                  <a:srgbClr val="00A978"/>
                </a:solidFill>
              </a:rPr>
              <a:t>QA Leader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DDF217-1863-4A7A-857E-B7124D240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7657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13B"/>
                </a:solidFill>
              </a:defRPr>
            </a:pPr>
            <a:r>
              <a:rPr sz="1350" b="1">
                <a:solidFill>
                  <a:srgbClr val="10213B"/>
                </a:solidFill>
              </a:rPr>
              <a:t>Trương Quang Tuân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5B9C10-81AB-46C5-8AE7-FF34A6FBA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337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57D"/>
                </a:solidFill>
              </a:defRPr>
            </a:pPr>
            <a:r>
              <a:rPr sz="1050" b="0">
                <a:solidFill>
                  <a:srgbClr val="52657D"/>
                </a:solidFill>
              </a:rPr>
              <a:t>Tester 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2160A3-64B7-47BC-89B0-C4432795C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385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13B"/>
                </a:solidFill>
              </a:defRPr>
            </a:pPr>
            <a:r>
              <a:rPr sz="1350" b="1">
                <a:solidFill>
                  <a:srgbClr val="10213B"/>
                </a:solidFill>
              </a:rPr>
              <a:t>Nguyễn Đào Văn Quý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233C72-B598-4113-9A07-907676C4A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9572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57D"/>
                </a:solidFill>
              </a:defRPr>
            </a:pPr>
            <a:r>
              <a:rPr sz="1050" b="0">
                <a:solidFill>
                  <a:srgbClr val="52657D"/>
                </a:solidFill>
              </a:rPr>
              <a:t>Backend Developer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601B0D-EDE7-43D0-9CC3-457709F38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20052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13B"/>
                </a:solidFill>
              </a:defRPr>
            </a:pPr>
            <a:r>
              <a:rPr sz="1350" b="1">
                <a:solidFill>
                  <a:srgbClr val="10213B"/>
                </a:solidFill>
              </a:rPr>
              <a:t>Lê Hữu Sơn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40CB0A-9110-4116-9908-A1CDFD8AF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4577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57D"/>
                </a:solidFill>
              </a:defRPr>
            </a:pPr>
            <a:r>
              <a:rPr sz="1050" b="0">
                <a:solidFill>
                  <a:srgbClr val="52657D"/>
                </a:solidFill>
              </a:rPr>
              <a:t>Frontend Developer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00A474-6FA5-4989-A48B-DC156F8E7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314950"/>
            <a:ext cx="36576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08CB8"/>
          </a:solidFill>
          <a:ln xmlns:a="http://schemas.openxmlformats.org/drawingml/2006/main" w="9525">
            <a:solidFill>
              <a:srgbClr val="008CB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99324A-04DA-4726-B1B5-6D5610571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314950"/>
            <a:ext cx="350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4F8FC"/>
                </a:solidFill>
              </a:defRPr>
            </a:pPr>
            <a:r>
              <a:rPr sz="975" b="1">
                <a:solidFill>
                  <a:srgbClr val="F4F8FC"/>
                </a:solidFill>
              </a:rPr>
              <a:t>QUALITY • AUTOMATION • TRACEABILITY</a:t>
            </a:r>
          </a:p>
        </p:txBody>
      </p:sp>
    </p:spTree>
    <p:extLst>
      <p:ext uri="{BB962C8B-B14F-4D97-AF65-F5344CB8AC3E}">
        <p14:creationId xmlns:p14="http://schemas.microsoft.com/office/powerpoint/2010/main" val="15349864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9E673D0-8400-43F5-A2F2-CE78204EA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57D"/>
                </a:solidFill>
              </a:defRPr>
            </a:pPr>
            <a:r>
              <a:rPr sz="975" b="1">
                <a:solidFill>
                  <a:srgbClr val="52657D"/>
                </a:solidFill>
              </a:rPr>
              <a:t>PCS • QUALITY ENGINEERING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D9AD36-4287-40CE-9BE0-5CEADC6A2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8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57D"/>
                </a:solidFill>
              </a:defRPr>
            </a:pPr>
            <a:r>
              <a:rPr sz="975" b="1">
                <a:solidFill>
                  <a:srgbClr val="52657D"/>
                </a:solidFill>
              </a:rPr>
              <a:t>BỐI CẢNH &amp; MỤC TIÊU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A1E0A1-704A-4220-8A7A-CA82F8750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57D"/>
                </a:solidFill>
              </a:defRPr>
            </a:pPr>
            <a:r>
              <a:rPr sz="900" b="1">
                <a:solidFill>
                  <a:srgbClr val="52657D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C708E0-227F-46D9-919D-25AA7839D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13B"/>
                </a:solidFill>
              </a:defRPr>
            </a:pPr>
            <a:r>
              <a:rPr sz="2700" b="1">
                <a:solidFill>
                  <a:srgbClr val="10213B"/>
                </a:solidFill>
              </a:rPr>
              <a:t>PCS cần độ tin cậy ở những luồng có rủi ro cao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214CE4-5368-4042-89E6-B0AA408DB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895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78"/>
          </a:solidFill>
          <a:ln xmlns:a="http://schemas.openxmlformats.org/drawingml/2006/main" w="0">
            <a:solidFill>
              <a:srgbClr val="00A97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B6F01A-5255-4D7D-875C-E4A16B8C3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104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57D"/>
                </a:solidFill>
              </a:defRPr>
            </a:pPr>
            <a:r>
              <a:rPr sz="1200" b="0">
                <a:solidFill>
                  <a:srgbClr val="52657D"/>
                </a:solidFill>
              </a:rPr>
              <a:t>Đặt sân, thanh toán và dữ liệu vận hành phải nhất quán theo thời gian thực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B1A058-C04D-44EA-A6F1-12200C1BE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25527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7E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DD7DDF-971A-4D45-B812-1B7A9938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220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A978"/>
                </a:solidFill>
              </a:defRPr>
            </a:pPr>
            <a:r>
              <a:rPr sz="1500" b="1">
                <a:solidFill>
                  <a:srgbClr val="00A978"/>
                </a:solidFill>
              </a:rPr>
              <a:t>Đặt sân &amp; HLV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154DB7-CDAF-4E1A-8220-15D454EDD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71700"/>
            <a:ext cx="2209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57D"/>
                </a:solidFill>
              </a:defRPr>
            </a:pPr>
            <a:r>
              <a:rPr sz="1200" b="0">
                <a:solidFill>
                  <a:srgbClr val="52657D"/>
                </a:solidFill>
              </a:rPr>
              <a:t>Giữ slot, kiểm tra trùng lịch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2BFCA8-F845-4EC2-B969-76D06AF23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76400"/>
            <a:ext cx="25527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7E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A86BB7-314F-4A62-A8D1-E9C0C5CCF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809750"/>
            <a:ext cx="220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8CB8"/>
                </a:solidFill>
              </a:defRPr>
            </a:pPr>
            <a:r>
              <a:rPr sz="1500" b="1">
                <a:solidFill>
                  <a:srgbClr val="008CB8"/>
                </a:solidFill>
              </a:rPr>
              <a:t>Thanh toán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8D49ED-1267-4E20-9B11-C7185EFD2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171700"/>
            <a:ext cx="2209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57D"/>
                </a:solidFill>
              </a:defRPr>
            </a:pPr>
            <a:r>
              <a:rPr sz="1200" b="0">
                <a:solidFill>
                  <a:srgbClr val="52657D"/>
                </a:solidFill>
              </a:rPr>
              <a:t>PayOS, webhook, hoàn tiền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AE830C-53FA-41AA-8FF1-724277FDB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676400"/>
            <a:ext cx="25527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7E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447233-BC3F-4365-85A7-81AAAD378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09750"/>
            <a:ext cx="220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92BC0"/>
                </a:solidFill>
              </a:defRPr>
            </a:pPr>
            <a:r>
              <a:rPr sz="1500" b="1">
                <a:solidFill>
                  <a:srgbClr val="A92BC0"/>
                </a:solidFill>
              </a:rPr>
              <a:t>Ghép cặp &amp; AI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962DC1-96A0-44E0-A0D4-4E1661D43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71700"/>
            <a:ext cx="2209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57D"/>
                </a:solidFill>
              </a:defRPr>
            </a:pPr>
            <a:r>
              <a:rPr sz="1200" b="0">
                <a:solidFill>
                  <a:srgbClr val="52657D"/>
                </a:solidFill>
              </a:rPr>
              <a:t>Skill matching, Gemini chatbot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01C034-4309-4D4F-8FCF-8D7AA61B1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676400"/>
            <a:ext cx="25527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7E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1538E7-C19F-4CAF-A65B-64961587B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809750"/>
            <a:ext cx="220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6FED"/>
                </a:solidFill>
              </a:defRPr>
            </a:pPr>
            <a:r>
              <a:rPr sz="1500" b="1">
                <a:solidFill>
                  <a:srgbClr val="2F6FED"/>
                </a:solidFill>
              </a:rPr>
              <a:t>SaaS Admin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8B9BC2-0B22-4A7C-9483-8ED0ADAAB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171700"/>
            <a:ext cx="2209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57D"/>
                </a:solidFill>
              </a:defRPr>
            </a:pPr>
            <a:r>
              <a:rPr sz="1200" b="0">
                <a:solidFill>
                  <a:srgbClr val="52657D"/>
                </a:solidFill>
              </a:rPr>
              <a:t>Doanh thu, báo cáo, vận hành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9C1A9D-F2FE-4FD4-893A-FED17B4C8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861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13B"/>
                </a:solidFill>
              </a:defRPr>
            </a:pPr>
            <a:r>
              <a:rPr sz="1800" b="1">
                <a:solidFill>
                  <a:srgbClr val="10213B"/>
                </a:solidFill>
              </a:rPr>
              <a:t>4 mục tiêu kiểm thử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1DFE4E-BCA5-4FAB-A4AC-D66CC8F00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385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978"/>
          </a:solidFill>
          <a:ln xmlns:a="http://schemas.openxmlformats.org/drawingml/2006/main" w="9525">
            <a:solidFill>
              <a:srgbClr val="00A97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C71BA2-CCD9-4B2C-9205-DF83ED3E9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62350"/>
            <a:ext cx="6991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13B"/>
                </a:solidFill>
              </a:defRPr>
            </a:pPr>
            <a:r>
              <a:rPr sz="1575" b="0">
                <a:solidFill>
                  <a:srgbClr val="10213B"/>
                </a:solidFill>
              </a:rPr>
              <a:t>Zero double-booking trong luồng đặt sân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B768B1-0B27-4BA6-B5E2-F6643A9CF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978"/>
          </a:solidFill>
          <a:ln xmlns:a="http://schemas.openxmlformats.org/drawingml/2006/main" w="9525">
            <a:solidFill>
              <a:srgbClr val="00A97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5047D3-A762-469C-A0F6-12B9493D1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6991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13B"/>
                </a:solidFill>
              </a:defRPr>
            </a:pPr>
            <a:r>
              <a:rPr sz="1575" b="0">
                <a:solidFill>
                  <a:srgbClr val="10213B"/>
                </a:solidFill>
              </a:rPr>
              <a:t>Kiểm soát đúng hoàn tiền, giới hạn đặt và voucher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8A493F-C52F-4AF9-B5E6-462922FEC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434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978"/>
          </a:solidFill>
          <a:ln xmlns:a="http://schemas.openxmlformats.org/drawingml/2006/main" w="9525">
            <a:solidFill>
              <a:srgbClr val="00A97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04AB2B-92E1-42E1-9D3B-8A66DA4C3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67250"/>
            <a:ext cx="6991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13B"/>
                </a:solidFill>
              </a:defRPr>
            </a:pPr>
            <a:r>
              <a:rPr sz="1575" b="0">
                <a:solidFill>
                  <a:srgbClr val="10213B"/>
                </a:solidFill>
              </a:rPr>
              <a:t>Tự động hóa hồi quy cho các luồng trọng yếu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E1AF15-A7DF-42AD-84F4-18A5DC91C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959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978"/>
          </a:solidFill>
          <a:ln xmlns:a="http://schemas.openxmlformats.org/drawingml/2006/main" w="9525">
            <a:solidFill>
              <a:srgbClr val="00A97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817B86-85A0-4622-AF55-5FF243411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19700"/>
            <a:ext cx="6991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13B"/>
                </a:solidFill>
              </a:defRPr>
            </a:pPr>
            <a:r>
              <a:rPr sz="1575" b="0">
                <a:solidFill>
                  <a:srgbClr val="10213B"/>
                </a:solidFill>
              </a:rPr>
              <a:t>Coverage lớp logic backend vượt ngưỡng 90%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ED7130-1A41-4FC0-9620-4ECCBEC76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76625"/>
            <a:ext cx="295275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C6D7E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2FA2C5-74A4-4424-B4A3-4FDAE2D6A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8290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00A978"/>
                </a:solidFill>
              </a:defRPr>
            </a:pPr>
            <a:r>
              <a:rPr sz="2850" b="1">
                <a:solidFill>
                  <a:srgbClr val="00A978"/>
                </a:solidFill>
              </a:rPr>
              <a:t>&gt;90%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98EACD-A549-4EBF-B732-35328CF3C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3624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57D"/>
                </a:solidFill>
              </a:defRPr>
            </a:pPr>
            <a:r>
              <a:rPr sz="1050" b="1">
                <a:solidFill>
                  <a:srgbClr val="52657D"/>
                </a:solidFill>
              </a:rPr>
              <a:t>MỤC TIÊU COVERAGE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50A865F-F5C3-4B0B-803D-8DD1CF035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772025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7E9"/>
          </a:solidFill>
          <a:ln xmlns:a="http://schemas.openxmlformats.org/drawingml/2006/main" w="0">
            <a:solidFill>
              <a:srgbClr val="C6D7E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6DDC721-CE76-4F20-9379-13F5BABE5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772025"/>
            <a:ext cx="19716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78"/>
          </a:solidFill>
          <a:ln xmlns:a="http://schemas.openxmlformats.org/drawingml/2006/main" w="0">
            <a:solidFill>
              <a:srgbClr val="00A97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41ABC01-FA11-4B99-8B63-E08D1B499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1244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2657D"/>
                </a:solidFill>
              </a:defRPr>
            </a:pPr>
            <a:r>
              <a:rPr sz="1050" b="0">
                <a:solidFill>
                  <a:srgbClr val="52657D"/>
                </a:solidFill>
              </a:rPr>
              <a:t>Ngưỡng chất lượng trước bàn giao</a:t>
            </a:r>
          </a:p>
        </p:txBody>
      </p:sp>
    </p:spTree>
    <p:extLst>
      <p:ext uri="{BB962C8B-B14F-4D97-AF65-F5344CB8AC3E}">
        <p14:creationId xmlns:p14="http://schemas.microsoft.com/office/powerpoint/2010/main" val="14811068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1ADA37A-CEC5-451F-863A-EDD8CD8E9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57D"/>
                </a:solidFill>
              </a:defRPr>
            </a:pPr>
            <a:r>
              <a:rPr sz="975" b="1">
                <a:solidFill>
                  <a:srgbClr val="52657D"/>
                </a:solidFill>
              </a:rPr>
              <a:t>PCS • QUALITY ENGINEERING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ABB973-12E4-4A79-979C-0298098D1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8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57D"/>
                </a:solidFill>
              </a:defRPr>
            </a:pPr>
            <a:r>
              <a:rPr sz="975" b="1">
                <a:solidFill>
                  <a:srgbClr val="52657D"/>
                </a:solidFill>
              </a:rPr>
              <a:t>PHẠM VI KIỂM THỬ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09DB56-CE65-470E-B4FA-D2454649B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57D"/>
                </a:solidFill>
              </a:defRPr>
            </a:pPr>
            <a:r>
              <a:rPr sz="900" b="1">
                <a:solidFill>
                  <a:srgbClr val="52657D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F93391-E893-4751-B4B1-0C2534DC5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13B"/>
                </a:solidFill>
              </a:defRPr>
            </a:pPr>
            <a:r>
              <a:rPr sz="2700" b="1">
                <a:solidFill>
                  <a:srgbClr val="10213B"/>
                </a:solidFill>
              </a:rPr>
              <a:t>Tập trung kiểm thử nơi lỗi gây ảnh hưởng trực tiếp đến người dùng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36A526-D821-44B7-8DA4-A088C13BD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895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78"/>
          </a:solidFill>
          <a:ln xmlns:a="http://schemas.openxmlformats.org/drawingml/2006/main" w="0">
            <a:solidFill>
              <a:srgbClr val="00A97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FAE000-65A5-4BDF-B1CE-19E320D40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104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57D"/>
                </a:solidFill>
              </a:defRPr>
            </a:pPr>
            <a:r>
              <a:rPr sz="1200" b="0">
                <a:solidFill>
                  <a:srgbClr val="52657D"/>
                </a:solidFill>
              </a:rPr>
              <a:t>Ba lớp kiểm thử tự động, ba nhóm ngoại lệ được quản lý rõ ràng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414CCB-D266-4A75-B91B-07F01275F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A978"/>
                </a:solidFill>
              </a:defRPr>
            </a:pPr>
            <a:r>
              <a:rPr sz="1500" b="1">
                <a:solidFill>
                  <a:srgbClr val="00A978"/>
                </a:solidFill>
              </a:rPr>
              <a:t>IN SCOPE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EA15A0-DA2A-4C96-8CAD-76FE26F04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47875"/>
            <a:ext cx="5143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78"/>
          </a:solidFill>
          <a:ln xmlns:a="http://schemas.openxmlformats.org/drawingml/2006/main" w="0">
            <a:solidFill>
              <a:srgbClr val="00A97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FEA148-E099-4680-AB8E-4D6AD964F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33625"/>
            <a:ext cx="51435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7E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31A41D-0AFD-4B03-925E-9F12A9316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05075"/>
            <a:ext cx="7048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0A978"/>
          </a:solidFill>
          <a:ln xmlns:a="http://schemas.openxmlformats.org/drawingml/2006/main" w="9525">
            <a:solidFill>
              <a:srgbClr val="00A9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6F5662-1E63-4B53-A5E5-C5F37E4D8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050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4F8FC"/>
                </a:solidFill>
              </a:defRPr>
            </a:pPr>
            <a:r>
              <a:rPr sz="975" b="1">
                <a:solidFill>
                  <a:srgbClr val="F4F8FC"/>
                </a:solidFill>
              </a:rPr>
              <a:t>UNIT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0BCC11-9B3C-4C5F-84C3-BADA71B4C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4479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13B"/>
                </a:solidFill>
              </a:defRPr>
            </a:pPr>
            <a:r>
              <a:rPr sz="1500" b="1">
                <a:solidFill>
                  <a:srgbClr val="10213B"/>
                </a:solidFill>
              </a:rPr>
              <a:t>Service logic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F500DF-55DC-42B0-ADEC-CB5FBBB52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77177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57D"/>
                </a:solidFill>
              </a:defRPr>
            </a:pPr>
            <a:r>
              <a:rPr sz="1200" b="0">
                <a:solidFill>
                  <a:srgbClr val="52657D"/>
                </a:solidFill>
              </a:rPr>
              <a:t>Refund • Booking • Promotion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7FF38B-5A02-4B0C-BBC6-5D2C17415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00425"/>
            <a:ext cx="51435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7E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2EDBE7-2D70-4A8B-9F44-311AFE880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75"/>
            <a:ext cx="7048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08CB8"/>
          </a:solidFill>
          <a:ln xmlns:a="http://schemas.openxmlformats.org/drawingml/2006/main" w="9525">
            <a:solidFill>
              <a:srgbClr val="008CB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421999-5171-43E1-8EA0-4C51DB390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718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4F8FC"/>
                </a:solidFill>
              </a:defRPr>
            </a:pPr>
            <a:r>
              <a:rPr sz="975" b="1">
                <a:solidFill>
                  <a:srgbClr val="F4F8FC"/>
                </a:solidFill>
              </a:rPr>
              <a:t>API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93A124-1F97-475F-B9DA-19CE8FB69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5147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13B"/>
                </a:solidFill>
              </a:defRPr>
            </a:pPr>
            <a:r>
              <a:rPr sz="1500" b="1">
                <a:solidFill>
                  <a:srgbClr val="10213B"/>
                </a:solidFill>
              </a:rPr>
              <a:t>Route integration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973307-F42F-4993-95CA-30BA2D505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83857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57D"/>
                </a:solidFill>
              </a:defRPr>
            </a:pPr>
            <a:r>
              <a:rPr sz="1200" b="0">
                <a:solidFill>
                  <a:srgbClr val="52657D"/>
                </a:solidFill>
              </a:rPr>
              <a:t>Auth • Booking • Payment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0949FF-7617-4B34-A9B9-96ECD46E3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67225"/>
            <a:ext cx="51435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7E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DC26BF-177B-4B47-B78D-9D60FEB6D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38675"/>
            <a:ext cx="7048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A92BC0"/>
          </a:solidFill>
          <a:ln xmlns:a="http://schemas.openxmlformats.org/drawingml/2006/main" w="9525">
            <a:solidFill>
              <a:srgbClr val="A92BC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CA642B-5C93-4C73-9898-39CF0F144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386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4F8FC"/>
                </a:solidFill>
              </a:defRPr>
            </a:pPr>
            <a:r>
              <a:rPr sz="975" b="1">
                <a:solidFill>
                  <a:srgbClr val="F4F8FC"/>
                </a:solidFill>
              </a:rPr>
              <a:t>UI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81E7A3-903F-456E-988A-80C85028A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5815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13B"/>
                </a:solidFill>
              </a:defRPr>
            </a:pPr>
            <a:r>
              <a:rPr sz="1500" b="1">
                <a:solidFill>
                  <a:srgbClr val="10213B"/>
                </a:solidFill>
              </a:rPr>
              <a:t>Component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BA2772-7872-4D76-A508-AD0FD0C57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90537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57D"/>
                </a:solidFill>
              </a:defRPr>
            </a:pPr>
            <a:r>
              <a:rPr sz="1200" b="0">
                <a:solidFill>
                  <a:srgbClr val="52657D"/>
                </a:solidFill>
              </a:rPr>
              <a:t>LoginPage • RTL • JSDOM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A67C3D-9024-4BA2-9E7D-E6D06C4B5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63F51"/>
                </a:solidFill>
              </a:defRPr>
            </a:pPr>
            <a:r>
              <a:rPr sz="1500" b="1">
                <a:solidFill>
                  <a:srgbClr val="D63F51"/>
                </a:solidFill>
              </a:rPr>
              <a:t>OUT OF SCOPE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1C56BB-1001-4406-B954-7DBEACE55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47875"/>
            <a:ext cx="5143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3F51"/>
          </a:solidFill>
          <a:ln xmlns:a="http://schemas.openxmlformats.org/drawingml/2006/main" w="0">
            <a:solidFill>
              <a:srgbClr val="D63F5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0D2006-6E42-486A-A1F8-DE40A600C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4574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978"/>
          </a:solidFill>
          <a:ln xmlns:a="http://schemas.openxmlformats.org/drawingml/2006/main" w="9525">
            <a:solidFill>
              <a:srgbClr val="00A97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82A0DC-0C91-407E-9F19-0085A0BB1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381250"/>
            <a:ext cx="4514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13B"/>
                </a:solidFill>
              </a:defRPr>
            </a:pPr>
            <a:r>
              <a:rPr sz="1575" b="0">
                <a:solidFill>
                  <a:srgbClr val="10213B"/>
                </a:solidFill>
              </a:rPr>
              <a:t>Stress / Load testing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AA615B-CFE6-45E1-98F1-12ABB37D0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1623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978"/>
          </a:solidFill>
          <a:ln xmlns:a="http://schemas.openxmlformats.org/drawingml/2006/main" w="9525">
            <a:solidFill>
              <a:srgbClr val="00A97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30BE63-D1DC-4058-A8C4-0D6D0BBD5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086100"/>
            <a:ext cx="4514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13B"/>
                </a:solidFill>
              </a:defRPr>
            </a:pPr>
            <a:r>
              <a:rPr sz="1575" b="0">
                <a:solidFill>
                  <a:srgbClr val="10213B"/>
                </a:solidFill>
              </a:rPr>
              <a:t>Cổng ngân hàng thật - chỉ dùng PayOS sandbox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841789-DA7B-466B-AA67-9075D4C00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8671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978"/>
          </a:solidFill>
          <a:ln xmlns:a="http://schemas.openxmlformats.org/drawingml/2006/main" w="9525">
            <a:solidFill>
              <a:srgbClr val="00A97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995669A-728D-4820-AFB9-48034B4D0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790950"/>
            <a:ext cx="4514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13B"/>
                </a:solidFill>
              </a:defRPr>
            </a:pPr>
            <a:r>
              <a:rPr sz="1575" b="0">
                <a:solidFill>
                  <a:srgbClr val="10213B"/>
                </a:solidFill>
              </a:rPr>
              <a:t>Penetration testing hạ tầng mạng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FCC34A3-3B8F-4C52-B20A-51624831F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5720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978"/>
          </a:solidFill>
          <a:ln xmlns:a="http://schemas.openxmlformats.org/drawingml/2006/main" w="9525">
            <a:solidFill>
              <a:srgbClr val="00A97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EC17914-4448-4B5D-9D38-5D8D407FC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495800"/>
            <a:ext cx="4514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13B"/>
                </a:solidFill>
              </a:defRPr>
            </a:pPr>
            <a:r>
              <a:rPr sz="1575" b="0">
                <a:solidFill>
                  <a:srgbClr val="10213B"/>
                </a:solidFill>
              </a:rPr>
              <a:t>Chứng nhận cross-browser trên thiết bị thật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45DC06-3860-4FF6-94B0-ECB8F7ABF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276850"/>
            <a:ext cx="51435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0F2"/>
          </a:solidFill>
          <a:ln xmlns:a="http://schemas.openxmlformats.org/drawingml/2006/main" w="9525">
            <a:solidFill>
              <a:srgbClr val="D63F5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0772615-9626-4745-8B9B-35C8C5833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410200"/>
            <a:ext cx="468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63F51"/>
                </a:solidFill>
              </a:defRPr>
            </a:pPr>
            <a:r>
              <a:rPr sz="1350" b="1">
                <a:solidFill>
                  <a:srgbClr val="D63F51"/>
                </a:solidFill>
              </a:rPr>
              <a:t>Phạm vi rõ → bằng chứng kiểm thử có thể bảo vệ</a:t>
            </a:r>
          </a:p>
        </p:txBody>
      </p:sp>
    </p:spTree>
    <p:extLst>
      <p:ext uri="{BB962C8B-B14F-4D97-AF65-F5344CB8AC3E}">
        <p14:creationId xmlns:p14="http://schemas.microsoft.com/office/powerpoint/2010/main" val="19002828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53D351CA-3614-4105-B3A7-9D7318719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57D"/>
                </a:solidFill>
              </a:defRPr>
            </a:pPr>
            <a:r>
              <a:rPr sz="975" b="1">
                <a:solidFill>
                  <a:srgbClr val="52657D"/>
                </a:solidFill>
              </a:rPr>
              <a:t>PCS • QUALITY ENGINEERING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B2384D-D309-4BB5-B605-1CAC7B2BD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8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57D"/>
                </a:solidFill>
              </a:defRPr>
            </a:pPr>
            <a:r>
              <a:rPr sz="975" b="1">
                <a:solidFill>
                  <a:srgbClr val="52657D"/>
                </a:solidFill>
              </a:rPr>
              <a:t>THIẾT KẾ HỘP ĐEN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9785D5-3AF5-4BCF-A9E8-C9DB9678D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57D"/>
                </a:solidFill>
              </a:defRPr>
            </a:pPr>
            <a:r>
              <a:rPr sz="900" b="1">
                <a:solidFill>
                  <a:srgbClr val="52657D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E59734-DDFB-4F38-8FF3-928BCE56E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13B"/>
                </a:solidFill>
              </a:defRPr>
            </a:pPr>
            <a:r>
              <a:rPr sz="2700" b="1">
                <a:solidFill>
                  <a:srgbClr val="10213B"/>
                </a:solidFill>
              </a:rPr>
              <a:t>8 quy tắc bao phủ toàn bộ tổ hợp đăng ký tài khoản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2551F8-D6AF-42FD-A226-B777A7BAE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895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78"/>
          </a:solidFill>
          <a:ln xmlns:a="http://schemas.openxmlformats.org/drawingml/2006/main" w="0">
            <a:solidFill>
              <a:srgbClr val="00A97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6ED764-0FFE-40C2-B038-1EA020354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104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57D"/>
                </a:solidFill>
              </a:defRPr>
            </a:pPr>
            <a:r>
              <a:rPr sz="1200" b="0">
                <a:solidFill>
                  <a:srgbClr val="52657D"/>
                </a:solidFill>
              </a:rPr>
              <a:t>Decision Table biến ba điều kiện đầu vào thành hành vi có thể kiểm chứng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2D3402-9D46-42DC-9BD8-D223EE662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29527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C6D7E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02F77A-D20C-416F-9E27-F7A8D87DD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47850"/>
            <a:ext cx="2838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13B"/>
                </a:solidFill>
              </a:defRPr>
            </a:pPr>
            <a:r>
              <a:rPr sz="1125" b="1">
                <a:solidFill>
                  <a:srgbClr val="10213B"/>
                </a:solidFill>
              </a:rPr>
              <a:t>Điều kiện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481AE2-020A-428D-976B-D9C7E8CCD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790700"/>
            <a:ext cx="8953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C6D7E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1636F4-A578-42EF-A102-DEE3FB848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847850"/>
            <a:ext cx="781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2657D"/>
                </a:solidFill>
              </a:defRPr>
            </a:pPr>
            <a:r>
              <a:rPr sz="1125" b="1">
                <a:solidFill>
                  <a:srgbClr val="52657D"/>
                </a:solidFill>
              </a:rPr>
              <a:t>R1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2C3F9E-E092-4105-B500-3AD16E66C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90700"/>
            <a:ext cx="8953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C6D7E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CA4350-D61F-4952-A0A5-9356BDFCF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847850"/>
            <a:ext cx="781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2657D"/>
                </a:solidFill>
              </a:defRPr>
            </a:pPr>
            <a:r>
              <a:rPr sz="1125" b="1">
                <a:solidFill>
                  <a:srgbClr val="52657D"/>
                </a:solidFill>
              </a:rPr>
              <a:t>R2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7CCEB3-C711-4637-BE7C-14E6DF560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790700"/>
            <a:ext cx="8953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C6D7E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E60C78-8464-4017-BC59-2FFFA82A1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847850"/>
            <a:ext cx="781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2657D"/>
                </a:solidFill>
              </a:defRPr>
            </a:pPr>
            <a:r>
              <a:rPr sz="1125" b="1">
                <a:solidFill>
                  <a:srgbClr val="52657D"/>
                </a:solidFill>
              </a:rPr>
              <a:t>R3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2D74FB-61EE-44AD-A9A8-586B73869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90700"/>
            <a:ext cx="8953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C6D7E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DDD731-646A-414A-AA8C-AF07D3052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47850"/>
            <a:ext cx="781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2657D"/>
                </a:solidFill>
              </a:defRPr>
            </a:pPr>
            <a:r>
              <a:rPr sz="1125" b="1">
                <a:solidFill>
                  <a:srgbClr val="52657D"/>
                </a:solidFill>
              </a:rPr>
              <a:t>R4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292E0A-C915-4079-92EF-252C9B41B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790700"/>
            <a:ext cx="8953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C6D7E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544B95-F939-46B4-882C-C0C6088A7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847850"/>
            <a:ext cx="781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2657D"/>
                </a:solidFill>
              </a:defRPr>
            </a:pPr>
            <a:r>
              <a:rPr sz="1125" b="1">
                <a:solidFill>
                  <a:srgbClr val="52657D"/>
                </a:solidFill>
              </a:rPr>
              <a:t>R5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6B7D54-4D16-43DC-B211-86CE8FB9F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790700"/>
            <a:ext cx="8953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C6D7E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481B77-85C1-48CB-8A48-83B8FCED9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47850"/>
            <a:ext cx="781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2657D"/>
                </a:solidFill>
              </a:defRPr>
            </a:pPr>
            <a:r>
              <a:rPr sz="1125" b="1">
                <a:solidFill>
                  <a:srgbClr val="52657D"/>
                </a:solidFill>
              </a:rPr>
              <a:t>R6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35CB57-6BE7-4247-9D1B-806DE227C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90700"/>
            <a:ext cx="8953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C6D7E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9CA065-F8B2-4FD4-AB92-C01EA51BB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847850"/>
            <a:ext cx="781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2657D"/>
                </a:solidFill>
              </a:defRPr>
            </a:pPr>
            <a:r>
              <a:rPr sz="1125" b="1">
                <a:solidFill>
                  <a:srgbClr val="52657D"/>
                </a:solidFill>
              </a:rPr>
              <a:t>R7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6AE21A-4B3C-4410-BFFB-A9B4EDAB8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790700"/>
            <a:ext cx="8953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C6D7E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983200-430B-40EA-80BB-1619A273E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847850"/>
            <a:ext cx="781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2657D"/>
                </a:solidFill>
              </a:defRPr>
            </a:pPr>
            <a:r>
              <a:rPr sz="1125" b="1">
                <a:solidFill>
                  <a:srgbClr val="52657D"/>
                </a:solidFill>
              </a:rPr>
              <a:t>R8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27941A-14C7-42D0-8C52-76C665566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66950"/>
            <a:ext cx="29527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7E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2F196A-FD21-4C08-A8DB-FFD86DB32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2800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13B"/>
                </a:solidFill>
              </a:defRPr>
            </a:pPr>
            <a:r>
              <a:rPr sz="1200" b="1">
                <a:solidFill>
                  <a:srgbClr val="10213B"/>
                </a:solidFill>
              </a:rPr>
              <a:t>Email hợp lệ &amp; duy nhất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2B2377-3A4E-4337-A35B-D769C18CB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2669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7E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795764-F916-4229-A307-41A5CBF51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431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0213B"/>
                </a:solidFill>
              </a:defRPr>
            </a:pPr>
            <a:r>
              <a:rPr sz="1275" b="0">
                <a:solidFill>
                  <a:srgbClr val="10213B"/>
                </a:solidFill>
              </a:rPr>
              <a:t>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9B1817-032E-4018-979E-9622C810B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669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7E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CBBC9E8-8B99-4F28-901D-D249D2933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3431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0213B"/>
                </a:solidFill>
              </a:defRPr>
            </a:pPr>
            <a:r>
              <a:rPr sz="1275" b="0">
                <a:solidFill>
                  <a:srgbClr val="10213B"/>
                </a:solidFill>
              </a:rPr>
              <a:t>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465FA4-2FA0-41C6-BC01-A6CE7B98C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2669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7E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4F1B509-805D-48A6-86C8-08990D117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3431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0213B"/>
                </a:solidFill>
              </a:defRPr>
            </a:pPr>
            <a:r>
              <a:rPr sz="1275" b="0">
                <a:solidFill>
                  <a:srgbClr val="10213B"/>
                </a:solidFill>
              </a:rPr>
              <a:t>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CB325AD-DEDC-4A8B-8163-F21ECB087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669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7E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5EFCE1D-6E19-40A8-90D3-CFA9BE81C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431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0213B"/>
                </a:solidFill>
              </a:defRPr>
            </a:pPr>
            <a:r>
              <a:rPr sz="1275" b="0">
                <a:solidFill>
                  <a:srgbClr val="10213B"/>
                </a:solidFill>
              </a:rPr>
              <a:t>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459F3A2-ECE9-439E-81C3-2BC9659E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2669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7E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91F0166-DB27-4451-8A17-312C4CD13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431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0213B"/>
                </a:solidFill>
              </a:defRPr>
            </a:pPr>
            <a:r>
              <a:rPr sz="1275" b="0">
                <a:solidFill>
                  <a:srgbClr val="10213B"/>
                </a:solidFill>
              </a:rPr>
              <a:t>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EB5B52B-E8F1-4F20-AF62-CFCA7EF52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669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7E9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EB6E693-8D24-40ED-AE12-AB2A7DBF6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431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0213B"/>
                </a:solidFill>
              </a:defRPr>
            </a:pPr>
            <a:r>
              <a:rPr sz="1275" b="0">
                <a:solidFill>
                  <a:srgbClr val="10213B"/>
                </a:solidFill>
              </a:rPr>
              <a:t>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C806480-DCB0-47E5-B6A6-1CFDEA6D0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669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7E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71BD54F-5074-4F78-A4CD-145E7A9AD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3431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0213B"/>
                </a:solidFill>
              </a:defRPr>
            </a:pPr>
            <a:r>
              <a:rPr sz="1275" b="0">
                <a:solidFill>
                  <a:srgbClr val="10213B"/>
                </a:solidFill>
              </a:rPr>
              <a:t>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249BC50-8E1D-4825-AF74-C35A56342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2669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7E9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AEF5991-7858-43D8-BD96-E4715A4A4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3431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0213B"/>
                </a:solidFill>
              </a:defRPr>
            </a:pPr>
            <a:r>
              <a:rPr sz="1275" b="0">
                <a:solidFill>
                  <a:srgbClr val="10213B"/>
                </a:solidFill>
              </a:rPr>
              <a:t>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5267604-771C-4482-9EB7-3B1B9831B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14650"/>
            <a:ext cx="29527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7E9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B4F4C14-8574-46F8-B461-C30AC7A6F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2800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13B"/>
                </a:solidFill>
              </a:defRPr>
            </a:pPr>
            <a:r>
              <a:rPr sz="1200" b="1">
                <a:solidFill>
                  <a:srgbClr val="10213B"/>
                </a:solidFill>
              </a:rPr>
              <a:t>SĐT hợp lệ &amp; duy nhất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AE4CFE1-78E5-47D3-B495-FA450928D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9146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7E9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4CF08EA-E949-4D5E-A47D-9FBC9B8CD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9908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0213B"/>
                </a:solidFill>
              </a:defRPr>
            </a:pPr>
            <a:r>
              <a:rPr sz="1275" b="0">
                <a:solidFill>
                  <a:srgbClr val="10213B"/>
                </a:solidFill>
              </a:rPr>
              <a:t>Y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3CE6D72-0330-41DD-B297-29E38A243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146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7E9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F8152DD-052F-4ECD-A5AC-ADB29A40B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9908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0213B"/>
                </a:solidFill>
              </a:defRPr>
            </a:pPr>
            <a:r>
              <a:rPr sz="1275" b="0">
                <a:solidFill>
                  <a:srgbClr val="10213B"/>
                </a:solidFill>
              </a:rPr>
              <a:t>Y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756D9BC-295A-4803-BE4F-A2A4BC850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146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7E9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2D91D36-0CF9-4385-809D-69E9DD0C1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9908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0213B"/>
                </a:solidFill>
              </a:defRPr>
            </a:pPr>
            <a:r>
              <a:rPr sz="1275" b="0">
                <a:solidFill>
                  <a:srgbClr val="10213B"/>
                </a:solidFill>
              </a:rPr>
              <a:t>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E301F41-93B2-4269-97A1-FBE00D18A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146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7E9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E3CA35F-3F17-4520-98A5-92F4C0C25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908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0213B"/>
                </a:solidFill>
              </a:defRPr>
            </a:pPr>
            <a:r>
              <a:rPr sz="1275" b="0">
                <a:solidFill>
                  <a:srgbClr val="10213B"/>
                </a:solidFill>
              </a:rPr>
              <a:t>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22CEFA8-72E9-4879-9FEE-39DEBEF2E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9146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7E9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401B3C0-49DA-47AF-834A-6CA363586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908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0213B"/>
                </a:solidFill>
              </a:defRPr>
            </a:pPr>
            <a:r>
              <a:rPr sz="1275" b="0">
                <a:solidFill>
                  <a:srgbClr val="10213B"/>
                </a:solidFill>
              </a:rPr>
              <a:t>Y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A22B2DF-4B17-43C8-9DA9-730F80998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9146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7E9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551DDD5-CAE6-411B-85E8-AEC39313D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908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0213B"/>
                </a:solidFill>
              </a:defRPr>
            </a:pPr>
            <a:r>
              <a:rPr sz="1275" b="0">
                <a:solidFill>
                  <a:srgbClr val="10213B"/>
                </a:solidFill>
              </a:rPr>
              <a:t>Y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B517C4A-AAA8-4BC6-8FCB-2B23EFD71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146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7E9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D132B07-A5BC-4D35-9824-5E571A90C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9908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0213B"/>
                </a:solidFill>
              </a:defRPr>
            </a:pPr>
            <a:r>
              <a:rPr sz="1275" b="0">
                <a:solidFill>
                  <a:srgbClr val="10213B"/>
                </a:solidFill>
              </a:rPr>
              <a:t>N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62CB202-F80E-45F7-8380-D5BDA42A1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9146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7E9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177A834-D6F8-45CC-8631-A7FC01F2E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9908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0213B"/>
                </a:solidFill>
              </a:defRPr>
            </a:pPr>
            <a:r>
              <a:rPr sz="1275" b="0">
                <a:solidFill>
                  <a:srgbClr val="10213B"/>
                </a:solidFill>
              </a:rPr>
              <a:t>N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58860FA-BCA3-49C3-A9BB-E1F0ED3AF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62350"/>
            <a:ext cx="29527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7E9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12A7F90-FF49-4292-BBC2-067C014B5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2800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13B"/>
                </a:solidFill>
              </a:defRPr>
            </a:pPr>
            <a:r>
              <a:rPr sz="1200" b="1">
                <a:solidFill>
                  <a:srgbClr val="10213B"/>
                </a:solidFill>
              </a:rPr>
              <a:t>Mật khẩu mạnh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13275CD-5ABF-4408-A340-08B340A44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5623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7E9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6CFC8D6-2927-4A47-B541-26C669352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6385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0213B"/>
                </a:solidFill>
              </a:defRPr>
            </a:pPr>
            <a:r>
              <a:rPr sz="1275" b="0">
                <a:solidFill>
                  <a:srgbClr val="10213B"/>
                </a:solidFill>
              </a:rPr>
              <a:t>Y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9C02FAE-5D32-4E84-A388-F178F117F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623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7E9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ACA7A15-72EC-4D65-BCBF-47D7AF403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6385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0213B"/>
                </a:solidFill>
              </a:defRPr>
            </a:pPr>
            <a:r>
              <a:rPr sz="1275" b="0">
                <a:solidFill>
                  <a:srgbClr val="10213B"/>
                </a:solidFill>
              </a:rPr>
              <a:t>N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B784839-48C0-4FB2-9698-E9F814752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5623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7E9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EDA8B13-B4F2-4174-886F-EC4BFE423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6385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0213B"/>
                </a:solidFill>
              </a:defRPr>
            </a:pPr>
            <a:r>
              <a:rPr sz="1275" b="0">
                <a:solidFill>
                  <a:srgbClr val="10213B"/>
                </a:solidFill>
              </a:rPr>
              <a:t>Y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516331D-A136-46CD-BB5B-9C40A649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5623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7E9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7E05A94-7E79-412B-9C36-DE6022705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6385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0213B"/>
                </a:solidFill>
              </a:defRPr>
            </a:pPr>
            <a:r>
              <a:rPr sz="1275" b="0">
                <a:solidFill>
                  <a:srgbClr val="10213B"/>
                </a:solidFill>
              </a:rPr>
              <a:t>N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096B538-3B5A-4E8B-A2AD-6E004CEDC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5623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7E9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A182AC3-6631-43ED-87B8-4ACD9CEDC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6385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0213B"/>
                </a:solidFill>
              </a:defRPr>
            </a:pPr>
            <a:r>
              <a:rPr sz="1275" b="0">
                <a:solidFill>
                  <a:srgbClr val="10213B"/>
                </a:solidFill>
              </a:rPr>
              <a:t>Y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0338608-F3E4-4104-927E-11D9337BF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5623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7E9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96C389D-D5FB-46B9-BD6E-A6B5E19A8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6385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0213B"/>
                </a:solidFill>
              </a:defRPr>
            </a:pPr>
            <a:r>
              <a:rPr sz="1275" b="0">
                <a:solidFill>
                  <a:srgbClr val="10213B"/>
                </a:solidFill>
              </a:rPr>
              <a:t>N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0CF112B-7366-4DB2-95B5-4AFDD0BD3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623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7E9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E96A9E4-DD76-4C6A-8E5C-695C5BB26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6385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0213B"/>
                </a:solidFill>
              </a:defRPr>
            </a:pPr>
            <a:r>
              <a:rPr sz="1275" b="0">
                <a:solidFill>
                  <a:srgbClr val="10213B"/>
                </a:solidFill>
              </a:rPr>
              <a:t>Y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D6F9248-0D0E-47F6-8E55-2BBCA22B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5623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7E9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4BFB911-1A1E-46AE-878A-E6934B08B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6385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0213B"/>
                </a:solidFill>
              </a:defRPr>
            </a:pPr>
            <a:r>
              <a:rPr sz="1275" b="0">
                <a:solidFill>
                  <a:srgbClr val="10213B"/>
                </a:solidFill>
              </a:rPr>
              <a:t>N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EB8FACD-040D-4C2C-82EF-C36382B43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10050"/>
            <a:ext cx="29527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7FAF4"/>
          </a:solidFill>
          <a:ln xmlns:a="http://schemas.openxmlformats.org/drawingml/2006/main" w="9525">
            <a:solidFill>
              <a:srgbClr val="C6D7E9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03638D6-5D27-475E-BD0F-7639B2EBB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2800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A978"/>
                </a:solidFill>
              </a:defRPr>
            </a:pPr>
            <a:r>
              <a:rPr sz="1200" b="1">
                <a:solidFill>
                  <a:srgbClr val="00A978"/>
                </a:solidFill>
              </a:rPr>
              <a:t>Kết quả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3EE24BA-D90F-4409-A157-5F7CDC30D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2100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7FAF4"/>
          </a:solidFill>
          <a:ln xmlns:a="http://schemas.openxmlformats.org/drawingml/2006/main" w="9525">
            <a:solidFill>
              <a:srgbClr val="C6D7E9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D26439B-5D61-4540-A773-FC627B7E9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2862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A978"/>
                </a:solidFill>
              </a:defRPr>
            </a:pPr>
            <a:r>
              <a:rPr sz="1275" b="1">
                <a:solidFill>
                  <a:srgbClr val="00A978"/>
                </a:solidFill>
              </a:rPr>
              <a:t>OK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501EA2E-8EE1-49CE-873A-D3BB2331F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2100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7FAF4"/>
          </a:solidFill>
          <a:ln xmlns:a="http://schemas.openxmlformats.org/drawingml/2006/main" w="9525">
            <a:solidFill>
              <a:srgbClr val="C6D7E9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7C203BE-624A-4212-A4FD-673E7B30C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2862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A978"/>
                </a:solidFill>
              </a:defRPr>
            </a:pPr>
            <a:r>
              <a:rPr sz="1275" b="1">
                <a:solidFill>
                  <a:srgbClr val="00A978"/>
                </a:solidFill>
              </a:rPr>
              <a:t>Pass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456AD0E3-0472-4EAB-8556-26854F48F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2100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7FAF4"/>
          </a:solidFill>
          <a:ln xmlns:a="http://schemas.openxmlformats.org/drawingml/2006/main" w="9525">
            <a:solidFill>
              <a:srgbClr val="C6D7E9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285E22A4-908D-4BB5-8B32-865130FC1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2862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A978"/>
                </a:solidFill>
              </a:defRPr>
            </a:pPr>
            <a:r>
              <a:rPr sz="1275" b="1">
                <a:solidFill>
                  <a:srgbClr val="00A978"/>
                </a:solidFill>
              </a:rPr>
              <a:t>Phone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1467394C-188E-469F-B8C5-3BF643299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2100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7FAF4"/>
          </a:solidFill>
          <a:ln xmlns:a="http://schemas.openxmlformats.org/drawingml/2006/main" w="9525">
            <a:solidFill>
              <a:srgbClr val="C6D7E9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3B06CE2B-4FD3-450F-B55C-06E7C9773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2862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A978"/>
                </a:solidFill>
              </a:defRPr>
            </a:pPr>
            <a:r>
              <a:rPr sz="1275" b="1">
                <a:solidFill>
                  <a:srgbClr val="00A978"/>
                </a:solidFill>
              </a:rPr>
              <a:t>Both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BA0E9A2E-951D-4195-825A-880431EB3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2100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7FAF4"/>
          </a:solidFill>
          <a:ln xmlns:a="http://schemas.openxmlformats.org/drawingml/2006/main" w="9525">
            <a:solidFill>
              <a:srgbClr val="C6D7E9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945F8268-AA09-4645-BD50-914024340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2862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A978"/>
                </a:solidFill>
              </a:defRPr>
            </a:pPr>
            <a:r>
              <a:rPr sz="1275" b="1">
                <a:solidFill>
                  <a:srgbClr val="00A978"/>
                </a:solidFill>
              </a:rPr>
              <a:t>Email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5B394E09-5A24-45B3-972D-FEBA70B42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2100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7FAF4"/>
          </a:solidFill>
          <a:ln xmlns:a="http://schemas.openxmlformats.org/drawingml/2006/main" w="9525">
            <a:solidFill>
              <a:srgbClr val="C6D7E9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1329523D-0181-4C7B-B69F-0B2AC544A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2862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A978"/>
                </a:solidFill>
              </a:defRPr>
            </a:pPr>
            <a:r>
              <a:rPr sz="1275" b="1">
                <a:solidFill>
                  <a:srgbClr val="00A978"/>
                </a:solidFill>
              </a:rPr>
              <a:t>Both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2FD923DA-0E5A-4B5A-A5B6-E1691E981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100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7FAF4"/>
          </a:solidFill>
          <a:ln xmlns:a="http://schemas.openxmlformats.org/drawingml/2006/main" w="9525">
            <a:solidFill>
              <a:srgbClr val="C6D7E9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49104CC-BA94-490F-8041-282560480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2862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A978"/>
                </a:solidFill>
              </a:defRPr>
            </a:pPr>
            <a:r>
              <a:rPr sz="1275" b="1">
                <a:solidFill>
                  <a:srgbClr val="00A978"/>
                </a:solidFill>
              </a:rPr>
              <a:t>Both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3C996AC2-DE8A-4AB1-9581-C9F591531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2100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7FAF4"/>
          </a:solidFill>
          <a:ln xmlns:a="http://schemas.openxmlformats.org/drawingml/2006/main" w="9525">
            <a:solidFill>
              <a:srgbClr val="C6D7E9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8A8813E9-77F2-4C42-BAEB-5193DCE4B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2862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A978"/>
                </a:solidFill>
              </a:defRPr>
            </a:pPr>
            <a:r>
              <a:rPr sz="1275" b="1">
                <a:solidFill>
                  <a:srgbClr val="00A978"/>
                </a:solidFill>
              </a:rPr>
              <a:t>All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432B3403-D7D7-4186-A2D6-0688EB205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24450"/>
            <a:ext cx="111252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C6D7E9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21985FFA-D2F5-47E8-ACDE-4BEEC424D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970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00A978"/>
                </a:solidFill>
              </a:defRPr>
            </a:pPr>
            <a:r>
              <a:rPr sz="2850" b="1">
                <a:solidFill>
                  <a:srgbClr val="00A978"/>
                </a:solidFill>
              </a:rPr>
              <a:t>8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F564EE6F-2A4F-4E2E-9A6D-746165FEC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531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57D"/>
                </a:solidFill>
              </a:defRPr>
            </a:pPr>
            <a:r>
              <a:rPr sz="1050" b="1">
                <a:solidFill>
                  <a:srgbClr val="52657D"/>
                </a:solidFill>
              </a:rPr>
              <a:t>TEST CASES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90BF51BB-B0D4-4257-B9C3-A9515EB74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3340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13B"/>
                </a:solidFill>
              </a:defRPr>
            </a:pPr>
            <a:r>
              <a:rPr sz="1800" b="1">
                <a:solidFill>
                  <a:srgbClr val="10213B"/>
                </a:solidFill>
              </a:rPr>
              <a:t>TC_DT_01 → TC_DT_08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CF8E1864-BB8B-4950-A6B6-84F2C9960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219700"/>
            <a:ext cx="4933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57D"/>
                </a:solidFill>
              </a:defRPr>
            </a:pPr>
            <a:r>
              <a:rPr sz="1350" b="0">
                <a:solidFill>
                  <a:srgbClr val="52657D"/>
                </a:solidFill>
              </a:rPr>
              <a:t>Phát hiện lỗi nhập liệu đồng thời thay vì chỉ kiểm tra từng trường riêng lẻ</a:t>
            </a:r>
          </a:p>
        </p:txBody>
      </p:sp>
    </p:spTree>
    <p:extLst>
      <p:ext uri="{BB962C8B-B14F-4D97-AF65-F5344CB8AC3E}">
        <p14:creationId xmlns:p14="http://schemas.microsoft.com/office/powerpoint/2010/main" val="392325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BC47C35-D9BE-4B90-804D-150A97DB7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57D"/>
                </a:solidFill>
              </a:defRPr>
            </a:pPr>
            <a:r>
              <a:rPr sz="975" b="1">
                <a:solidFill>
                  <a:srgbClr val="52657D"/>
                </a:solidFill>
              </a:rPr>
              <a:t>PCS • QUALITY ENGINEERING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6890AE-1C2E-46B3-B0AE-D973DE727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8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57D"/>
                </a:solidFill>
              </a:defRPr>
            </a:pPr>
            <a:r>
              <a:rPr sz="975" b="1">
                <a:solidFill>
                  <a:srgbClr val="52657D"/>
                </a:solidFill>
              </a:rPr>
              <a:t>THIẾT KẾ USE CASE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5CACB9-85C4-4BDF-9562-8F705E270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57D"/>
                </a:solidFill>
              </a:defRPr>
            </a:pPr>
            <a:r>
              <a:rPr sz="900" b="1">
                <a:solidFill>
                  <a:srgbClr val="52657D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D1D96B-86FB-482A-A2FA-653ED3126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13B"/>
                </a:solidFill>
              </a:defRPr>
            </a:pPr>
            <a:r>
              <a:rPr sz="2700" b="1">
                <a:solidFill>
                  <a:srgbClr val="10213B"/>
                </a:solidFill>
              </a:rPr>
              <a:t>UC-04 khóa chặt hành trình Đặt sân → Thanh toán → Xác nhận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DC3C48-9BD1-49E8-A2CC-12A829A61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895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78"/>
          </a:solidFill>
          <a:ln xmlns:a="http://schemas.openxmlformats.org/drawingml/2006/main" w="0">
            <a:solidFill>
              <a:srgbClr val="00A97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1F2225-685D-4DA4-AFC1-DA201AFE8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104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57D"/>
                </a:solidFill>
              </a:defRPr>
            </a:pPr>
            <a:r>
              <a:rPr sz="1200" b="0">
                <a:solidFill>
                  <a:srgbClr val="52657D"/>
                </a:solidFill>
              </a:rPr>
              <a:t>Luồng cơ bản và ba ngoại lệ xác định rõ trạng thái của slot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5F3055-816A-4306-9847-9137868D1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1280" y="2105025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7E9"/>
          </a:solidFill>
          <a:ln xmlns:a="http://schemas.openxmlformats.org/drawingml/2006/main" w="0">
            <a:solidFill>
              <a:srgbClr val="C6D7E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E73DE4-7BEE-40EF-9EB4-5D058D064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208788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C6D7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1E96F5-8DB6-4417-BD54-F2A2CD587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383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978"/>
                </a:solidFill>
              </a:defRPr>
            </a:pPr>
            <a:r>
              <a:rPr sz="900" b="1">
                <a:solidFill>
                  <a:srgbClr val="00A978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D1F670-E4EA-45DE-8EF0-DAA552F13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19300"/>
            <a:ext cx="185928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13B"/>
                </a:solidFill>
              </a:defRPr>
            </a:pPr>
            <a:r>
              <a:rPr sz="1125" b="1">
                <a:solidFill>
                  <a:srgbClr val="10213B"/>
                </a:solidFill>
              </a:rPr>
              <a:t>Chọn sân</a:t>
            </a:r>
          </a:p>
          <a:p xmlns:a="http://schemas.openxmlformats.org/drawingml/2006/main">
            <a:pPr algn="ctr">
              <a:defRPr sz="1125" b="1">
                <a:solidFill>
                  <a:srgbClr val="10213B"/>
                </a:solidFill>
              </a:defRPr>
            </a:pPr>
            <a:r>
              <a:rPr sz="1125" b="1">
                <a:solidFill>
                  <a:srgbClr val="10213B"/>
                </a:solidFill>
              </a:rPr>
              <a:t>&amp; khung giờ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62F129-4A0D-4A57-98D6-0F266110D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0610" y="2105025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7E9"/>
          </a:solidFill>
          <a:ln xmlns:a="http://schemas.openxmlformats.org/drawingml/2006/main" w="0">
            <a:solidFill>
              <a:srgbClr val="C6D7E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CEC092-5587-4C3D-A0A0-6FA9049B5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730" y="1752600"/>
            <a:ext cx="208788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C6D7E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62E1A5-06DF-4091-8A4F-220087DB7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030" y="18383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978"/>
                </a:solidFill>
              </a:defRPr>
            </a:pPr>
            <a:r>
              <a:rPr sz="900" b="1">
                <a:solidFill>
                  <a:srgbClr val="00A978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68F1F2-E780-4BAF-89A2-D2AFC67B5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030" y="2019300"/>
            <a:ext cx="185928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13B"/>
                </a:solidFill>
              </a:defRPr>
            </a:pPr>
            <a:r>
              <a:rPr sz="1125" b="1">
                <a:solidFill>
                  <a:srgbClr val="10213B"/>
                </a:solidFill>
              </a:rPr>
              <a:t>Giữ slot</a:t>
            </a:r>
          </a:p>
          <a:p xmlns:a="http://schemas.openxmlformats.org/drawingml/2006/main">
            <a:pPr algn="ctr">
              <a:defRPr sz="1125" b="1">
                <a:solidFill>
                  <a:srgbClr val="10213B"/>
                </a:solidFill>
              </a:defRPr>
            </a:pPr>
            <a:r>
              <a:rPr sz="1125" b="1">
                <a:solidFill>
                  <a:srgbClr val="10213B"/>
                </a:solidFill>
              </a:rPr>
              <a:t>10 phút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346E1A-4034-42CD-972A-72841057F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9940" y="2105025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7E9"/>
          </a:solidFill>
          <a:ln xmlns:a="http://schemas.openxmlformats.org/drawingml/2006/main" w="0">
            <a:solidFill>
              <a:srgbClr val="C6D7E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3E3C2F-7AF9-4085-9D6D-E417CF8F5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060" y="1752600"/>
            <a:ext cx="208788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C6D7E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ADD56A-1B27-46AD-B37E-5F152D62C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18383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978"/>
                </a:solidFill>
              </a:defRPr>
            </a:pPr>
            <a:r>
              <a:rPr sz="900" b="1">
                <a:solidFill>
                  <a:srgbClr val="00A978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F43678-84DD-4DF0-872A-7D091D04C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2019300"/>
            <a:ext cx="185928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13B"/>
                </a:solidFill>
              </a:defRPr>
            </a:pPr>
            <a:r>
              <a:rPr sz="1125" b="1">
                <a:solidFill>
                  <a:srgbClr val="10213B"/>
                </a:solidFill>
              </a:rPr>
              <a:t>Quét QR</a:t>
            </a:r>
          </a:p>
          <a:p xmlns:a="http://schemas.openxmlformats.org/drawingml/2006/main">
            <a:pPr algn="ctr">
              <a:defRPr sz="1125" b="1">
                <a:solidFill>
                  <a:srgbClr val="10213B"/>
                </a:solidFill>
              </a:defRPr>
            </a:pPr>
            <a:r>
              <a:rPr sz="1125" b="1">
                <a:solidFill>
                  <a:srgbClr val="10213B"/>
                </a:solidFill>
              </a:rPr>
              <a:t>PayOS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36DEA6-E5CB-4543-B7B1-54035D221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9270" y="2105025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7E9"/>
          </a:solidFill>
          <a:ln xmlns:a="http://schemas.openxmlformats.org/drawingml/2006/main" w="0">
            <a:solidFill>
              <a:srgbClr val="C6D7E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2D6070-2640-450D-8C9C-D835F4745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1390" y="1752600"/>
            <a:ext cx="208788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C6D7E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22562A-6199-4C17-A669-AF84D3E99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690" y="18383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978"/>
                </a:solidFill>
              </a:defRPr>
            </a:pPr>
            <a:r>
              <a:rPr sz="900" b="1">
                <a:solidFill>
                  <a:srgbClr val="00A978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7A93AC-05EE-479F-8739-56DB1FDEF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690" y="2019300"/>
            <a:ext cx="185928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13B"/>
                </a:solidFill>
              </a:defRPr>
            </a:pPr>
            <a:r>
              <a:rPr sz="1125" b="1">
                <a:solidFill>
                  <a:srgbClr val="10213B"/>
                </a:solidFill>
              </a:rPr>
              <a:t>Webhook</a:t>
            </a:r>
          </a:p>
          <a:p xmlns:a="http://schemas.openxmlformats.org/drawingml/2006/main">
            <a:pPr algn="ctr">
              <a:defRPr sz="1125" b="1">
                <a:solidFill>
                  <a:srgbClr val="10213B"/>
                </a:solidFill>
              </a:defRPr>
            </a:pPr>
            <a:r>
              <a:rPr sz="1125" b="1">
                <a:solidFill>
                  <a:srgbClr val="10213B"/>
                </a:solidFill>
              </a:rPr>
              <a:t>IPN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F0F597-6432-4269-9F75-E261B4AC5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0720" y="1752600"/>
            <a:ext cx="208788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C6D7E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F90ADD-AD8D-41C1-B4A3-E3A749E35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5020" y="18383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978"/>
                </a:solidFill>
              </a:defRPr>
            </a:pPr>
            <a:r>
              <a:rPr sz="900" b="1">
                <a:solidFill>
                  <a:srgbClr val="00A978"/>
                </a:solidFill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28D1CA-0100-4A77-8CA9-9CCE5EDE1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5020" y="2019300"/>
            <a:ext cx="185928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13B"/>
                </a:solidFill>
              </a:defRPr>
            </a:pPr>
            <a:r>
              <a:rPr sz="1125" b="1">
                <a:solidFill>
                  <a:srgbClr val="10213B"/>
                </a:solidFill>
              </a:rPr>
              <a:t>Đơn Paid</a:t>
            </a:r>
          </a:p>
          <a:p xmlns:a="http://schemas.openxmlformats.org/drawingml/2006/main">
            <a:pPr algn="ctr">
              <a:defRPr sz="1125" b="1">
                <a:solidFill>
                  <a:srgbClr val="10213B"/>
                </a:solidFill>
              </a:defRPr>
            </a:pPr>
            <a:r>
              <a:rPr sz="1125" b="1">
                <a:solidFill>
                  <a:srgbClr val="10213B"/>
                </a:solidFill>
              </a:rPr>
              <a:t>Khóa slot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38FC92-3013-41B6-8A06-597FDFBB8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5275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13B"/>
                </a:solidFill>
              </a:defRPr>
            </a:pPr>
            <a:r>
              <a:rPr sz="1800" b="1">
                <a:solidFill>
                  <a:srgbClr val="10213B"/>
                </a:solidFill>
              </a:rPr>
              <a:t>3 luồng ngoại lệ quyết định độ bền của hệ thống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EC3339-4A43-4CE6-8164-7B755E788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8615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3F51"/>
          </a:solidFill>
          <a:ln xmlns:a="http://schemas.openxmlformats.org/drawingml/2006/main" w="0">
            <a:solidFill>
              <a:srgbClr val="D63F5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E8B3C7-0356-4059-9B6E-C3056BE8C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8615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63F51"/>
                </a:solidFill>
              </a:defRPr>
            </a:pPr>
            <a:r>
              <a:rPr sz="1350" b="1">
                <a:solidFill>
                  <a:srgbClr val="D63F51"/>
                </a:solidFill>
              </a:rPr>
              <a:t>AF1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7D04E4-20B1-462F-BF50-0BB7EC0F1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861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13B"/>
                </a:solidFill>
              </a:defRPr>
            </a:pPr>
            <a:r>
              <a:rPr sz="1500" b="1">
                <a:solidFill>
                  <a:srgbClr val="10213B"/>
                </a:solidFill>
              </a:rPr>
              <a:t>Trùng giờ chơi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218F1F-499D-4F6F-8C43-4826085F2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4861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57D"/>
                </a:solidFill>
              </a:defRPr>
            </a:pPr>
            <a:r>
              <a:rPr sz="1350" b="0">
                <a:solidFill>
                  <a:srgbClr val="52657D"/>
                </a:solidFill>
              </a:rPr>
              <a:t>Từ chối khi slot đã bị khóa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B2A555C-166D-481D-B97D-BA9529939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6720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9400"/>
          </a:solidFill>
          <a:ln xmlns:a="http://schemas.openxmlformats.org/drawingml/2006/main" w="0">
            <a:solidFill>
              <a:srgbClr val="D3940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1AF3BC-8591-46CB-B34B-2F2C19781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39400"/>
                </a:solidFill>
              </a:defRPr>
            </a:pPr>
            <a:r>
              <a:rPr sz="1350" b="1">
                <a:solidFill>
                  <a:srgbClr val="D39400"/>
                </a:solidFill>
              </a:rPr>
              <a:t>AF2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130A2CE-9669-42B9-85F8-2C2B7F826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672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13B"/>
                </a:solidFill>
              </a:defRPr>
            </a:pPr>
            <a:r>
              <a:rPr sz="1500" b="1">
                <a:solidFill>
                  <a:srgbClr val="10213B"/>
                </a:solidFill>
              </a:rPr>
              <a:t>Vượt giới hạn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8AD6985-7567-4DEE-9B6C-600B6E8B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2672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57D"/>
                </a:solidFill>
              </a:defRPr>
            </a:pPr>
            <a:r>
              <a:rPr sz="1350" b="0">
                <a:solidFill>
                  <a:srgbClr val="52657D"/>
                </a:solidFill>
              </a:rPr>
              <a:t>Chặn đơn thứ 4 trong ngày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2E68DDE-0FC6-429A-BF51-EB807D62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4825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B8"/>
          </a:solidFill>
          <a:ln xmlns:a="http://schemas.openxmlformats.org/drawingml/2006/main" w="0">
            <a:solidFill>
              <a:srgbClr val="008CB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91BB888-C5CF-4536-BCDD-C65C6B94B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4825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8CB8"/>
                </a:solidFill>
              </a:defRPr>
            </a:pPr>
            <a:r>
              <a:rPr sz="1350" b="1">
                <a:solidFill>
                  <a:srgbClr val="008CB8"/>
                </a:solidFill>
              </a:rPr>
              <a:t>AF3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975A03D-4AE5-4E71-BD0A-613E00003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482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13B"/>
                </a:solidFill>
              </a:defRPr>
            </a:pPr>
            <a:r>
              <a:rPr sz="1500" b="1">
                <a:solidFill>
                  <a:srgbClr val="10213B"/>
                </a:solidFill>
              </a:rPr>
              <a:t>Hủy / hết hạn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7366CFF-3686-4F4E-85FB-04BBA9E8E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0482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57D"/>
                </a:solidFill>
              </a:defRPr>
            </a:pPr>
            <a:r>
              <a:rPr sz="1350" b="0">
                <a:solidFill>
                  <a:srgbClr val="52657D"/>
                </a:solidFill>
              </a:rPr>
              <a:t>Giải phóng slot sau 10 phút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BEC6C10-F9DE-449B-9407-3D0E210D2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76600"/>
            <a:ext cx="22860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C6D7E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D3D963E-68F9-4C21-A2F1-70F7553BE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52425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00A978"/>
                </a:solidFill>
              </a:defRPr>
            </a:pPr>
            <a:r>
              <a:rPr sz="2850" b="1">
                <a:solidFill>
                  <a:srgbClr val="00A978"/>
                </a:solidFill>
              </a:rPr>
              <a:t>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9859E2B-2DC1-42A1-8600-559E1831E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576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57D"/>
                </a:solidFill>
              </a:defRPr>
            </a:pPr>
            <a:r>
              <a:rPr sz="1050" b="1">
                <a:solidFill>
                  <a:srgbClr val="52657D"/>
                </a:solidFill>
              </a:rPr>
              <a:t>USE CASE TCs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E09C0DA-20E0-4A26-B0F2-55501452C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438650"/>
            <a:ext cx="152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13B"/>
                </a:solidFill>
              </a:defRPr>
            </a:pPr>
            <a:r>
              <a:rPr sz="1650" b="1">
                <a:solidFill>
                  <a:srgbClr val="10213B"/>
                </a:solidFill>
              </a:rPr>
              <a:t>TC_UC_01</a:t>
            </a:r>
          </a:p>
          <a:p xmlns:a="http://schemas.openxmlformats.org/drawingml/2006/main">
            <a:pPr algn="ctr">
              <a:defRPr sz="1650" b="1">
                <a:solidFill>
                  <a:srgbClr val="10213B"/>
                </a:solidFill>
              </a:defRPr>
            </a:pPr>
            <a:r>
              <a:rPr sz="1650" b="1">
                <a:solidFill>
                  <a:srgbClr val="10213B"/>
                </a:solidFill>
              </a:rPr>
              <a:t>→</a:t>
            </a:r>
          </a:p>
          <a:p xmlns:a="http://schemas.openxmlformats.org/drawingml/2006/main">
            <a:pPr algn="ctr">
              <a:defRPr sz="1650" b="1">
                <a:solidFill>
                  <a:srgbClr val="10213B"/>
                </a:solidFill>
              </a:defRPr>
            </a:pPr>
            <a:r>
              <a:rPr sz="1650" b="1">
                <a:solidFill>
                  <a:srgbClr val="10213B"/>
                </a:solidFill>
              </a:rPr>
              <a:t>TC_UC_04</a:t>
            </a:r>
          </a:p>
        </p:txBody>
      </p:sp>
    </p:spTree>
    <p:extLst>
      <p:ext uri="{BB962C8B-B14F-4D97-AF65-F5344CB8AC3E}">
        <p14:creationId xmlns:p14="http://schemas.microsoft.com/office/powerpoint/2010/main" val="1075358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4717EAD-E813-4059-9CB8-2783ED6E7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57D"/>
                </a:solidFill>
              </a:defRPr>
            </a:pPr>
            <a:r>
              <a:rPr sz="975" b="1">
                <a:solidFill>
                  <a:srgbClr val="52657D"/>
                </a:solidFill>
              </a:rPr>
              <a:t>PCS • QUALITY ENGINEERING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93EC5D-9192-4CF0-BBAC-EBD3FC691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8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57D"/>
                </a:solidFill>
              </a:defRPr>
            </a:pPr>
            <a:r>
              <a:rPr sz="975" b="1">
                <a:solidFill>
                  <a:srgbClr val="52657D"/>
                </a:solidFill>
              </a:rPr>
              <a:t>WHITE-BOX &amp; BVA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028796-A929-469D-8624-D6D35EAF3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57D"/>
                </a:solidFill>
              </a:defRPr>
            </a:pPr>
            <a:r>
              <a:rPr sz="900" b="1">
                <a:solidFill>
                  <a:srgbClr val="52657D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E958B9-2339-47C9-9A27-046178FC1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13B"/>
                </a:solidFill>
              </a:defRPr>
            </a:pPr>
            <a:r>
              <a:rPr sz="2700" b="1">
                <a:solidFill>
                  <a:srgbClr val="10213B"/>
                </a:solidFill>
              </a:rPr>
              <a:t>Các biên nghiệp vụ được chuyển thành điểm kiểm thử cụ thể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953171-AC40-4B6A-905C-CFAD47425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895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78"/>
          </a:solidFill>
          <a:ln xmlns:a="http://schemas.openxmlformats.org/drawingml/2006/main" w="0">
            <a:solidFill>
              <a:srgbClr val="00A97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2287C4-07A5-465A-BB11-75C49DBEC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104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57D"/>
                </a:solidFill>
              </a:defRPr>
            </a:pPr>
            <a:r>
              <a:rPr sz="1200" b="0">
                <a:solidFill>
                  <a:srgbClr val="52657D"/>
                </a:solidFill>
              </a:rPr>
              <a:t>Không chỉ phủ dòng lệnh — nhóm kiểm tra đúng nơi hành vi thay đổi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0507E9-1319-4443-B2E2-751BA5D6B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34290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7E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72935B-E1D9-4838-9115-028F1D951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38350"/>
            <a:ext cx="297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8CB8"/>
                </a:solidFill>
              </a:defRPr>
            </a:pPr>
            <a:r>
              <a:rPr sz="1050" b="1">
                <a:solidFill>
                  <a:srgbClr val="008CB8"/>
                </a:solidFill>
              </a:rPr>
              <a:t>HOÀN TIỀN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8168DA-A322-42BE-B2EE-7D68F1465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2971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13B"/>
                </a:solidFill>
              </a:defRPr>
            </a:pPr>
            <a:r>
              <a:rPr sz="1725" b="1">
                <a:solidFill>
                  <a:srgbClr val="10213B"/>
                </a:solidFill>
              </a:rPr>
              <a:t>calculateRefundAmount()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16E511-1A7F-4676-B210-93B604C2E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6705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B8"/>
          </a:solidFill>
          <a:ln xmlns:a="http://schemas.openxmlformats.org/drawingml/2006/main" w="0">
            <a:solidFill>
              <a:srgbClr val="008CB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F85EFE-8FA9-44CC-8CAF-AD83C5EC5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528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8CB8"/>
                </a:solidFill>
              </a:defRPr>
            </a:pPr>
            <a:r>
              <a:rPr sz="975" b="1">
                <a:solidFill>
                  <a:srgbClr val="008CB8"/>
                </a:solidFill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967886-898A-408E-81E3-E026206A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95650"/>
            <a:ext cx="2400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57D"/>
                </a:solidFill>
              </a:defRPr>
            </a:pPr>
            <a:r>
              <a:rPr sz="1350" b="0">
                <a:solidFill>
                  <a:srgbClr val="52657D"/>
                </a:solidFill>
              </a:rPr>
              <a:t>&lt; 2h: 0%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7C6DF2-F50E-4257-A705-CD17EDC86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766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8CB8"/>
                </a:solidFill>
              </a:defRPr>
            </a:pPr>
            <a:r>
              <a:rPr sz="975" b="1">
                <a:solidFill>
                  <a:srgbClr val="008CB8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811DF7-00A6-4435-9949-12CA5F6A5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19525"/>
            <a:ext cx="2400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57D"/>
                </a:solidFill>
              </a:defRPr>
            </a:pPr>
            <a:r>
              <a:rPr sz="1350" b="0">
                <a:solidFill>
                  <a:srgbClr val="52657D"/>
                </a:solidFill>
              </a:rPr>
              <a:t>2–12h: 70%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DCFE8F-1315-4104-A8AB-0C553F0F7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005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8CB8"/>
                </a:solidFill>
              </a:defRPr>
            </a:pPr>
            <a:r>
              <a:rPr sz="975" b="1">
                <a:solidFill>
                  <a:srgbClr val="008CB8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00EB2F-9057-4D9C-A8E3-AE1CF9B21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343400"/>
            <a:ext cx="2400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57D"/>
                </a:solidFill>
              </a:defRPr>
            </a:pPr>
            <a:r>
              <a:rPr sz="1350" b="0">
                <a:solidFill>
                  <a:srgbClr val="52657D"/>
                </a:solidFill>
              </a:rPr>
              <a:t>&gt; 12h: 100%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9C2A2E-5326-4B92-A019-9BB83672D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790700"/>
            <a:ext cx="34290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7E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E93E83-2962-4405-9D5D-1FCB20CD5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38350"/>
            <a:ext cx="297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A978"/>
                </a:solidFill>
              </a:defRPr>
            </a:pPr>
            <a:r>
              <a:rPr sz="1050" b="1">
                <a:solidFill>
                  <a:srgbClr val="00A978"/>
                </a:solidFill>
              </a:rPr>
              <a:t>GIỚI HẠN ĐẶT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A53152-DFCE-4003-B153-0060E24AD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81250"/>
            <a:ext cx="2971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13B"/>
                </a:solidFill>
              </a:defRPr>
            </a:pPr>
            <a:r>
              <a:rPr sz="1725" b="1">
                <a:solidFill>
                  <a:srgbClr val="10213B"/>
                </a:solidFill>
              </a:rPr>
              <a:t>createBooking()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B0F009-5464-445C-838E-11ECBF766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6705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78"/>
          </a:solidFill>
          <a:ln xmlns:a="http://schemas.openxmlformats.org/drawingml/2006/main" w="0">
            <a:solidFill>
              <a:srgbClr val="00A97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7D8D88-971D-4D06-BF5E-ED40458F9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528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978"/>
                </a:solidFill>
              </a:defRPr>
            </a:pPr>
            <a:r>
              <a:rPr sz="975" b="1">
                <a:solidFill>
                  <a:srgbClr val="00A978"/>
                </a:solidFill>
              </a:rPr>
              <a:t>01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E36B28-22FE-4F0E-B723-F70696266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295650"/>
            <a:ext cx="2400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57D"/>
                </a:solidFill>
              </a:defRPr>
            </a:pPr>
            <a:r>
              <a:rPr sz="1350" b="0">
                <a:solidFill>
                  <a:srgbClr val="52657D"/>
                </a:solidFill>
              </a:rPr>
              <a:t>Lượt 3: Pass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729D10-208E-49BD-831F-45D83B997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766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978"/>
                </a:solidFill>
              </a:defRPr>
            </a:pPr>
            <a:r>
              <a:rPr sz="975" b="1">
                <a:solidFill>
                  <a:srgbClr val="00A978"/>
                </a:solidFill>
              </a:rPr>
              <a:t>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43346B-ADB8-45BC-9B31-5D6FB8694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819525"/>
            <a:ext cx="2400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57D"/>
                </a:solidFill>
              </a:defRPr>
            </a:pPr>
            <a:r>
              <a:rPr sz="1350" b="0">
                <a:solidFill>
                  <a:srgbClr val="52657D"/>
                </a:solidFill>
              </a:rPr>
              <a:t>Lượt 4: Block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68C2C9-6E8B-4799-B519-4CA8637E9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005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978"/>
                </a:solidFill>
              </a:defRPr>
            </a:pPr>
            <a:r>
              <a:rPr sz="975" b="1">
                <a:solidFill>
                  <a:srgbClr val="00A978"/>
                </a:solidFill>
              </a:rPr>
              <a:t>03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6076AA-4037-4045-B9F5-78E608E23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343400"/>
            <a:ext cx="2400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57D"/>
                </a:solidFill>
              </a:defRPr>
            </a:pPr>
            <a:r>
              <a:rPr sz="1350" b="0">
                <a:solidFill>
                  <a:srgbClr val="52657D"/>
                </a:solidFill>
              </a:rPr>
              <a:t>Ranh giới/ngày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E34153-F8B5-4FCB-B79B-882ABF54C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790700"/>
            <a:ext cx="34290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7E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22A749-6CD2-41B5-BA0A-294AC1341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38350"/>
            <a:ext cx="297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92BC0"/>
                </a:solidFill>
              </a:defRPr>
            </a:pPr>
            <a:r>
              <a:rPr sz="1050" b="1">
                <a:solidFill>
                  <a:srgbClr val="A92BC0"/>
                </a:solidFill>
              </a:rPr>
              <a:t>VOUCHER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18F207-7EBB-485B-8049-229AC0D9B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2971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13B"/>
                </a:solidFill>
              </a:defRPr>
            </a:pPr>
            <a:r>
              <a:rPr sz="1725" b="1">
                <a:solidFill>
                  <a:srgbClr val="10213B"/>
                </a:solidFill>
              </a:rPr>
              <a:t>validatePromotion()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CB0E08-2BF9-4D22-90D1-9F7FE4B7B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6705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2BC0"/>
          </a:solidFill>
          <a:ln xmlns:a="http://schemas.openxmlformats.org/drawingml/2006/main" w="0">
            <a:solidFill>
              <a:srgbClr val="A92BC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A67692-6857-47B8-8E44-E7E17F9D0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528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92BC0"/>
                </a:solidFill>
              </a:defRPr>
            </a:pPr>
            <a:r>
              <a:rPr sz="975" b="1">
                <a:solidFill>
                  <a:srgbClr val="A92BC0"/>
                </a:solidFill>
              </a:rPr>
              <a:t>01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B9C7AF-FC4E-49C8-BA8D-9AB03C39C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295650"/>
            <a:ext cx="2400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57D"/>
                </a:solidFill>
              </a:defRPr>
            </a:pPr>
            <a:r>
              <a:rPr sz="1350" b="0">
                <a:solidFill>
                  <a:srgbClr val="52657D"/>
                </a:solidFill>
              </a:rPr>
              <a:t>Hết hạn T/F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21A39BA-25CF-49ED-B9FA-4A5101391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766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92BC0"/>
                </a:solidFill>
              </a:defRPr>
            </a:pPr>
            <a:r>
              <a:rPr sz="975" b="1">
                <a:solidFill>
                  <a:srgbClr val="A92BC0"/>
                </a:solidFill>
              </a:rPr>
              <a:t>02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8ACFCCC-F3DD-4D6E-A126-AD73A56E5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819525"/>
            <a:ext cx="2400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57D"/>
                </a:solidFill>
              </a:defRPr>
            </a:pPr>
            <a:r>
              <a:rPr sz="1350" b="0">
                <a:solidFill>
                  <a:srgbClr val="52657D"/>
                </a:solidFill>
              </a:rPr>
              <a:t>Min order T/F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0338647-8762-423A-A654-0CEE72506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005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92BC0"/>
                </a:solidFill>
              </a:defRPr>
            </a:pPr>
            <a:r>
              <a:rPr sz="975" b="1">
                <a:solidFill>
                  <a:srgbClr val="A92BC0"/>
                </a:solidFill>
              </a:rPr>
              <a:t>03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D3CF5E4-0F12-45A5-ADD8-64D08AC11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343400"/>
            <a:ext cx="2400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57D"/>
                </a:solidFill>
              </a:defRPr>
            </a:pPr>
            <a:r>
              <a:rPr sz="1350" b="0">
                <a:solidFill>
                  <a:srgbClr val="52657D"/>
                </a:solidFill>
              </a:rPr>
              <a:t>Phủ nhánh if/else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1826595-0F4E-49E5-B1DA-43ED30EB9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57D"/>
                </a:solidFill>
              </a:defRPr>
            </a:pPr>
            <a:r>
              <a:rPr sz="975" b="1">
                <a:solidFill>
                  <a:srgbClr val="52657D"/>
                </a:solidFill>
              </a:rPr>
              <a:t>KỸ THUẬT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9AD5A86-05E4-43AC-9AFF-49982411E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467350"/>
            <a:ext cx="6858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9525">
            <a:solidFill>
              <a:srgbClr val="2F6FE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A763AF1-A91E-423A-8B69-F6B38930A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4673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13B"/>
                </a:solidFill>
              </a:defRPr>
            </a:pPr>
            <a:r>
              <a:rPr sz="975" b="1">
                <a:solidFill>
                  <a:srgbClr val="10213B"/>
                </a:solidFill>
              </a:rPr>
              <a:t>EP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8B24A99-4467-4957-931F-7CB56CF17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467350"/>
            <a:ext cx="781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08CB8"/>
          </a:solidFill>
          <a:ln xmlns:a="http://schemas.openxmlformats.org/drawingml/2006/main" w="9525">
            <a:solidFill>
              <a:srgbClr val="008CB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9C13302-40F5-49E9-82DC-60C754013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467350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4F8FC"/>
                </a:solidFill>
              </a:defRPr>
            </a:pPr>
            <a:r>
              <a:rPr sz="975" b="1">
                <a:solidFill>
                  <a:srgbClr val="F4F8FC"/>
                </a:solidFill>
              </a:rPr>
              <a:t>BVA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324AC1D-1351-4996-9D84-F146F6883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467350"/>
            <a:ext cx="12001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0A978"/>
          </a:solidFill>
          <a:ln xmlns:a="http://schemas.openxmlformats.org/drawingml/2006/main" w="9525">
            <a:solidFill>
              <a:srgbClr val="00A97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6E576CC-9D9C-406D-A1BD-73D682CC2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4673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4F8FC"/>
                </a:solidFill>
              </a:defRPr>
            </a:pPr>
            <a:r>
              <a:rPr sz="975" b="1">
                <a:solidFill>
                  <a:srgbClr val="F4F8FC"/>
                </a:solidFill>
              </a:rPr>
              <a:t>STATEMENT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DFDBD93-9CDC-4219-A842-1D2C2203F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467350"/>
            <a:ext cx="10287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A92BC0"/>
          </a:solidFill>
          <a:ln xmlns:a="http://schemas.openxmlformats.org/drawingml/2006/main" w="9525">
            <a:solidFill>
              <a:srgbClr val="A92BC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9C341AD-D358-4A8B-B5AF-0853865AD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467350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13B"/>
                </a:solidFill>
              </a:defRPr>
            </a:pPr>
            <a:r>
              <a:rPr sz="975" b="1">
                <a:solidFill>
                  <a:srgbClr val="10213B"/>
                </a:solidFill>
              </a:rPr>
              <a:t>BRANCH</a:t>
            </a:r>
          </a:p>
        </p:txBody>
      </p:sp>
    </p:spTree>
    <p:extLst>
      <p:ext uri="{BB962C8B-B14F-4D97-AF65-F5344CB8AC3E}">
        <p14:creationId xmlns:p14="http://schemas.microsoft.com/office/powerpoint/2010/main" val="2733417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26A1AE2-59C2-4BC2-9FBE-A01C4DC08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57D"/>
                </a:solidFill>
              </a:defRPr>
            </a:pPr>
            <a:r>
              <a:rPr sz="975" b="1">
                <a:solidFill>
                  <a:srgbClr val="52657D"/>
                </a:solidFill>
              </a:rPr>
              <a:t>PCS • QUALITY ENGINEERING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DB8CD4-2021-46B1-A85E-29ACA5BB5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8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57D"/>
                </a:solidFill>
              </a:defRPr>
            </a:pPr>
            <a:r>
              <a:rPr sz="975" b="1">
                <a:solidFill>
                  <a:srgbClr val="52657D"/>
                </a:solidFill>
              </a:rPr>
              <a:t>AUTOMATION STACK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AFD608-1E92-4A40-B3F7-0EA42C7E7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57D"/>
                </a:solidFill>
              </a:defRPr>
            </a:pPr>
            <a:r>
              <a:rPr sz="900" b="1">
                <a:solidFill>
                  <a:srgbClr val="52657D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F81760-27F3-40CE-A3B2-23CF8F8AC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13B"/>
                </a:solidFill>
              </a:defRPr>
            </a:pPr>
            <a:r>
              <a:rPr sz="2700" b="1">
                <a:solidFill>
                  <a:srgbClr val="10213B"/>
                </a:solidFill>
              </a:rPr>
              <a:t>Vitest tạo một workspace kiểm thử nhanh, thống nhất và dễ bảo trì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62BD57-97A3-4797-9204-D32E2CFA9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895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78"/>
          </a:solidFill>
          <a:ln xmlns:a="http://schemas.openxmlformats.org/drawingml/2006/main" w="0">
            <a:solidFill>
              <a:srgbClr val="00A97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AD48EC-114F-4CF9-BAB6-FFA35971A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104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57D"/>
                </a:solidFill>
              </a:defRPr>
            </a:pPr>
            <a:r>
              <a:rPr sz="1200" b="0">
                <a:solidFill>
                  <a:srgbClr val="52657D"/>
                </a:solidFill>
              </a:rPr>
              <a:t>Backend chạy Node, UI chạy JSDOM, dữ liệu dùng chung qua testData.ts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38DA20-DDBC-4C44-8C73-0B38A2DFD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4095750" cy="348615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7E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14243A-47E8-46CD-8CDC-03995DB1A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383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A978"/>
                </a:solidFill>
              </a:defRPr>
            </a:pPr>
            <a:r>
              <a:rPr sz="2100" b="1">
                <a:solidFill>
                  <a:srgbClr val="00A978"/>
                </a:solidFill>
              </a:rPr>
              <a:t>VITEST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2FEE0C-2BF1-418B-89BA-C5D75C9AE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71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13B"/>
                </a:solidFill>
              </a:defRPr>
            </a:pPr>
            <a:r>
              <a:rPr sz="1350" b="1">
                <a:solidFill>
                  <a:srgbClr val="10213B"/>
                </a:solidFill>
              </a:rPr>
              <a:t>Lý do lựa chọn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4F9313-0778-4CBA-940E-1103C95C4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861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978"/>
          </a:solidFill>
          <a:ln xmlns:a="http://schemas.openxmlformats.org/drawingml/2006/main" w="9525">
            <a:solidFill>
              <a:srgbClr val="00A9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7DE2B2-1136-4374-809C-9E4D6C3E1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09900"/>
            <a:ext cx="3086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13B"/>
                </a:solidFill>
              </a:defRPr>
            </a:pPr>
            <a:r>
              <a:rPr sz="1350" b="0">
                <a:solidFill>
                  <a:srgbClr val="10213B"/>
                </a:solidFill>
              </a:rPr>
              <a:t>TypeScript &amp; Next.js không cần Babel phức tạp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7779F0-A58A-46AC-BA5C-904545CC7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385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978"/>
          </a:solidFill>
          <a:ln xmlns:a="http://schemas.openxmlformats.org/drawingml/2006/main" w="9525">
            <a:solidFill>
              <a:srgbClr val="00A97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B9F628-A031-442A-890D-58B100D41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62350"/>
            <a:ext cx="3086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13B"/>
                </a:solidFill>
              </a:defRPr>
            </a:pPr>
            <a:r>
              <a:rPr sz="1350" b="0">
                <a:solidFill>
                  <a:srgbClr val="10213B"/>
                </a:solidFill>
              </a:rPr>
              <a:t>Chạy song song nhiều suite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497DB1-9020-412B-9AA0-BF3CF28A4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910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978"/>
          </a:solidFill>
          <a:ln xmlns:a="http://schemas.openxmlformats.org/drawingml/2006/main" w="9525">
            <a:solidFill>
              <a:srgbClr val="00A97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717B43-D4B3-41EC-BD88-DB2E1F01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14800"/>
            <a:ext cx="3086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13B"/>
                </a:solidFill>
              </a:defRPr>
            </a:pPr>
            <a:r>
              <a:rPr sz="1350" b="0">
                <a:solidFill>
                  <a:srgbClr val="10213B"/>
                </a:solidFill>
              </a:rPr>
              <a:t>Mock API, repository và dependency linh hoạt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FEF867-F6D4-494A-A53B-E27C77AD4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434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978"/>
          </a:solidFill>
          <a:ln xmlns:a="http://schemas.openxmlformats.org/drawingml/2006/main" w="9525">
            <a:solidFill>
              <a:srgbClr val="00A97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F6E53F-2973-498E-A80F-2CC04CEFE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67250"/>
            <a:ext cx="3086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13B"/>
                </a:solidFill>
              </a:defRPr>
            </a:pPr>
            <a:r>
              <a:rPr sz="1350" b="0">
                <a:solidFill>
                  <a:srgbClr val="10213B"/>
                </a:solidFill>
              </a:rPr>
              <a:t>Coverage V8 tích hợp trực tiếp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79A0B7-5D6C-4697-8D12-3E3AF3D89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752600"/>
            <a:ext cx="6591300" cy="348615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C6D7E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8239B8-9688-417E-B1F7-D3352C44C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038350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78"/>
          </a:solidFill>
          <a:ln xmlns:a="http://schemas.openxmlformats.org/drawingml/2006/main" w="0">
            <a:solidFill>
              <a:srgbClr val="00A97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990264-0969-4221-AC64-A2ACF0792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0193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57D"/>
                </a:solidFill>
              </a:defRPr>
            </a:pPr>
            <a:r>
              <a:rPr sz="1200" b="1">
                <a:solidFill>
                  <a:srgbClr val="52657D"/>
                </a:solidFill>
              </a:rPr>
              <a:t>WORKSPACE ARCHITECTURE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63DAE6-A8F1-4B8C-B67E-966E04DED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413" y="3000375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7E9"/>
          </a:solidFill>
          <a:ln xmlns:a="http://schemas.openxmlformats.org/drawingml/2006/main" w="0">
            <a:solidFill>
              <a:srgbClr val="C6D7E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86C722-3C80-4558-82A5-1BCCBF273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647950"/>
            <a:ext cx="1376363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C6D7E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0573C5-0051-4C7D-A5C8-70EB69402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7336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978"/>
                </a:solidFill>
              </a:defRPr>
            </a:pPr>
            <a:r>
              <a:rPr sz="900" b="1">
                <a:solidFill>
                  <a:srgbClr val="00A978"/>
                </a:solidFill>
              </a:rPr>
              <a:t>01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453ED9-8BF6-4C56-A194-ECE7C41E1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914650"/>
            <a:ext cx="11477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13B"/>
                </a:solidFill>
              </a:defRPr>
            </a:pPr>
            <a:r>
              <a:rPr sz="1125" b="1">
                <a:solidFill>
                  <a:srgbClr val="10213B"/>
                </a:solidFill>
              </a:rPr>
              <a:t>vitest.config.ts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4589BF-E86C-40D9-B227-BBEA226B3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000375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7E9"/>
          </a:solidFill>
          <a:ln xmlns:a="http://schemas.openxmlformats.org/drawingml/2006/main" w="0">
            <a:solidFill>
              <a:srgbClr val="C6D7E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327D8A-B9C4-4CC3-B39A-0BDD1C545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0863" y="2647950"/>
            <a:ext cx="1376363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C6D7E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BBD775-DFDA-47E6-AB78-F68157563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5163" y="27336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978"/>
                </a:solidFill>
              </a:defRPr>
            </a:pPr>
            <a:r>
              <a:rPr sz="900" b="1">
                <a:solidFill>
                  <a:srgbClr val="00A978"/>
                </a:solidFill>
              </a:rPr>
              <a:t>02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CB15E8-9CF6-4E88-B2E9-52ED2FD90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5163" y="2914650"/>
            <a:ext cx="11477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13B"/>
                </a:solidFill>
              </a:defRPr>
            </a:pPr>
            <a:r>
              <a:rPr sz="1125" b="1">
                <a:solidFill>
                  <a:srgbClr val="10213B"/>
                </a:solidFill>
              </a:rPr>
              <a:t>Backend</a:t>
            </a:r>
          </a:p>
          <a:p xmlns:a="http://schemas.openxmlformats.org/drawingml/2006/main">
            <a:pPr algn="ctr">
              <a:defRPr sz="1125" b="1">
                <a:solidFill>
                  <a:srgbClr val="10213B"/>
                </a:solidFill>
              </a:defRPr>
            </a:pPr>
            <a:r>
              <a:rPr sz="1125" b="1">
                <a:solidFill>
                  <a:srgbClr val="10213B"/>
                </a:solidFill>
              </a:rPr>
              <a:t>Node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CE756A-9751-4A04-B960-D0517CC22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5038" y="3000375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7E9"/>
          </a:solidFill>
          <a:ln xmlns:a="http://schemas.openxmlformats.org/drawingml/2006/main" w="0">
            <a:solidFill>
              <a:srgbClr val="C6D7E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AFB7854-6219-4757-9182-C5AA469C6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647950"/>
            <a:ext cx="1376363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C6D7E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40D03C2-CB07-448F-B33B-7793DFDB3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7336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978"/>
                </a:solidFill>
              </a:defRPr>
            </a:pPr>
            <a:r>
              <a:rPr sz="900" b="1">
                <a:solidFill>
                  <a:srgbClr val="00A978"/>
                </a:solidFill>
              </a:rPr>
              <a:t>03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2401A69-0C19-4A69-9854-20C382916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914650"/>
            <a:ext cx="11477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13B"/>
                </a:solidFill>
              </a:defRPr>
            </a:pPr>
            <a:r>
              <a:rPr sz="1125" b="1">
                <a:solidFill>
                  <a:srgbClr val="10213B"/>
                </a:solidFill>
              </a:rPr>
              <a:t>Frontend</a:t>
            </a:r>
          </a:p>
          <a:p xmlns:a="http://schemas.openxmlformats.org/drawingml/2006/main">
            <a:pPr algn="ctr">
              <a:defRPr sz="1125" b="1">
                <a:solidFill>
                  <a:srgbClr val="10213B"/>
                </a:solidFill>
              </a:defRPr>
            </a:pPr>
            <a:r>
              <a:rPr sz="1125" b="1">
                <a:solidFill>
                  <a:srgbClr val="10213B"/>
                </a:solidFill>
              </a:rPr>
              <a:t>JSDOM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3FAF21D-C5C4-409F-90E9-B95707838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6488" y="2647950"/>
            <a:ext cx="1376363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C6D7E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0408254-BFDA-4480-B146-CB32F6320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0788" y="27336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978"/>
                </a:solidFill>
              </a:defRPr>
            </a:pPr>
            <a:r>
              <a:rPr sz="900" b="1">
                <a:solidFill>
                  <a:srgbClr val="00A978"/>
                </a:solidFill>
              </a:rPr>
              <a:t>04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46752F9-07DB-4DD2-A6CF-DB0E3EECB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0788" y="2914650"/>
            <a:ext cx="11477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13B"/>
                </a:solidFill>
              </a:defRPr>
            </a:pPr>
            <a:r>
              <a:rPr sz="1125" b="1">
                <a:solidFill>
                  <a:srgbClr val="10213B"/>
                </a:solidFill>
              </a:rPr>
              <a:t>Coverage</a:t>
            </a:r>
          </a:p>
          <a:p xmlns:a="http://schemas.openxmlformats.org/drawingml/2006/main">
            <a:pPr algn="ctr">
              <a:defRPr sz="1125" b="1">
                <a:solidFill>
                  <a:srgbClr val="10213B"/>
                </a:solidFill>
              </a:defRPr>
            </a:pPr>
            <a:r>
              <a:rPr sz="1125" b="1">
                <a:solidFill>
                  <a:srgbClr val="10213B"/>
                </a:solidFill>
              </a:rPr>
              <a:t>V8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CB0D2DD-234B-4650-8375-E55D96CB0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848100"/>
            <a:ext cx="5410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7E9"/>
          </a:solidFill>
          <a:ln xmlns:a="http://schemas.openxmlformats.org/drawingml/2006/main" w="0">
            <a:solidFill>
              <a:srgbClr val="C6D7E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2D2E0D1-5E25-487C-A1B4-5034C0A38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95750"/>
            <a:ext cx="35052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08CB8"/>
          </a:solidFill>
          <a:ln xmlns:a="http://schemas.openxmlformats.org/drawingml/2006/main" w="9525">
            <a:solidFill>
              <a:srgbClr val="008CB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B344641-EAC0-40F1-82B1-228EAC82A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095750"/>
            <a:ext cx="335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4F8FC"/>
                </a:solidFill>
              </a:defRPr>
            </a:pPr>
            <a:r>
              <a:rPr sz="975" b="1">
                <a:solidFill>
                  <a:srgbClr val="F4F8FC"/>
                </a:solidFill>
              </a:rPr>
              <a:t>tests/data/testData.ts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CDCF1E1-CC09-4C3B-AE0D-7D9B5AEB9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552950"/>
            <a:ext cx="411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2657D"/>
                </a:solidFill>
              </a:defRPr>
            </a:pPr>
            <a:r>
              <a:rPr sz="1275" b="0">
                <a:solidFill>
                  <a:srgbClr val="52657D"/>
                </a:solidFill>
              </a:rPr>
              <a:t>Mock accounts • courts • slots • vouchers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47DE433-212B-4E39-8A7A-D1EE769E8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111252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E7FAF4"/>
          </a:solidFill>
          <a:ln xmlns:a="http://schemas.openxmlformats.org/drawingml/2006/main" w="9525">
            <a:solidFill>
              <a:srgbClr val="00A97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147D7B4-658C-4D5A-A46D-F68B3F474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007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A978"/>
                </a:solidFill>
              </a:defRPr>
            </a:pPr>
            <a:r>
              <a:rPr sz="1350" b="1">
                <a:solidFill>
                  <a:srgbClr val="00A978"/>
                </a:solidFill>
              </a:rPr>
              <a:t>Một nguồn dữ liệu kiểm thử → ít trùng lặp → thay đổi schema nhanh hơn</a:t>
            </a:r>
          </a:p>
        </p:txBody>
      </p:sp>
    </p:spTree>
    <p:extLst>
      <p:ext uri="{BB962C8B-B14F-4D97-AF65-F5344CB8AC3E}">
        <p14:creationId xmlns:p14="http://schemas.microsoft.com/office/powerpoint/2010/main" val="16743713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2447AE7-4727-4418-8867-0C30AB67E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57D"/>
                </a:solidFill>
              </a:defRPr>
            </a:pPr>
            <a:r>
              <a:rPr sz="975" b="1">
                <a:solidFill>
                  <a:srgbClr val="52657D"/>
                </a:solidFill>
              </a:rPr>
              <a:t>PCS • QUALITY ENGINEERING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4B3260-C0A4-4374-B312-CD9265F3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8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57D"/>
                </a:solidFill>
              </a:defRPr>
            </a:pPr>
            <a:r>
              <a:rPr sz="975" b="1">
                <a:solidFill>
                  <a:srgbClr val="52657D"/>
                </a:solidFill>
              </a:rPr>
              <a:t>KẾT QUẢ THỰC THI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E158C2-0AAB-42A3-8F9F-B704D7312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57D"/>
                </a:solidFill>
              </a:defRPr>
            </a:pPr>
            <a:r>
              <a:rPr sz="900" b="1">
                <a:solidFill>
                  <a:srgbClr val="52657D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6FBAC7-2CA2-4901-B223-D35C16227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13B"/>
                </a:solidFill>
              </a:defRPr>
            </a:pPr>
            <a:r>
              <a:rPr sz="2700" b="1">
                <a:solidFill>
                  <a:srgbClr val="10213B"/>
                </a:solidFill>
              </a:rPr>
              <a:t>53 test tự động đạt 100% pass trong chưa đầy 5 giây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7977E9-7045-4A0D-BE29-FCCCCCBAB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895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78"/>
          </a:solidFill>
          <a:ln xmlns:a="http://schemas.openxmlformats.org/drawingml/2006/main" w="0">
            <a:solidFill>
              <a:srgbClr val="00A97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1365F2-B6E3-4A49-8EF3-24659EA90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104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57D"/>
                </a:solidFill>
              </a:defRPr>
            </a:pPr>
            <a:r>
              <a:rPr sz="1200" b="0">
                <a:solidFill>
                  <a:srgbClr val="52657D"/>
                </a:solidFill>
              </a:rPr>
              <a:t>Coverage các lớp logic trọng yếu vượt mục tiêu ban đầu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BBA561-5AE6-49A1-B2B8-4411A65AF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9812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7E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D24A73-B074-4D9D-8001-A01B7D124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75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0213B"/>
                </a:solidFill>
              </a:defRPr>
            </a:pPr>
            <a:r>
              <a:rPr sz="2850" b="1">
                <a:solidFill>
                  <a:srgbClr val="10213B"/>
                </a:solidFill>
              </a:rPr>
              <a:t>53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C6CCFD-4095-4D03-B2FD-F28DBECFF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4315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57D"/>
                </a:solidFill>
              </a:defRPr>
            </a:pPr>
            <a:r>
              <a:rPr sz="1050" b="1">
                <a:solidFill>
                  <a:srgbClr val="52657D"/>
                </a:solidFill>
              </a:rPr>
              <a:t>TOTAL TESTS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2B9E5B-52B0-4C1C-B72E-91FBC4AFC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676400"/>
            <a:ext cx="19812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7E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CC177C-F845-4D34-B0B7-E8BA31D4A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809750"/>
            <a:ext cx="175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00A978"/>
                </a:solidFill>
              </a:defRPr>
            </a:pPr>
            <a:r>
              <a:rPr sz="2850" b="1">
                <a:solidFill>
                  <a:srgbClr val="00A978"/>
                </a:solidFill>
              </a:rPr>
              <a:t>53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6AE921-3180-4105-8AE1-8ADF0487D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4315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57D"/>
                </a:solidFill>
              </a:defRPr>
            </a:pPr>
            <a:r>
              <a:rPr sz="1050" b="1">
                <a:solidFill>
                  <a:srgbClr val="52657D"/>
                </a:solidFill>
              </a:rPr>
              <a:t>PASSED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145B0E-DB2A-4566-A426-7F25ADA85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676400"/>
            <a:ext cx="19812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7E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B5AE50-C560-4919-86A7-52CAB9332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809750"/>
            <a:ext cx="175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D63F51"/>
                </a:solidFill>
              </a:defRPr>
            </a:pPr>
            <a:r>
              <a:rPr sz="2850" b="1">
                <a:solidFill>
                  <a:srgbClr val="D63F51"/>
                </a:solidFill>
              </a:rPr>
              <a:t>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09EBDA-F827-4A94-A0FB-9D1ADC8E3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34315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57D"/>
                </a:solidFill>
              </a:defRPr>
            </a:pPr>
            <a:r>
              <a:rPr sz="1050" b="1">
                <a:solidFill>
                  <a:srgbClr val="52657D"/>
                </a:solidFill>
              </a:rPr>
              <a:t>FAILED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CE5E9B-8857-4F25-A888-395BA687E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76400"/>
            <a:ext cx="19812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7E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E4E56F-8728-48F9-A0DB-270A3187E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809750"/>
            <a:ext cx="175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00A978"/>
                </a:solidFill>
              </a:defRPr>
            </a:pPr>
            <a:r>
              <a:rPr sz="2850" b="1">
                <a:solidFill>
                  <a:srgbClr val="00A978"/>
                </a:solidFill>
              </a:rPr>
              <a:t>100%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BF2680-485B-4EA4-9285-6881440E3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34315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57D"/>
                </a:solidFill>
              </a:defRPr>
            </a:pPr>
            <a:r>
              <a:rPr sz="1050" b="1">
                <a:solidFill>
                  <a:srgbClr val="52657D"/>
                </a:solidFill>
              </a:rPr>
              <a:t>PASS RATE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421C29-0ED4-49C6-9780-16A22CB0C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676400"/>
            <a:ext cx="19812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7E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57B964-0C4F-4649-A685-A69435423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809750"/>
            <a:ext cx="175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008CB8"/>
                </a:solidFill>
              </a:defRPr>
            </a:pPr>
            <a:r>
              <a:rPr sz="2850" b="1">
                <a:solidFill>
                  <a:srgbClr val="008CB8"/>
                </a:solidFill>
              </a:rPr>
              <a:t>4.22s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FB835D-4D80-4E89-8E7C-B106A1112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34315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57D"/>
                </a:solidFill>
              </a:defRPr>
            </a:pPr>
            <a:r>
              <a:rPr sz="1050" b="1">
                <a:solidFill>
                  <a:srgbClr val="52657D"/>
                </a:solidFill>
              </a:rPr>
              <a:t>LOCAL RUN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43E8A2-B397-4692-8D46-A630301A0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19450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78"/>
          </a:solidFill>
          <a:ln xmlns:a="http://schemas.openxmlformats.org/drawingml/2006/main" w="0">
            <a:solidFill>
              <a:srgbClr val="00A97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C32604-4882-46AB-AE88-51CFCF5B3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57D"/>
                </a:solidFill>
              </a:defRPr>
            </a:pPr>
            <a:r>
              <a:rPr sz="1200" b="1">
                <a:solidFill>
                  <a:srgbClr val="52657D"/>
                </a:solidFill>
              </a:rPr>
              <a:t>TEST SUITE ALLOCATION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833111-9B05-4943-A031-71F52A8DB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47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13B"/>
                </a:solidFill>
              </a:defRPr>
            </a:pPr>
            <a:r>
              <a:rPr sz="1275" b="1">
                <a:solidFill>
                  <a:srgbClr val="10213B"/>
                </a:solidFill>
              </a:rPr>
              <a:t>Unit Tests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0BBEDD-111E-43AB-88D5-05A6BF061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7147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0213B"/>
                </a:solidFill>
              </a:defRPr>
            </a:pPr>
            <a:r>
              <a:rPr sz="1200" b="1">
                <a:solidFill>
                  <a:srgbClr val="10213B"/>
                </a:solidFill>
              </a:rPr>
              <a:t>41 TCs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F397C7-AF4C-4FC4-8905-8901E2DDD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790950"/>
            <a:ext cx="7105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7E9"/>
          </a:solidFill>
          <a:ln xmlns:a="http://schemas.openxmlformats.org/drawingml/2006/main" w="0">
            <a:solidFill>
              <a:srgbClr val="C6D7E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82649A-7E4E-4CAF-9107-91194A170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790950"/>
            <a:ext cx="5496824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78"/>
          </a:solidFill>
          <a:ln xmlns:a="http://schemas.openxmlformats.org/drawingml/2006/main" w="0">
            <a:solidFill>
              <a:srgbClr val="00A97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E9F8A4-0289-41C7-A854-358D4AE05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5292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13B"/>
                </a:solidFill>
              </a:defRPr>
            </a:pPr>
            <a:r>
              <a:rPr sz="1275" b="1">
                <a:solidFill>
                  <a:srgbClr val="10213B"/>
                </a:solidFill>
              </a:rPr>
              <a:t>API Integration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60AA4D-41E0-4E40-9FF5-7632908BC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35292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0213B"/>
                </a:solidFill>
              </a:defRPr>
            </a:pPr>
            <a:r>
              <a:rPr sz="1200" b="1">
                <a:solidFill>
                  <a:srgbClr val="10213B"/>
                </a:solidFill>
              </a:rPr>
              <a:t>9 TCs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C32607-596D-4131-AF75-1C6A8D372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429125"/>
            <a:ext cx="7105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7E9"/>
          </a:solidFill>
          <a:ln xmlns:a="http://schemas.openxmlformats.org/drawingml/2006/main" w="0">
            <a:solidFill>
              <a:srgbClr val="C6D7E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23121C5-250A-4D9C-A788-701C22898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429125"/>
            <a:ext cx="120662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B8"/>
          </a:solidFill>
          <a:ln xmlns:a="http://schemas.openxmlformats.org/drawingml/2006/main" w="0">
            <a:solidFill>
              <a:srgbClr val="008CB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DBB3B7D-24A9-4753-B46A-E6C1C2DE4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911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13B"/>
                </a:solidFill>
              </a:defRPr>
            </a:pPr>
            <a:r>
              <a:rPr sz="1275" b="1">
                <a:solidFill>
                  <a:srgbClr val="10213B"/>
                </a:solidFill>
              </a:rPr>
              <a:t>UI Component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6FFB5DE-0A40-4C77-BFAC-3D2A826D5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9911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0213B"/>
                </a:solidFill>
              </a:defRPr>
            </a:pPr>
            <a:r>
              <a:rPr sz="1200" b="1">
                <a:solidFill>
                  <a:srgbClr val="10213B"/>
                </a:solidFill>
              </a:rPr>
              <a:t>3 TCs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0420249-75DE-4BA9-99A2-179BDB16A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067300"/>
            <a:ext cx="7105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7E9"/>
          </a:solidFill>
          <a:ln xmlns:a="http://schemas.openxmlformats.org/drawingml/2006/main" w="0">
            <a:solidFill>
              <a:srgbClr val="C6D7E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95DE604-759E-4E61-87D0-7C419960C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067300"/>
            <a:ext cx="402207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2BC0"/>
          </a:solidFill>
          <a:ln xmlns:a="http://schemas.openxmlformats.org/drawingml/2006/main" w="0">
            <a:solidFill>
              <a:srgbClr val="A92BC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728449E-C9FD-4FD0-8B1F-B380B82DB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0"/>
            <a:ext cx="111252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C6D7E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13B3F09-64D6-45CA-BBBA-943741B93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816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978"/>
                </a:solidFill>
              </a:defRPr>
            </a:pPr>
            <a:r>
              <a:rPr sz="1275" b="1">
                <a:solidFill>
                  <a:srgbClr val="00A978"/>
                </a:solidFill>
              </a:rPr>
              <a:t>Statements 92.5%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BFD3729-FA80-4D5E-930B-2D71D1291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7816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8CB8"/>
                </a:solidFill>
              </a:defRPr>
            </a:pPr>
            <a:r>
              <a:rPr sz="1275" b="1">
                <a:solidFill>
                  <a:srgbClr val="008CB8"/>
                </a:solidFill>
              </a:rPr>
              <a:t>Branches 88.3%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287D7F9-020A-47C3-803C-32622FAE1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7816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92BC0"/>
                </a:solidFill>
              </a:defRPr>
            </a:pPr>
            <a:r>
              <a:rPr sz="1275" b="1">
                <a:solidFill>
                  <a:srgbClr val="A92BC0"/>
                </a:solidFill>
              </a:rPr>
              <a:t>Functions 95.0%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1EDE7D1-244B-40E3-98E5-644C257B8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78167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6FED"/>
                </a:solidFill>
              </a:defRPr>
            </a:pPr>
            <a:r>
              <a:rPr sz="1275" b="1">
                <a:solidFill>
                  <a:srgbClr val="2F6FED"/>
                </a:solidFill>
              </a:rPr>
              <a:t>Lines 92.5%</a:t>
            </a:r>
          </a:p>
        </p:txBody>
      </p:sp>
    </p:spTree>
    <p:extLst>
      <p:ext uri="{BB962C8B-B14F-4D97-AF65-F5344CB8AC3E}">
        <p14:creationId xmlns:p14="http://schemas.microsoft.com/office/powerpoint/2010/main" val="8482374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1CCE64-3AB4-48DA-82E8-F5F37C48D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57D"/>
                </a:solidFill>
              </a:defRPr>
            </a:pPr>
            <a:r>
              <a:rPr sz="975" b="1">
                <a:solidFill>
                  <a:srgbClr val="52657D"/>
                </a:solidFill>
              </a:rPr>
              <a:t>PCS • QUALITY ENGINEERING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29C2A7-9759-4473-AE51-D48C9F5BB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8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57D"/>
                </a:solidFill>
              </a:defRPr>
            </a:pPr>
            <a:r>
              <a:rPr sz="975" b="1">
                <a:solidFill>
                  <a:srgbClr val="52657D"/>
                </a:solidFill>
              </a:rPr>
              <a:t>QA DASHBOARD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D3FC45-A1F6-4E51-8246-434AC1391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57D"/>
                </a:solidFill>
              </a:defRPr>
            </a:pPr>
            <a:r>
              <a:rPr sz="900" b="1">
                <a:solidFill>
                  <a:srgbClr val="52657D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A856AD-B4A3-4198-A239-A911B49DC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13B"/>
                </a:solidFill>
              </a:defRPr>
            </a:pPr>
            <a:r>
              <a:rPr sz="2700" b="1">
                <a:solidFill>
                  <a:srgbClr val="10213B"/>
                </a:solidFill>
              </a:rPr>
              <a:t>Dashboard biến kết quả kiểm thử thành bằng chứng có thể đọc ngay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8B9B3F-B644-4C32-9478-DB9C69C20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895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78"/>
          </a:solidFill>
          <a:ln xmlns:a="http://schemas.openxmlformats.org/drawingml/2006/main" w="0">
            <a:solidFill>
              <a:srgbClr val="00A97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F00981-3A86-4C9D-8939-B1CE0DE3E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104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57D"/>
                </a:solidFill>
              </a:defRPr>
            </a:pPr>
            <a:r>
              <a:rPr sz="1200" b="0">
                <a:solidFill>
                  <a:srgbClr val="52657D"/>
                </a:solidFill>
              </a:rPr>
              <a:t>Một màn hình kết nối pass rate, phân bổ suite và trạng thái pipeline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ed29cc80654f2d"/>
          <a:stretch xmlns:a="http://schemas.openxmlformats.org/drawingml/2006/main"/>
        </p:blipFill>
        <p:spPr>
          <a:xfrm xmlns:a="http://schemas.openxmlformats.org/drawingml/2006/main">
            <a:off x="533400" y="1844018"/>
            <a:ext cx="7810500" cy="3951015"/>
          </a:xfrm>
          <a:prstGeom xmlns:a="http://schemas.openxmlformats.org/drawingml/2006/main" prst="roundRect">
            <a:avLst>
              <a:gd name="adj" fmla="val 259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CAD6E1-4797-4CF6-884A-1DA63BCB9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752600"/>
            <a:ext cx="47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78"/>
          </a:solidFill>
          <a:ln xmlns:a="http://schemas.openxmlformats.org/drawingml/2006/main" w="0">
            <a:solidFill>
              <a:srgbClr val="00A97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59DF09-0EFB-4B7E-BC43-D1BAEEB4B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526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57D"/>
                </a:solidFill>
              </a:defRPr>
            </a:pPr>
            <a:r>
              <a:rPr sz="1275" b="1">
                <a:solidFill>
                  <a:srgbClr val="52657D"/>
                </a:solidFill>
              </a:rPr>
              <a:t>OVERVIEW PORTAL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EF38AD-0E9E-4030-85C1-A56E5E7EC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4003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978"/>
          </a:solidFill>
          <a:ln xmlns:a="http://schemas.openxmlformats.org/drawingml/2006/main" w="9525">
            <a:solidFill>
              <a:srgbClr val="00A9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9FF29D-6775-4AA8-B30E-FC69E9761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324100"/>
            <a:ext cx="25146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13B"/>
                </a:solidFill>
              </a:defRPr>
            </a:pPr>
            <a:r>
              <a:rPr sz="1425" b="0">
                <a:solidFill>
                  <a:srgbClr val="10213B"/>
                </a:solidFill>
              </a:rPr>
              <a:t>53 Passed / 0 Failed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72B1FF-664A-403A-A504-7A7524C78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981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978"/>
          </a:solidFill>
          <a:ln xmlns:a="http://schemas.openxmlformats.org/drawingml/2006/main" w="9525">
            <a:solidFill>
              <a:srgbClr val="00A97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8C1A24-25F7-4052-A056-86A739E59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905125"/>
            <a:ext cx="25146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13B"/>
                </a:solidFill>
              </a:defRPr>
            </a:pPr>
            <a:r>
              <a:rPr sz="1425" b="0">
                <a:solidFill>
                  <a:srgbClr val="10213B"/>
                </a:solidFill>
              </a:rPr>
              <a:t>100% automation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99DC3B-D3CC-46DE-B61C-B7B57D6F9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562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978"/>
          </a:solidFill>
          <a:ln xmlns:a="http://schemas.openxmlformats.org/drawingml/2006/main" w="9525">
            <a:solidFill>
              <a:srgbClr val="00A97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1E838E-418B-4E0A-B2B8-5586E36AF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486150"/>
            <a:ext cx="25146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13B"/>
                </a:solidFill>
              </a:defRPr>
            </a:pPr>
            <a:r>
              <a:rPr sz="1425" b="0">
                <a:solidFill>
                  <a:srgbClr val="10213B"/>
                </a:solidFill>
              </a:rPr>
              <a:t>Phân bổ Unit • API • UI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9E3D9A-B549-41C4-A653-8D7D1B682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143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978"/>
          </a:solidFill>
          <a:ln xmlns:a="http://schemas.openxmlformats.org/drawingml/2006/main" w="9525">
            <a:solidFill>
              <a:srgbClr val="00A97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E68995-B3DD-4FD8-8625-2ADC7BE57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067175"/>
            <a:ext cx="25146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13B"/>
                </a:solidFill>
              </a:defRPr>
            </a:pPr>
            <a:r>
              <a:rPr sz="1425" b="0">
                <a:solidFill>
                  <a:srgbClr val="10213B"/>
                </a:solidFill>
              </a:rPr>
              <a:t>Pipeline 7 bước trực quan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911B99-E308-4E35-90C6-A2D2CFBB7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724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978"/>
          </a:solidFill>
          <a:ln xmlns:a="http://schemas.openxmlformats.org/drawingml/2006/main" w="9525">
            <a:solidFill>
              <a:srgbClr val="00A97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48D641-8115-4986-863C-0E2431E5D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648200"/>
            <a:ext cx="25146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13B"/>
                </a:solidFill>
              </a:defRPr>
            </a:pPr>
            <a:r>
              <a:rPr sz="1425" b="0">
                <a:solidFill>
                  <a:srgbClr val="10213B"/>
                </a:solidFill>
              </a:rPr>
              <a:t>Coverage theo 4 chỉ số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472D17-077E-4EEA-B67B-3FFAED036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334000"/>
            <a:ext cx="28003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7FAF4"/>
          </a:solidFill>
          <a:ln xmlns:a="http://schemas.openxmlformats.org/drawingml/2006/main" w="9525">
            <a:solidFill>
              <a:srgbClr val="00A97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1C7AA2-2032-4D96-8ED0-E3FFDD7B9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476875"/>
            <a:ext cx="2419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A978"/>
                </a:solidFill>
              </a:defRPr>
            </a:pPr>
            <a:r>
              <a:rPr sz="1350" b="1">
                <a:solidFill>
                  <a:srgbClr val="00A978"/>
                </a:solidFill>
              </a:rPr>
              <a:t>Evidence → quyết định</a:t>
            </a:r>
          </a:p>
        </p:txBody>
      </p:sp>
    </p:spTree>
    <p:extLst>
      <p:ext uri="{BB962C8B-B14F-4D97-AF65-F5344CB8AC3E}">
        <p14:creationId xmlns:p14="http://schemas.microsoft.com/office/powerpoint/2010/main" val="120963589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860FC93-3347-4D8B-BCB7-051942168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57D"/>
                </a:solidFill>
              </a:defRPr>
            </a:pPr>
            <a:r>
              <a:rPr sz="975" b="1">
                <a:solidFill>
                  <a:srgbClr val="52657D"/>
                </a:solidFill>
              </a:rPr>
              <a:t>PCS • QUALITY ENGINEERING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8F0142-9D79-461F-B853-53196B679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8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57D"/>
                </a:solidFill>
              </a:defRPr>
            </a:pPr>
            <a:r>
              <a:rPr sz="975" b="1">
                <a:solidFill>
                  <a:srgbClr val="52657D"/>
                </a:solidFill>
              </a:rPr>
              <a:t>DASHBOARD VẬN HÀNH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0F775A-C473-44C8-8339-BC0447051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57D"/>
                </a:solidFill>
              </a:defRPr>
            </a:pPr>
            <a:r>
              <a:rPr sz="900" b="1">
                <a:solidFill>
                  <a:srgbClr val="52657D"/>
                </a:solidFill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61724C-468B-4ED0-B5A7-9CE9006DF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13B"/>
                </a:solidFill>
              </a:defRPr>
            </a:pPr>
            <a:r>
              <a:rPr sz="2700" b="1">
                <a:solidFill>
                  <a:srgbClr val="10213B"/>
                </a:solidFill>
              </a:rPr>
              <a:t>Test Execution và Defect Center rút ngắn vòng phản hồi QA–Dev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AFE95D-9758-4606-8FC5-BA3415699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895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78"/>
          </a:solidFill>
          <a:ln xmlns:a="http://schemas.openxmlformats.org/drawingml/2006/main" w="0">
            <a:solidFill>
              <a:srgbClr val="00A97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AE019D-F824-4738-B2F1-88947DDFC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104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57D"/>
                </a:solidFill>
              </a:defRPr>
            </a:pPr>
            <a:r>
              <a:rPr sz="1200" b="0">
                <a:solidFill>
                  <a:srgbClr val="52657D"/>
                </a:solidFill>
              </a:rPr>
              <a:t>Mỗi kết quả đều có thể lọc, truy vết và mở chi tiết xử lý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FB41A2-4E6E-4890-9A7D-8C4C4EDD9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78"/>
          </a:solidFill>
          <a:ln xmlns:a="http://schemas.openxmlformats.org/drawingml/2006/main" w="0">
            <a:solidFill>
              <a:srgbClr val="00A97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AF449F-A5D6-434D-AAF8-7F0612DCA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57D"/>
                </a:solidFill>
              </a:defRPr>
            </a:pPr>
            <a:r>
              <a:rPr sz="1200" b="1">
                <a:solidFill>
                  <a:srgbClr val="52657D"/>
                </a:solidFill>
              </a:rPr>
              <a:t>TEST EXECUTION GRID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D93BAA-5D84-44A6-B35C-ABD7C1C94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57D"/>
                </a:solidFill>
              </a:defRPr>
            </a:pPr>
            <a:r>
              <a:rPr sz="1350" b="0">
                <a:solidFill>
                  <a:srgbClr val="52657D"/>
                </a:solidFill>
              </a:rPr>
              <a:t>Search • Filter • Pagination • Priority • Status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997732-BF39-434E-A974-A41330C76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146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57D"/>
                </a:solidFill>
              </a:defRPr>
            </a:pPr>
            <a:r>
              <a:rPr sz="1050" b="1">
                <a:solidFill>
                  <a:srgbClr val="52657D"/>
                </a:solidFill>
              </a:rPr>
              <a:t>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4C6491-C1F2-4AE7-90CC-B8AF62CFE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25146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57D"/>
                </a:solidFill>
              </a:defRPr>
            </a:pPr>
            <a:r>
              <a:rPr sz="1050" b="1">
                <a:solidFill>
                  <a:srgbClr val="52657D"/>
                </a:solidFill>
              </a:rPr>
              <a:t>MODULE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1F36A6-5726-47A7-8752-92E0E4319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5146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57D"/>
                </a:solidFill>
              </a:defRPr>
            </a:pPr>
            <a:r>
              <a:rPr sz="1050" b="1">
                <a:solidFill>
                  <a:srgbClr val="52657D"/>
                </a:solidFill>
              </a:rPr>
              <a:t>PRIORITY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43BAB2-27E1-4E7C-933E-C2DDDE99B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5146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57D"/>
                </a:solidFill>
              </a:defRPr>
            </a:pPr>
            <a:r>
              <a:rPr sz="1050" b="1">
                <a:solidFill>
                  <a:srgbClr val="52657D"/>
                </a:solidFill>
              </a:rPr>
              <a:t>STATUS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F98676-ADF0-4E8B-BE37-269393D49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76550"/>
            <a:ext cx="54673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7E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640FF6-D5CE-4BB0-A20F-2A0B5DCE7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146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13B"/>
                </a:solidFill>
              </a:defRPr>
            </a:pPr>
            <a:r>
              <a:rPr sz="1125" b="0">
                <a:solidFill>
                  <a:srgbClr val="10213B"/>
                </a:solidFill>
              </a:rPr>
              <a:t>TC_PAY_01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264679-8823-4EC9-958C-7CD7CE15E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29146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13B"/>
                </a:solidFill>
              </a:defRPr>
            </a:pPr>
            <a:r>
              <a:rPr sz="1125" b="0">
                <a:solidFill>
                  <a:srgbClr val="10213B"/>
                </a:solidFill>
              </a:rPr>
              <a:t>Payment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580978-514F-4A9F-B4A2-FC9D467D2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9146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13B"/>
                </a:solidFill>
              </a:defRPr>
            </a:pPr>
            <a:r>
              <a:rPr sz="1125" b="0">
                <a:solidFill>
                  <a:srgbClr val="10213B"/>
                </a:solidFill>
              </a:rPr>
              <a:t>High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AAFAD5-F63D-4CD1-AF82-2AD1FB9EC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9146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A978"/>
                </a:solidFill>
              </a:defRPr>
            </a:pPr>
            <a:r>
              <a:rPr sz="1125" b="1">
                <a:solidFill>
                  <a:srgbClr val="00A978"/>
                </a:solidFill>
              </a:rPr>
              <a:t>PASS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989BAB-9EAA-47CD-BCBE-2271F0EA9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52800"/>
            <a:ext cx="54673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C6D7E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86CD36-D2B6-4597-804F-2571931CB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909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13B"/>
                </a:solidFill>
              </a:defRPr>
            </a:pPr>
            <a:r>
              <a:rPr sz="1125" b="0">
                <a:solidFill>
                  <a:srgbClr val="10213B"/>
                </a:solidFill>
              </a:rPr>
              <a:t>TC_BOOK_04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B37EEF-7DAE-4CEB-8FF8-6966A539D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3909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13B"/>
                </a:solidFill>
              </a:defRPr>
            </a:pPr>
            <a:r>
              <a:rPr sz="1125" b="0">
                <a:solidFill>
                  <a:srgbClr val="10213B"/>
                </a:solidFill>
              </a:rPr>
              <a:t>Booking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068C29-E24D-4FF7-A2E8-ED785BED1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3909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13B"/>
                </a:solidFill>
              </a:defRPr>
            </a:pPr>
            <a:r>
              <a:rPr sz="1125" b="0">
                <a:solidFill>
                  <a:srgbClr val="10213B"/>
                </a:solidFill>
              </a:rPr>
              <a:t>High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B3552C-DEC3-45D7-B115-41BD92C68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3909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A978"/>
                </a:solidFill>
              </a:defRPr>
            </a:pPr>
            <a:r>
              <a:rPr sz="1125" b="1">
                <a:solidFill>
                  <a:srgbClr val="00A978"/>
                </a:solidFill>
              </a:rPr>
              <a:t>PASS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0E672D-A621-4B24-93FF-CEA7BF587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29050"/>
            <a:ext cx="54673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7E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0D99CA-5DF3-4CC1-A026-7876B89A7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671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13B"/>
                </a:solidFill>
              </a:defRPr>
            </a:pPr>
            <a:r>
              <a:rPr sz="1125" b="0">
                <a:solidFill>
                  <a:srgbClr val="10213B"/>
                </a:solidFill>
              </a:rPr>
              <a:t>TC_REG_03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6FCB4E-C40D-4CEA-B398-73B06551D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8671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13B"/>
                </a:solidFill>
              </a:defRPr>
            </a:pPr>
            <a:r>
              <a:rPr sz="1125" b="0">
                <a:solidFill>
                  <a:srgbClr val="10213B"/>
                </a:solidFill>
              </a:rPr>
              <a:t>Auth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ED6FF2-E5AD-4AB9-8444-0998FC12A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8671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13B"/>
                </a:solidFill>
              </a:defRPr>
            </a:pPr>
            <a:r>
              <a:rPr sz="1125" b="0">
                <a:solidFill>
                  <a:srgbClr val="10213B"/>
                </a:solidFill>
              </a:rPr>
              <a:t>Medium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1FE7DD-9438-4BD5-A91F-D11DD146C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8671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A978"/>
                </a:solidFill>
              </a:defRPr>
            </a:pPr>
            <a:r>
              <a:rPr sz="1125" b="1">
                <a:solidFill>
                  <a:srgbClr val="00A978"/>
                </a:solidFill>
              </a:rPr>
              <a:t>PASS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31EFBD-1DA2-40CB-8540-77E7B0743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05300"/>
            <a:ext cx="54673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C6D7E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9E1DC6-0920-40C5-8A39-F1C7561AB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434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13B"/>
                </a:solidFill>
              </a:defRPr>
            </a:pPr>
            <a:r>
              <a:rPr sz="1125" b="0">
                <a:solidFill>
                  <a:srgbClr val="10213B"/>
                </a:solidFill>
              </a:rPr>
              <a:t>TC_UI_02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E4DEFF8-01C2-4E5F-9453-87C2033FD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43434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13B"/>
                </a:solidFill>
              </a:defRPr>
            </a:pPr>
            <a:r>
              <a:rPr sz="1125" b="0">
                <a:solidFill>
                  <a:srgbClr val="10213B"/>
                </a:solidFill>
              </a:rPr>
              <a:t>Login UI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F4A38CB-6B47-4F33-8E29-57311F324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3434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13B"/>
                </a:solidFill>
              </a:defRPr>
            </a:pPr>
            <a:r>
              <a:rPr sz="1125" b="0">
                <a:solidFill>
                  <a:srgbClr val="10213B"/>
                </a:solidFill>
              </a:rPr>
              <a:t>Low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132A3FA-20D8-46EB-8F19-8FFB25E6C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3434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A978"/>
                </a:solidFill>
              </a:defRPr>
            </a:pPr>
            <a:r>
              <a:rPr sz="1125" b="1">
                <a:solidFill>
                  <a:srgbClr val="00A978"/>
                </a:solidFill>
              </a:rPr>
              <a:t>PASS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1AD4AF2-EAAA-4556-8883-20C7D0BB2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57350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78"/>
          </a:solidFill>
          <a:ln xmlns:a="http://schemas.openxmlformats.org/drawingml/2006/main" w="0">
            <a:solidFill>
              <a:srgbClr val="00A97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BE6A48D-2D33-4B7D-8700-FE682CFD6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6383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57D"/>
                </a:solidFill>
              </a:defRPr>
            </a:pPr>
            <a:r>
              <a:rPr sz="1200" b="1">
                <a:solidFill>
                  <a:srgbClr val="52657D"/>
                </a:solidFill>
              </a:rPr>
              <a:t>DEFECT DETAIL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11E8878-6F34-4F7E-84E1-C302ADFAD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57400"/>
            <a:ext cx="5181600" cy="2876550"/>
          </a:xfrm>
          <a:prstGeom xmlns:a="http://schemas.openxmlformats.org/drawingml/2006/main" prst="roundRect">
            <a:avLst>
              <a:gd name="adj" fmla="val 39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7E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AA9771E-28A3-4703-B61E-A781CD572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66950"/>
            <a:ext cx="7429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63F51"/>
          </a:solidFill>
          <a:ln xmlns:a="http://schemas.openxmlformats.org/drawingml/2006/main" w="9525">
            <a:solidFill>
              <a:srgbClr val="D63F5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A545ED-5163-40E6-9051-F7E73F55C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6695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13B"/>
                </a:solidFill>
              </a:defRPr>
            </a:pPr>
            <a:r>
              <a:rPr sz="975" b="1">
                <a:solidFill>
                  <a:srgbClr val="10213B"/>
                </a:solidFill>
              </a:rPr>
              <a:t>HIGH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7C673AF-CD3F-471D-96A6-C6B165D23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669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13B"/>
                </a:solidFill>
              </a:defRPr>
            </a:pPr>
            <a:r>
              <a:rPr sz="1500" b="1">
                <a:solidFill>
                  <a:srgbClr val="10213B"/>
                </a:solidFill>
              </a:rPr>
              <a:t>DF_PAY_01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FFA0C1C-BD92-4B17-BB06-ED4E0667D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051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13B"/>
                </a:solidFill>
              </a:defRPr>
            </a:pPr>
            <a:r>
              <a:rPr sz="1575" b="1">
                <a:solidFill>
                  <a:srgbClr val="10213B"/>
                </a:solidFill>
              </a:rPr>
              <a:t>Timezone drift in refund calculation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3D0F4A8-43B5-4914-A6FB-CA0190383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194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57D"/>
                </a:solidFill>
              </a:defRPr>
            </a:pPr>
            <a:r>
              <a:rPr sz="975" b="1">
                <a:solidFill>
                  <a:srgbClr val="52657D"/>
                </a:solidFill>
              </a:rPr>
              <a:t>STEPS TO REPRODUCE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B144EB9-D161-45E7-B120-FD7B56C3B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86150"/>
            <a:ext cx="4476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13B"/>
                </a:solidFill>
              </a:defRPr>
            </a:pPr>
            <a:r>
              <a:rPr sz="1275" b="0">
                <a:solidFill>
                  <a:srgbClr val="10213B"/>
                </a:solidFill>
              </a:rPr>
              <a:t>1. Create booking near boundary</a:t>
            </a:r>
          </a:p>
          <a:p xmlns:a="http://schemas.openxmlformats.org/drawingml/2006/main">
            <a:pPr algn="l">
              <a:defRPr sz="1275" b="0">
                <a:solidFill>
                  <a:srgbClr val="10213B"/>
                </a:solidFill>
              </a:defRPr>
            </a:pPr>
            <a:r>
              <a:rPr sz="1275" b="0">
                <a:solidFill>
                  <a:srgbClr val="10213B"/>
                </a:solidFill>
              </a:rPr>
              <a:t>2. Cancel using local timezone</a:t>
            </a:r>
          </a:p>
          <a:p xmlns:a="http://schemas.openxmlformats.org/drawingml/2006/main">
            <a:pPr algn="l">
              <a:defRPr sz="1275" b="0">
                <a:solidFill>
                  <a:srgbClr val="10213B"/>
                </a:solidFill>
              </a:defRPr>
            </a:pPr>
            <a:r>
              <a:rPr sz="1275" b="0">
                <a:solidFill>
                  <a:srgbClr val="10213B"/>
                </a:solidFill>
              </a:rPr>
              <a:t>3. Compare expected refund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A63E46F-9C82-472B-9A89-4975A2691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438650"/>
            <a:ext cx="447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7E9"/>
          </a:solidFill>
          <a:ln xmlns:a="http://schemas.openxmlformats.org/drawingml/2006/main" w="0">
            <a:solidFill>
              <a:srgbClr val="C6D7E9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169DE3B-C80C-4F52-B3CF-60568CF83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5720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978"/>
                </a:solidFill>
              </a:defRPr>
            </a:pPr>
            <a:r>
              <a:rPr sz="975" b="1">
                <a:solidFill>
                  <a:srgbClr val="00A978"/>
                </a:solidFill>
              </a:rPr>
              <a:t>SUGGESTED FIX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EB80159-8E11-4FA1-87D4-E1F03C57F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5339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57D"/>
                </a:solidFill>
              </a:defRPr>
            </a:pPr>
            <a:r>
              <a:rPr sz="1200" b="0">
                <a:solidFill>
                  <a:srgbClr val="52657D"/>
                </a:solidFill>
              </a:rPr>
              <a:t>Normalize timezone or inject controlled clock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FCB05AB-D3AE-4E03-A9C6-B19C49E89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91150"/>
            <a:ext cx="111252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7FAF4"/>
          </a:solidFill>
          <a:ln xmlns:a="http://schemas.openxmlformats.org/drawingml/2006/main" w="9525">
            <a:solidFill>
              <a:srgbClr val="00A97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1F27596-B4FE-48AC-B477-EDDED08D1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054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A978"/>
                </a:solidFill>
              </a:defRPr>
            </a:pPr>
            <a:r>
              <a:rPr sz="1350" b="1">
                <a:solidFill>
                  <a:srgbClr val="00A978"/>
                </a:solidFill>
              </a:rPr>
              <a:t>Chi tiết đủ ngữ cảnh giúp Dev tái hiện và sửa lỗi ngay trong một vòng</a:t>
            </a:r>
          </a:p>
        </p:txBody>
      </p:sp>
    </p:spTree>
    <p:extLst>
      <p:ext uri="{BB962C8B-B14F-4D97-AF65-F5344CB8AC3E}">
        <p14:creationId xmlns:p14="http://schemas.microsoft.com/office/powerpoint/2010/main" val="114965977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1DD7B79-AEB8-466D-BF45-9387F18F3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57D"/>
                </a:solidFill>
              </a:defRPr>
            </a:pPr>
            <a:r>
              <a:rPr sz="975" b="1">
                <a:solidFill>
                  <a:srgbClr val="52657D"/>
                </a:solidFill>
              </a:rPr>
              <a:t>PCS • QUALITY ENGINEERING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B09090-57CD-4CF6-987B-B087C65C6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8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57D"/>
                </a:solidFill>
              </a:defRPr>
            </a:pPr>
            <a:r>
              <a:rPr sz="975" b="1">
                <a:solidFill>
                  <a:srgbClr val="52657D"/>
                </a:solidFill>
              </a:rPr>
              <a:t>TRUY VẾT &amp; XU HƯỚNG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180071-D071-48F0-B105-FA295C792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57D"/>
                </a:solidFill>
              </a:defRPr>
            </a:pPr>
            <a:r>
              <a:rPr sz="900" b="1">
                <a:solidFill>
                  <a:srgbClr val="52657D"/>
                </a:solidFill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762C49-3117-4AF9-A486-FE80D7E8E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13B"/>
                </a:solidFill>
              </a:defRPr>
            </a:pPr>
            <a:r>
              <a:rPr sz="2700" b="1">
                <a:solidFill>
                  <a:srgbClr val="10213B"/>
                </a:solidFill>
              </a:rPr>
              <a:t>Traceability nối yêu cầu với test — trend chứng minh chất lượng cải thiện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70A4A4-793B-4443-A643-83D972654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895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78"/>
          </a:solidFill>
          <a:ln xmlns:a="http://schemas.openxmlformats.org/drawingml/2006/main" w="0">
            <a:solidFill>
              <a:srgbClr val="00A97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BE1A4E-972E-4352-8803-4E96D7E81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104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57D"/>
                </a:solidFill>
              </a:defRPr>
            </a:pPr>
            <a:r>
              <a:rPr sz="1200" b="0">
                <a:solidFill>
                  <a:srgbClr val="52657D"/>
                </a:solidFill>
              </a:rPr>
              <a:t>Dashboard trả lời đồng thời: đã kiểm gì, ở đâu và thay đổi ra sao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B99C8D-8929-4240-9B0F-8629DBA9B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5257800" cy="325755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7E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C3B88F-C469-482B-A96D-3815B51DB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78"/>
          </a:solidFill>
          <a:ln xmlns:a="http://schemas.openxmlformats.org/drawingml/2006/main" w="0">
            <a:solidFill>
              <a:srgbClr val="00A97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8A9DF8-F76C-48E6-9877-67CCE035D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669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57D"/>
                </a:solidFill>
              </a:defRPr>
            </a:pPr>
            <a:r>
              <a:rPr sz="1200" b="1">
                <a:solidFill>
                  <a:srgbClr val="52657D"/>
                </a:solidFill>
              </a:rPr>
              <a:t>REQUIREMENT TRACEABILITY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0EB6C4-2229-45CD-8E76-408E6F472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57450"/>
            <a:ext cx="7429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9525">
            <a:solidFill>
              <a:srgbClr val="2F6F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ECB68F-1B36-4269-85B1-2468D5880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13B"/>
                </a:solidFill>
              </a:defRPr>
            </a:pPr>
            <a:r>
              <a:rPr sz="975" b="1">
                <a:solidFill>
                  <a:srgbClr val="10213B"/>
                </a:solidFill>
              </a:rPr>
              <a:t>UC-01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7687CE-249D-4957-AE42-4A28F2FCD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457450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13B"/>
                </a:solidFill>
              </a:defRPr>
            </a:pPr>
            <a:r>
              <a:rPr sz="1275" b="1">
                <a:solidFill>
                  <a:srgbClr val="10213B"/>
                </a:solidFill>
              </a:rPr>
              <a:t>TC_USR_01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394EED-C47B-49A2-ACB8-B2220594B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574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57D"/>
                </a:solidFill>
              </a:defRPr>
            </a:pPr>
            <a:r>
              <a:rPr sz="1125" b="0">
                <a:solidFill>
                  <a:srgbClr val="52657D"/>
                </a:solidFill>
              </a:rPr>
              <a:t>tests/unit/user.test.ts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F971BE-97DE-4067-B35E-1E81EA73C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7429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9525">
            <a:solidFill>
              <a:srgbClr val="2F6FE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BC92EC-3055-4CB3-BBE5-FD37AC4E7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2420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13B"/>
                </a:solidFill>
              </a:defRPr>
            </a:pPr>
            <a:r>
              <a:rPr sz="975" b="1">
                <a:solidFill>
                  <a:srgbClr val="10213B"/>
                </a:solidFill>
              </a:rPr>
              <a:t>UC-04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738C68-4C05-48F0-AD23-7A7A7B829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124200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13B"/>
                </a:solidFill>
              </a:defRPr>
            </a:pPr>
            <a:r>
              <a:rPr sz="1275" b="1">
                <a:solidFill>
                  <a:srgbClr val="10213B"/>
                </a:solidFill>
              </a:rPr>
              <a:t>TC_PAY_01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079424-893F-4E5C-9495-C31542B10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242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57D"/>
                </a:solidFill>
              </a:defRPr>
            </a:pPr>
            <a:r>
              <a:rPr sz="1125" b="0">
                <a:solidFill>
                  <a:srgbClr val="52657D"/>
                </a:solidFill>
              </a:rPr>
              <a:t>tests/api/payment.api.test.ts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B99E3D-333F-4851-BA26-8B032A94E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90950"/>
            <a:ext cx="7429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9525">
            <a:solidFill>
              <a:srgbClr val="2F6FE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699CD1-1E12-41FA-A811-34B60FD64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9095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13B"/>
                </a:solidFill>
              </a:defRPr>
            </a:pPr>
            <a:r>
              <a:rPr sz="975" b="1">
                <a:solidFill>
                  <a:srgbClr val="10213B"/>
                </a:solidFill>
              </a:rPr>
              <a:t>FR-12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BB2AA9-51D0-4E49-B8F5-E84BAB93F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790950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13B"/>
                </a:solidFill>
              </a:defRPr>
            </a:pPr>
            <a:r>
              <a:rPr sz="1275" b="1">
                <a:solidFill>
                  <a:srgbClr val="10213B"/>
                </a:solidFill>
              </a:rPr>
              <a:t>TC_BOOK_04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92E9E2-9666-43BA-A0D8-7EAE54C3D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7909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57D"/>
                </a:solidFill>
              </a:defRPr>
            </a:pPr>
            <a:r>
              <a:rPr sz="1125" b="0">
                <a:solidFill>
                  <a:srgbClr val="52657D"/>
                </a:solidFill>
              </a:rPr>
              <a:t>tests/unit/booking.test.ts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5A39F8-90FF-4595-9AA1-C4087C2AB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57350"/>
            <a:ext cx="5486400" cy="325755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C6D7E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1AB1D0-7823-4942-848C-9F5CD27BD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85950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78"/>
          </a:solidFill>
          <a:ln xmlns:a="http://schemas.openxmlformats.org/drawingml/2006/main" w="0">
            <a:solidFill>
              <a:srgbClr val="00A97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D0D843-3779-4172-A80D-996EC1BAC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669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57D"/>
                </a:solidFill>
              </a:defRPr>
            </a:pPr>
            <a:r>
              <a:rPr sz="1200" b="1">
                <a:solidFill>
                  <a:srgbClr val="52657D"/>
                </a:solidFill>
              </a:rPr>
              <a:t>TREND ANALYTICS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6CACFA-BB5E-498C-B0AB-8E77FBEBE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343400"/>
            <a:ext cx="447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7E9"/>
          </a:solidFill>
          <a:ln xmlns:a="http://schemas.openxmlformats.org/drawingml/2006/main" w="0">
            <a:solidFill>
              <a:srgbClr val="C6D7E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84E6EA-C5AE-4D75-A9FF-9F08B2657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647950"/>
            <a:ext cx="190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7E9"/>
          </a:solidFill>
          <a:ln xmlns:a="http://schemas.openxmlformats.org/drawingml/2006/main" w="0">
            <a:solidFill>
              <a:srgbClr val="C6D7E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FBA279-B19A-4070-9BBF-549B596B3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241727">
            <a:off x="6781800" y="4038600"/>
            <a:ext cx="916382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78"/>
          </a:solidFill>
          <a:ln xmlns:a="http://schemas.openxmlformats.org/drawingml/2006/main" w="0">
            <a:solidFill>
              <a:srgbClr val="00A97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A6D0B4-84BC-4C85-A894-E88DBFC7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106097">
            <a:off x="7639050" y="3714750"/>
            <a:ext cx="903621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78"/>
          </a:solidFill>
          <a:ln xmlns:a="http://schemas.openxmlformats.org/drawingml/2006/main" w="0">
            <a:solidFill>
              <a:srgbClr val="00A97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783EFF3-27A0-4BF2-818B-2598352DE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437749">
            <a:off x="8496300" y="3429000"/>
            <a:ext cx="93810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78"/>
          </a:solidFill>
          <a:ln xmlns:a="http://schemas.openxmlformats.org/drawingml/2006/main" w="0">
            <a:solidFill>
              <a:srgbClr val="00A97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DA3A571-9CBE-43C3-9A22-CA269C047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66805">
            <a:off x="9353550" y="3048000"/>
            <a:ext cx="89230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78"/>
          </a:solidFill>
          <a:ln xmlns:a="http://schemas.openxmlformats.org/drawingml/2006/main" w="0">
            <a:solidFill>
              <a:srgbClr val="00A97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BD5FC82-F7B5-476D-8A5D-F4430672F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78596">
            <a:off x="10210800" y="2800350"/>
            <a:ext cx="777091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78"/>
          </a:solidFill>
          <a:ln xmlns:a="http://schemas.openxmlformats.org/drawingml/2006/main" w="0">
            <a:solidFill>
              <a:srgbClr val="00A97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45827A-F8FD-4913-85AE-50D7AC832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981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978"/>
          </a:solidFill>
          <a:ln xmlns:a="http://schemas.openxmlformats.org/drawingml/2006/main" w="9525">
            <a:solidFill>
              <a:srgbClr val="00A97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FCFDAB9-B598-4E86-8E0E-46ABA71A3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4386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2657D"/>
                </a:solidFill>
              </a:defRPr>
            </a:pPr>
            <a:r>
              <a:rPr sz="900" b="1">
                <a:solidFill>
                  <a:srgbClr val="52657D"/>
                </a:solidFill>
              </a:rPr>
              <a:t>R1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EA237AE-62CB-4784-9A30-CB609BB81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6576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978"/>
          </a:solidFill>
          <a:ln xmlns:a="http://schemas.openxmlformats.org/drawingml/2006/main" w="9525">
            <a:solidFill>
              <a:srgbClr val="00A97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0C16AAB-17D6-49C3-9119-7BFCAACAE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44386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2657D"/>
                </a:solidFill>
              </a:defRPr>
            </a:pPr>
            <a:r>
              <a:rPr sz="900" b="1">
                <a:solidFill>
                  <a:srgbClr val="52657D"/>
                </a:solidFill>
              </a:rPr>
              <a:t>R2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9B840DC-B4ED-4A0A-8799-B9D804E7E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371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978"/>
          </a:solidFill>
          <a:ln xmlns:a="http://schemas.openxmlformats.org/drawingml/2006/main" w="9525">
            <a:solidFill>
              <a:srgbClr val="00A97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578DFBB-B82E-4B2A-944C-0B67ACD3E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4386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2657D"/>
                </a:solidFill>
              </a:defRPr>
            </a:pPr>
            <a:r>
              <a:rPr sz="900" b="1">
                <a:solidFill>
                  <a:srgbClr val="52657D"/>
                </a:solidFill>
              </a:rPr>
              <a:t>R3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B2D620A-0CA5-4A70-BB8D-6841CE3E2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990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978"/>
          </a:solidFill>
          <a:ln xmlns:a="http://schemas.openxmlformats.org/drawingml/2006/main" w="9525">
            <a:solidFill>
              <a:srgbClr val="00A97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96EE871-45B7-483B-B135-F55FD1606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44386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2657D"/>
                </a:solidFill>
              </a:defRPr>
            </a:pPr>
            <a:r>
              <a:rPr sz="900" b="1">
                <a:solidFill>
                  <a:srgbClr val="52657D"/>
                </a:solidFill>
              </a:rPr>
              <a:t>R4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CDD52C6-74A1-4293-96E1-090331451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743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978"/>
          </a:solidFill>
          <a:ln xmlns:a="http://schemas.openxmlformats.org/drawingml/2006/main" w="9525">
            <a:solidFill>
              <a:srgbClr val="00A97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B8645D5-C132-48C0-87EB-1FB3B7C37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44386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2657D"/>
                </a:solidFill>
              </a:defRPr>
            </a:pPr>
            <a:r>
              <a:rPr sz="900" b="1">
                <a:solidFill>
                  <a:srgbClr val="52657D"/>
                </a:solidFill>
              </a:rPr>
              <a:t>R5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E1DB98F-899D-4453-A4E9-44A0DD3A7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2590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978"/>
          </a:solidFill>
          <a:ln xmlns:a="http://schemas.openxmlformats.org/drawingml/2006/main" w="9525">
            <a:solidFill>
              <a:srgbClr val="00A97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61FE4D4-87E5-4ACB-B033-AD0177D34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44386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2657D"/>
                </a:solidFill>
              </a:defRPr>
            </a:pPr>
            <a:r>
              <a:rPr sz="900" b="1">
                <a:solidFill>
                  <a:srgbClr val="52657D"/>
                </a:solidFill>
              </a:rPr>
              <a:t>R6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01D137F-3519-44BB-835D-7A6E3EE0B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98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A978"/>
                </a:solidFill>
              </a:defRPr>
            </a:pPr>
            <a:r>
              <a:rPr sz="975" b="1">
                <a:solidFill>
                  <a:srgbClr val="00A978"/>
                </a:solidFill>
              </a:rPr>
              <a:t>PASS RATE / COVERAGE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5A1595D-EBA4-41BD-B436-2C507EBF7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0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78"/>
          </a:solidFill>
          <a:ln xmlns:a="http://schemas.openxmlformats.org/drawingml/2006/main" w="0">
            <a:solidFill>
              <a:srgbClr val="00A97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D9A4357-20B1-4934-A6DC-9BE26B688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578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13B"/>
                </a:solidFill>
              </a:defRPr>
            </a:pPr>
            <a:r>
              <a:rPr sz="1350" b="1">
                <a:solidFill>
                  <a:srgbClr val="10213B"/>
                </a:solidFill>
              </a:rPr>
              <a:t>History Log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D1268FE-5DB0-4149-AB6B-E6C3BE899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626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57D"/>
                </a:solidFill>
              </a:defRPr>
            </a:pPr>
            <a:r>
              <a:rPr sz="1200" b="0">
                <a:solidFill>
                  <a:srgbClr val="52657D"/>
                </a:solidFill>
              </a:rPr>
              <a:t>Đối soát Run A / B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24976ED-E0FC-4DAA-ABBD-D84BC60A2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334000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B8"/>
          </a:solidFill>
          <a:ln xmlns:a="http://schemas.openxmlformats.org/drawingml/2006/main" w="0">
            <a:solidFill>
              <a:srgbClr val="008CB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CE51B0C-D2C1-4604-903E-48BBC673B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2578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13B"/>
                </a:solidFill>
              </a:defRPr>
            </a:pPr>
            <a:r>
              <a:rPr sz="1350" b="1">
                <a:solidFill>
                  <a:srgbClr val="10213B"/>
                </a:solidFill>
              </a:rPr>
              <a:t>Report Center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5C20E8E-CB14-4139-ABB5-D83C51BAA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5626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57D"/>
                </a:solidFill>
              </a:defRPr>
            </a:pPr>
            <a:r>
              <a:rPr sz="1200" b="0">
                <a:solidFill>
                  <a:srgbClr val="52657D"/>
                </a:solidFill>
              </a:rPr>
              <a:t>Tải báo cáo Markdown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E13B531-CC2A-45C5-B5E4-246E23036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334000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2BC0"/>
          </a:solidFill>
          <a:ln xmlns:a="http://schemas.openxmlformats.org/drawingml/2006/main" w="0">
            <a:solidFill>
              <a:srgbClr val="A92BC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1788AB0-7556-4516-8E69-988B25334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2578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13B"/>
                </a:solidFill>
              </a:defRPr>
            </a:pPr>
            <a:r>
              <a:rPr sz="1350" b="1">
                <a:solidFill>
                  <a:srgbClr val="10213B"/>
                </a:solidFill>
              </a:rPr>
              <a:t>Settings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1189B1E-96D8-48A5-A9CF-623D00A24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5626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57D"/>
                </a:solidFill>
              </a:defRPr>
            </a:pPr>
            <a:r>
              <a:rPr sz="1200" b="0">
                <a:solidFill>
                  <a:srgbClr val="52657D"/>
                </a:solidFill>
              </a:rPr>
              <a:t>Vitest • Timezone • Mock DB</a:t>
            </a:r>
          </a:p>
        </p:txBody>
      </p:sp>
    </p:spTree>
    <p:extLst>
      <p:ext uri="{BB962C8B-B14F-4D97-AF65-F5344CB8AC3E}">
        <p14:creationId xmlns:p14="http://schemas.microsoft.com/office/powerpoint/2010/main" val="46298270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1DACEFB-F502-466C-A97F-017FDE76E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57D"/>
                </a:solidFill>
              </a:defRPr>
            </a:pPr>
            <a:r>
              <a:rPr sz="975" b="1">
                <a:solidFill>
                  <a:srgbClr val="52657D"/>
                </a:solidFill>
              </a:rPr>
              <a:t>PCS • QUALITY ENGINEERING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FDA5E8-538C-4FD6-A571-0C920F19B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8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57D"/>
                </a:solidFill>
              </a:defRPr>
            </a:pPr>
            <a:r>
              <a:rPr sz="975" b="1">
                <a:solidFill>
                  <a:srgbClr val="52657D"/>
                </a:solidFill>
              </a:rPr>
              <a:t>DEFECT MANAGEMENT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D75315-2751-439A-A756-5BBB5AC6A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57D"/>
                </a:solidFill>
              </a:defRPr>
            </a:pPr>
            <a:r>
              <a:rPr sz="900" b="1">
                <a:solidFill>
                  <a:srgbClr val="52657D"/>
                </a:solidFill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649FAB-34D6-4ACE-9873-F3747DDB4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13B"/>
                </a:solidFill>
              </a:defRPr>
            </a:pPr>
            <a:r>
              <a:rPr sz="2700" b="1">
                <a:solidFill>
                  <a:srgbClr val="10213B"/>
                </a:solidFill>
              </a:rPr>
              <a:t>Ba lỗi được đóng bằng một quy trình retest có kiểm soát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CB60BF-5271-4106-8BDB-31FDAE12F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895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78"/>
          </a:solidFill>
          <a:ln xmlns:a="http://schemas.openxmlformats.org/drawingml/2006/main" w="0">
            <a:solidFill>
              <a:srgbClr val="00A97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E7BAFC-D406-4DA4-A851-D9032AC7A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104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57D"/>
                </a:solidFill>
              </a:defRPr>
            </a:pPr>
            <a:r>
              <a:rPr sz="1200" b="0">
                <a:solidFill>
                  <a:srgbClr val="52657D"/>
                </a:solidFill>
              </a:rPr>
              <a:t>Mỗi defect đi qua cùng một lifecycle và giữ bằng chứng sửa lỗi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F0B555-31C6-4B8E-AF6C-1ECE4CFB5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4725" y="2009775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7E9"/>
          </a:solidFill>
          <a:ln xmlns:a="http://schemas.openxmlformats.org/drawingml/2006/main" w="0">
            <a:solidFill>
              <a:srgbClr val="C6D7E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D20799-9492-4DE0-990F-4B941EB2A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1711325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C6D7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98E5C0-257A-4620-B17B-4EA0A4263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430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978"/>
                </a:solidFill>
              </a:defRPr>
            </a:pPr>
            <a:r>
              <a:rPr sz="900" b="1">
                <a:solidFill>
                  <a:srgbClr val="00A978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67FDCD-038C-4407-B473-8ADA3C612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24050"/>
            <a:ext cx="1482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13B"/>
                </a:solidFill>
              </a:defRPr>
            </a:pPr>
            <a:r>
              <a:rPr sz="1125" b="1">
                <a:solidFill>
                  <a:srgbClr val="10213B"/>
                </a:solidFill>
              </a:rPr>
              <a:t>New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690118-DDAE-4604-B957-7F7F8F9DC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7500" y="2009775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7E9"/>
          </a:solidFill>
          <a:ln xmlns:a="http://schemas.openxmlformats.org/drawingml/2006/main" w="0">
            <a:solidFill>
              <a:srgbClr val="C6D7E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A1B2FA-F084-4C37-A585-A5981BC5B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6175" y="1657350"/>
            <a:ext cx="1711325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C6D7E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494D99-4523-4AE7-975F-B8D1B8E41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0475" y="17430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978"/>
                </a:solidFill>
              </a:defRPr>
            </a:pPr>
            <a:r>
              <a:rPr sz="900" b="1">
                <a:solidFill>
                  <a:srgbClr val="00A978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E4AA23-4FFE-4898-AA38-1338FEB56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0475" y="1924050"/>
            <a:ext cx="1482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13B"/>
                </a:solidFill>
              </a:defRPr>
            </a:pPr>
            <a:r>
              <a:rPr sz="1125" b="1">
                <a:solidFill>
                  <a:srgbClr val="10213B"/>
                </a:solidFill>
              </a:rPr>
              <a:t>Assigned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57D833-1DFE-4ECD-ABBC-C8B11DA66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009775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7E9"/>
          </a:solidFill>
          <a:ln xmlns:a="http://schemas.openxmlformats.org/drawingml/2006/main" w="0">
            <a:solidFill>
              <a:srgbClr val="C6D7E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FC58E6-4C1E-4245-B2C7-E768D1AA8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8950" y="1657350"/>
            <a:ext cx="1711325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C6D7E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FAC5C2-C4A1-47ED-928B-2E59E6066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17430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978"/>
                </a:solidFill>
              </a:defRPr>
            </a:pPr>
            <a:r>
              <a:rPr sz="900" b="1">
                <a:solidFill>
                  <a:srgbClr val="00A978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12C747-802F-4D95-87D5-FCFCC39DC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1924050"/>
            <a:ext cx="1482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13B"/>
                </a:solidFill>
              </a:defRPr>
            </a:pPr>
            <a:r>
              <a:rPr sz="1125" b="1">
                <a:solidFill>
                  <a:srgbClr val="10213B"/>
                </a:solidFill>
              </a:rPr>
              <a:t>In Progress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EABA4B-3F92-4AE4-92CA-A8BC6957B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3050" y="2009775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7E9"/>
          </a:solidFill>
          <a:ln xmlns:a="http://schemas.openxmlformats.org/drawingml/2006/main" w="0">
            <a:solidFill>
              <a:srgbClr val="C6D7E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2740D9-B128-4820-8372-757507FF1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657350"/>
            <a:ext cx="1711325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C6D7E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8B7964-B4D1-4B97-A548-8CC0D07B0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7430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978"/>
                </a:solidFill>
              </a:defRPr>
            </a:pPr>
            <a:r>
              <a:rPr sz="900" b="1">
                <a:solidFill>
                  <a:srgbClr val="00A978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0CCE04-B88F-4EAA-B0D2-7CF9ECE3B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924050"/>
            <a:ext cx="1482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13B"/>
                </a:solidFill>
              </a:defRPr>
            </a:pPr>
            <a:r>
              <a:rPr sz="1125" b="1">
                <a:solidFill>
                  <a:srgbClr val="10213B"/>
                </a:solidFill>
              </a:rPr>
              <a:t>Fixed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7C5860-DD4A-419D-B169-7C6D131C9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5825" y="2009775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7E9"/>
          </a:solidFill>
          <a:ln xmlns:a="http://schemas.openxmlformats.org/drawingml/2006/main" w="0">
            <a:solidFill>
              <a:srgbClr val="C6D7E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F858E0-EB63-4ACD-A18D-197AC8F60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1657350"/>
            <a:ext cx="1711325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C6D7E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4F0ADA-9E44-4CEC-AECC-4D0078008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8800" y="17430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978"/>
                </a:solidFill>
              </a:defRPr>
            </a:pPr>
            <a:r>
              <a:rPr sz="900" b="1">
                <a:solidFill>
                  <a:srgbClr val="00A978"/>
                </a:solidFill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E8B306-606C-4141-AC84-1011CDD8D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8800" y="1924050"/>
            <a:ext cx="1482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13B"/>
                </a:solidFill>
              </a:defRPr>
            </a:pPr>
            <a:r>
              <a:rPr sz="1125" b="1">
                <a:solidFill>
                  <a:srgbClr val="10213B"/>
                </a:solidFill>
              </a:rPr>
              <a:t>Retest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B09BB2-0E27-4ED6-8BF4-ECD5FB401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7275" y="1657350"/>
            <a:ext cx="1711325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C6D7E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86933D-70C4-4746-9993-1FBA9EDE5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1575" y="17430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978"/>
                </a:solidFill>
              </a:defRPr>
            </a:pPr>
            <a:r>
              <a:rPr sz="900" b="1">
                <a:solidFill>
                  <a:srgbClr val="00A978"/>
                </a:solidFill>
              </a:rPr>
              <a:t>06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BE339C-D978-4483-BBCE-1E87B248C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1575" y="1924050"/>
            <a:ext cx="1482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13B"/>
                </a:solidFill>
              </a:defRPr>
            </a:pPr>
            <a:r>
              <a:rPr sz="1125" b="1">
                <a:solidFill>
                  <a:srgbClr val="10213B"/>
                </a:solidFill>
              </a:rPr>
              <a:t>Closed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2EDC2D-6F74-40BA-9FBD-52A2C20AE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71800"/>
            <a:ext cx="3429000" cy="20574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7E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E1D180-0F06-43F3-A21C-F724D6954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9144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63F51"/>
          </a:solidFill>
          <a:ln xmlns:a="http://schemas.openxmlformats.org/drawingml/2006/main" w="9525">
            <a:solidFill>
              <a:srgbClr val="D63F5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C06CC93-E5D0-4E22-8945-02AF1CD96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004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13B"/>
                </a:solidFill>
              </a:defRPr>
            </a:pPr>
            <a:r>
              <a:rPr sz="975" b="1">
                <a:solidFill>
                  <a:srgbClr val="10213B"/>
                </a:solidFill>
              </a:rPr>
              <a:t>HIGH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F95E90D-0DDB-4AA9-A69C-31A52AD73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2004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13B"/>
                </a:solidFill>
              </a:defRPr>
            </a:pPr>
            <a:r>
              <a:rPr sz="1425" b="1">
                <a:solidFill>
                  <a:srgbClr val="10213B"/>
                </a:solidFill>
              </a:rPr>
              <a:t>DF_PAY_01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83B53EA-D0DD-42D1-A9FB-CDA05A23D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33800"/>
            <a:ext cx="2971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13B"/>
                </a:solidFill>
              </a:defRPr>
            </a:pPr>
            <a:r>
              <a:rPr sz="1500" b="1">
                <a:solidFill>
                  <a:srgbClr val="10213B"/>
                </a:solidFill>
              </a:rPr>
              <a:t>Lệch múi giờ hoàn tiền</a:t>
            </a:r>
          </a:p>
          <a:p xmlns:a="http://schemas.openxmlformats.org/drawingml/2006/main">
            <a:pPr algn="l">
              <a:defRPr sz="1500" b="1">
                <a:solidFill>
                  <a:srgbClr val="10213B"/>
                </a:solidFill>
              </a:defRPr>
            </a:pPr>
            <a:r>
              <a:rPr sz="1500" b="1">
                <a:solidFill>
                  <a:srgbClr val="10213B"/>
                </a:solidFill>
              </a:rPr>
              <a:t>UTC vs UTC+7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3E408A2-7E37-4D05-AE3F-54D2B7205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48200"/>
            <a:ext cx="297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A978"/>
                </a:solidFill>
              </a:defRPr>
            </a:pPr>
            <a:r>
              <a:rPr sz="1050" b="1">
                <a:solidFill>
                  <a:srgbClr val="00A978"/>
                </a:solidFill>
              </a:rPr>
              <a:t>FIXED • RETESTED • CLOSED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F22E5B-1370-4D2B-88D9-AE5A893C0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971800"/>
            <a:ext cx="3429000" cy="20574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7E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B44E83D-BD98-44C7-9EF5-B891A1A15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00400"/>
            <a:ext cx="9144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39400"/>
          </a:solidFill>
          <a:ln xmlns:a="http://schemas.openxmlformats.org/drawingml/2006/main" w="9525">
            <a:solidFill>
              <a:srgbClr val="D3940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C3CDE3A-FAA1-4A6B-8666-F35EC588D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2004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4F8FC"/>
                </a:solidFill>
              </a:defRPr>
            </a:pPr>
            <a:r>
              <a:rPr sz="975" b="1">
                <a:solidFill>
                  <a:srgbClr val="F4F8FC"/>
                </a:solidFill>
              </a:rPr>
              <a:t>MEDIUM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3673F9C-4C4C-4D36-9C68-CFF7D5085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2004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13B"/>
                </a:solidFill>
              </a:defRPr>
            </a:pPr>
            <a:r>
              <a:rPr sz="1425" b="1">
                <a:solidFill>
                  <a:srgbClr val="10213B"/>
                </a:solidFill>
              </a:rPr>
              <a:t>DF_REG_01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77B0935-E3E3-476F-8C1B-6267A24BB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33800"/>
            <a:ext cx="2971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13B"/>
                </a:solidFill>
              </a:defRPr>
            </a:pPr>
            <a:r>
              <a:rPr sz="1500" b="1">
                <a:solidFill>
                  <a:srgbClr val="10213B"/>
                </a:solidFill>
              </a:rPr>
              <a:t>Email hai dấu chấm</a:t>
            </a:r>
          </a:p>
          <a:p xmlns:a="http://schemas.openxmlformats.org/drawingml/2006/main">
            <a:pPr algn="l">
              <a:defRPr sz="1500" b="1">
                <a:solidFill>
                  <a:srgbClr val="10213B"/>
                </a:solidFill>
              </a:defRPr>
            </a:pPr>
            <a:r>
              <a:rPr sz="1500" b="1">
                <a:solidFill>
                  <a:srgbClr val="10213B"/>
                </a:solidFill>
              </a:rPr>
              <a:t>được Zod chấp nhận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7C552D9-2C42-4150-B659-4A8A6453F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648200"/>
            <a:ext cx="297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A978"/>
                </a:solidFill>
              </a:defRPr>
            </a:pPr>
            <a:r>
              <a:rPr sz="1050" b="1">
                <a:solidFill>
                  <a:srgbClr val="00A978"/>
                </a:solidFill>
              </a:rPr>
              <a:t>FIXED • RETESTED • CLOSED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0DE452B-F7E7-4EE4-9A04-E211BF185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971800"/>
            <a:ext cx="3429000" cy="20574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7E9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3F70811-AA4C-48F0-9B8A-C00F923BF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00400"/>
            <a:ext cx="9144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08CB8"/>
          </a:solidFill>
          <a:ln xmlns:a="http://schemas.openxmlformats.org/drawingml/2006/main" w="9525">
            <a:solidFill>
              <a:srgbClr val="008CB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7BB3010-557B-4B41-80D0-D0008F845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004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4F8FC"/>
                </a:solidFill>
              </a:defRPr>
            </a:pPr>
            <a:r>
              <a:rPr sz="975" b="1">
                <a:solidFill>
                  <a:srgbClr val="F4F8FC"/>
                </a:solidFill>
              </a:rPr>
              <a:t>MEDIUM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A06B8F2-6168-49A5-B6D6-0A31E3E1D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2004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13B"/>
                </a:solidFill>
              </a:defRPr>
            </a:pPr>
            <a:r>
              <a:rPr sz="1425" b="1">
                <a:solidFill>
                  <a:srgbClr val="10213B"/>
                </a:solidFill>
              </a:rPr>
              <a:t>DF_PAY_02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9B7E8C3-599A-403F-93AD-87079A736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33800"/>
            <a:ext cx="2971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13B"/>
                </a:solidFill>
              </a:defRPr>
            </a:pPr>
            <a:r>
              <a:rPr sz="1500" b="1">
                <a:solidFill>
                  <a:srgbClr val="10213B"/>
                </a:solidFill>
              </a:rPr>
              <a:t>Webhook thiếu</a:t>
            </a:r>
          </a:p>
          <a:p xmlns:a="http://schemas.openxmlformats.org/drawingml/2006/main">
            <a:pPr algn="l">
              <a:defRPr sz="1500" b="1">
                <a:solidFill>
                  <a:srgbClr val="10213B"/>
                </a:solidFill>
              </a:defRPr>
            </a:pPr>
            <a:r>
              <a:rPr sz="1500" b="1">
                <a:solidFill>
                  <a:srgbClr val="10213B"/>
                </a:solidFill>
              </a:rPr>
              <a:t>success indicator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2304D50-4E27-4F32-B49F-CD7D5FD71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48200"/>
            <a:ext cx="297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A978"/>
                </a:solidFill>
              </a:defRPr>
            </a:pPr>
            <a:r>
              <a:rPr sz="1050" b="1">
                <a:solidFill>
                  <a:srgbClr val="00A978"/>
                </a:solidFill>
              </a:rPr>
              <a:t>FIXED • RETESTED • CLOSED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DBA7027-3572-4CD0-A0B3-336898483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48300"/>
            <a:ext cx="111252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7FAF4"/>
          </a:solidFill>
          <a:ln xmlns:a="http://schemas.openxmlformats.org/drawingml/2006/main" w="9525">
            <a:solidFill>
              <a:srgbClr val="00A97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F19C6B9-42C1-4A7E-8B73-6E2F69E18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1020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00A978"/>
                </a:solidFill>
              </a:defRPr>
            </a:pPr>
            <a:r>
              <a:rPr sz="2850" b="1">
                <a:solidFill>
                  <a:srgbClr val="00A978"/>
                </a:solidFill>
              </a:rPr>
              <a:t>100%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AD3846E-28C3-4EDC-B3CA-D2E4A37EF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436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57D"/>
                </a:solidFill>
              </a:defRPr>
            </a:pPr>
            <a:r>
              <a:rPr sz="1050" b="1">
                <a:solidFill>
                  <a:srgbClr val="52657D"/>
                </a:solidFill>
              </a:rPr>
              <a:t>DEFECTS CLOSED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655D59E-42AB-43BF-93FB-8AB99159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543550"/>
            <a:ext cx="790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13B"/>
                </a:solidFill>
              </a:defRPr>
            </a:pPr>
            <a:r>
              <a:rPr sz="1425" b="1">
                <a:solidFill>
                  <a:srgbClr val="10213B"/>
                </a:solidFill>
              </a:rPr>
              <a:t>Không còn defect Critical/High mở trước khi bàn giao</a:t>
            </a:r>
          </a:p>
        </p:txBody>
      </p:sp>
    </p:spTree>
    <p:extLst>
      <p:ext uri="{BB962C8B-B14F-4D97-AF65-F5344CB8AC3E}">
        <p14:creationId xmlns:p14="http://schemas.microsoft.com/office/powerpoint/2010/main" val="188672674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11B0E13-E4AE-419D-8168-4CFC902B4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57D"/>
                </a:solidFill>
              </a:defRPr>
            </a:pPr>
            <a:r>
              <a:rPr sz="975" b="1">
                <a:solidFill>
                  <a:srgbClr val="52657D"/>
                </a:solidFill>
              </a:rPr>
              <a:t>PCS • QUALITY ENGINEERING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A177BD-8386-4529-9AAD-ED9814D86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8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57D"/>
                </a:solidFill>
              </a:defRPr>
            </a:pPr>
            <a:r>
              <a:rPr sz="975" b="1">
                <a:solidFill>
                  <a:srgbClr val="52657D"/>
                </a:solidFill>
              </a:rPr>
              <a:t>AI AUDIT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1069F1-0342-48ED-B830-4C8FCE4D5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57D"/>
                </a:solidFill>
              </a:defRPr>
            </a:pPr>
            <a:r>
              <a:rPr sz="900" b="1">
                <a:solidFill>
                  <a:srgbClr val="52657D"/>
                </a:solidFill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F8BD43-6F69-4574-8925-A9CC8D514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13B"/>
                </a:solidFill>
              </a:defRPr>
            </a:pPr>
            <a:r>
              <a:rPr sz="2700" b="1">
                <a:solidFill>
                  <a:srgbClr val="10213B"/>
                </a:solidFill>
              </a:rPr>
              <a:t>AI tăng tốc khởi tạo — nhóm vẫn chịu trách nhiệm kiểm chứng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53DAB9-F9F8-4690-954F-EF8DBC7DA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895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78"/>
          </a:solidFill>
          <a:ln xmlns:a="http://schemas.openxmlformats.org/drawingml/2006/main" w="0">
            <a:solidFill>
              <a:srgbClr val="00A97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D5AD44-7013-41B3-A2F8-6D2C4DF97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104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57D"/>
                </a:solidFill>
              </a:defRPr>
            </a:pPr>
            <a:r>
              <a:rPr sz="1200" b="0">
                <a:solidFill>
                  <a:srgbClr val="52657D"/>
                </a:solidFill>
              </a:rPr>
              <a:t>Prompt engineering hiệu quả khi mọi gợi ý đều được review bằng tài liệu và test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1620AA-F862-4BE6-AF61-0D7710676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3429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7E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4823CF-7C00-433D-B0C3-234184A06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300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A978"/>
                </a:solidFill>
              </a:defRPr>
            </a:pPr>
            <a:r>
              <a:rPr sz="1650" b="1">
                <a:solidFill>
                  <a:srgbClr val="00A978"/>
                </a:solidFill>
              </a:rPr>
              <a:t>ChatGPT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D0CDA7-71CB-4E5F-82AA-532D042F2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09800"/>
            <a:ext cx="3009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57D"/>
                </a:solidFill>
              </a:defRPr>
            </a:pPr>
            <a:r>
              <a:rPr sz="1200" b="0">
                <a:solidFill>
                  <a:srgbClr val="52657D"/>
                </a:solidFill>
              </a:rPr>
              <a:t>Boilerplate test &amp; NextRequest mocks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C88123-27EF-497C-ACF8-D385D864C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95450"/>
            <a:ext cx="3429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7E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15658E-378D-49BE-BF20-589F75EE2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847850"/>
            <a:ext cx="300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8CB8"/>
                </a:solidFill>
              </a:defRPr>
            </a:pPr>
            <a:r>
              <a:rPr sz="1650" b="1">
                <a:solidFill>
                  <a:srgbClr val="008CB8"/>
                </a:solidFill>
              </a:rPr>
              <a:t>Claude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A92A40-8308-42B8-A528-E1208540F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209800"/>
            <a:ext cx="3009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57D"/>
                </a:solidFill>
              </a:defRPr>
            </a:pPr>
            <a:r>
              <a:rPr sz="1200" b="0">
                <a:solidFill>
                  <a:srgbClr val="52657D"/>
                </a:solidFill>
              </a:rPr>
              <a:t>Use Case branches &amp; workspace config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F0FD8C-83A6-4510-B4CD-E24D10813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95450"/>
            <a:ext cx="3429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7E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EA630A-64ED-4D20-BD97-DE53E0D4A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47850"/>
            <a:ext cx="300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92BC0"/>
                </a:solidFill>
              </a:defRPr>
            </a:pPr>
            <a:r>
              <a:rPr sz="1650" b="1">
                <a:solidFill>
                  <a:srgbClr val="A92BC0"/>
                </a:solidFill>
              </a:rPr>
              <a:t>GitHub Copilot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FD2650-EC48-4092-A95E-CD6987965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09800"/>
            <a:ext cx="3009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57D"/>
                </a:solidFill>
              </a:defRPr>
            </a:pPr>
            <a:r>
              <a:rPr sz="1200" b="0">
                <a:solidFill>
                  <a:srgbClr val="52657D"/>
                </a:solidFill>
              </a:rPr>
              <a:t>Gợi ý mã trong IDE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C6FAE1-4D59-4692-A01E-6F02187BB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51816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C6D7E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81A400-FE92-4CB6-BA7F-D2F3414E1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71850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78"/>
          </a:solidFill>
          <a:ln xmlns:a="http://schemas.openxmlformats.org/drawingml/2006/main" w="0">
            <a:solidFill>
              <a:srgbClr val="00A97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DCEB88-4209-47A4-9228-C838CB24B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528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57D"/>
                </a:solidFill>
              </a:defRPr>
            </a:pPr>
            <a:r>
              <a:rPr sz="1200" b="1">
                <a:solidFill>
                  <a:srgbClr val="52657D"/>
                </a:solidFill>
              </a:rPr>
              <a:t>GIÁ TRỊ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0E6EF8-BDBD-4C72-B7FC-9A10DA0FC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671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00A978"/>
                </a:solidFill>
              </a:defRPr>
            </a:pPr>
            <a:r>
              <a:rPr sz="2850" b="1">
                <a:solidFill>
                  <a:srgbClr val="00A978"/>
                </a:solidFill>
              </a:rPr>
              <a:t>~50%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3BBAB7-5E44-45A1-A5D7-E7121547D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005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57D"/>
                </a:solidFill>
              </a:defRPr>
            </a:pPr>
            <a:r>
              <a:rPr sz="1050" b="1">
                <a:solidFill>
                  <a:srgbClr val="52657D"/>
                </a:solidFill>
              </a:rPr>
              <a:t>BOILERPLATE ĐƯỢC HỖ TRỢ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3EA68E-A00B-4B4E-A0FD-F4F5EC8A6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38700"/>
            <a:ext cx="449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2657D"/>
                </a:solidFill>
              </a:defRPr>
            </a:pPr>
            <a:r>
              <a:rPr sz="1275" b="0">
                <a:solidFill>
                  <a:srgbClr val="52657D"/>
                </a:solidFill>
              </a:rPr>
              <a:t>Tiết kiệm thời gian khởi tạo để tập trung vào logic nghiệp vụ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67A2B7-1EA0-4683-977E-E8465ADCC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43250"/>
            <a:ext cx="55626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3F5"/>
          </a:solidFill>
          <a:ln xmlns:a="http://schemas.openxmlformats.org/drawingml/2006/main" w="9525">
            <a:solidFill>
              <a:srgbClr val="C6D7E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E966DE-EE75-449A-AA9F-E15C729CD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71850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78"/>
          </a:solidFill>
          <a:ln xmlns:a="http://schemas.openxmlformats.org/drawingml/2006/main" w="0">
            <a:solidFill>
              <a:srgbClr val="00A97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C804EF-F15C-4F40-B4D2-5028CB01E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528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57D"/>
                </a:solidFill>
              </a:defRPr>
            </a:pPr>
            <a:r>
              <a:rPr sz="1200" b="1">
                <a:solidFill>
                  <a:srgbClr val="52657D"/>
                </a:solidFill>
              </a:rPr>
              <a:t>AI MISTAKES → HUMAN FIX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391A9D-03BE-4A32-9E24-B0D34A864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978"/>
          </a:solidFill>
          <a:ln xmlns:a="http://schemas.openxmlformats.org/drawingml/2006/main" w="9525">
            <a:solidFill>
              <a:srgbClr val="00A97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1E9A36-E372-479A-A92B-1DF02757B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867150"/>
            <a:ext cx="4610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13B"/>
                </a:solidFill>
              </a:defRPr>
            </a:pPr>
            <a:r>
              <a:rPr sz="1350" b="0">
                <a:solidFill>
                  <a:srgbClr val="10213B"/>
                </a:solidFill>
              </a:rPr>
              <a:t>UTC cứng làm refund test fail ngẫu nhiên → dùng ngày động / clock kiểm soát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9EEE11-C629-4CAA-AD06-01F4DA1C5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667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978"/>
          </a:solidFill>
          <a:ln xmlns:a="http://schemas.openxmlformats.org/drawingml/2006/main" w="9525">
            <a:solidFill>
              <a:srgbClr val="00A97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B11350-458E-41B3-B072-F5F6A377E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591050"/>
            <a:ext cx="4610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13B"/>
                </a:solidFill>
              </a:defRPr>
            </a:pPr>
            <a:r>
              <a:rPr sz="1350" b="0">
                <a:solidFill>
                  <a:srgbClr val="10213B"/>
                </a:solidFill>
              </a:rPr>
              <a:t>Cú pháp RTL cũ → đối chiếu tài liệu v16 và cập nhật test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BEF38C-5328-4007-B966-AE850C856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48350"/>
            <a:ext cx="1112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13B"/>
                </a:solidFill>
              </a:defRPr>
            </a:pPr>
            <a:r>
              <a:rPr sz="1425" b="1">
                <a:solidFill>
                  <a:srgbClr val="10213B"/>
                </a:solidFill>
              </a:rPr>
              <a:t>Nguyên tắc: AI đề xuất • Con người xác minh • Test quyết định</a:t>
            </a:r>
          </a:p>
        </p:txBody>
      </p:sp>
    </p:spTree>
    <p:extLst>
      <p:ext uri="{BB962C8B-B14F-4D97-AF65-F5344CB8AC3E}">
        <p14:creationId xmlns:p14="http://schemas.microsoft.com/office/powerpoint/2010/main" val="52095536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8D89860-29A4-49AF-B271-B619665E7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57D"/>
                </a:solidFill>
              </a:defRPr>
            </a:pPr>
            <a:r>
              <a:rPr sz="975" b="1">
                <a:solidFill>
                  <a:srgbClr val="52657D"/>
                </a:solidFill>
              </a:rPr>
              <a:t>PCS • QUALITY ENGINEERING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013CBB-8B03-4742-BECF-C981755B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8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57D"/>
                </a:solidFill>
              </a:defRPr>
            </a:pPr>
            <a:r>
              <a:rPr sz="975" b="1">
                <a:solidFill>
                  <a:srgbClr val="52657D"/>
                </a:solidFill>
              </a:rPr>
              <a:t>ĐÓNG GÓP THÀNH VIÊN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09D67E-C116-4CE2-9C86-49DC26773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57D"/>
                </a:solidFill>
              </a:defRPr>
            </a:pPr>
            <a:r>
              <a:rPr sz="900" b="1">
                <a:solidFill>
                  <a:srgbClr val="52657D"/>
                </a:solidFill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82E8D2-7EC5-4571-9201-1D8564919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13B"/>
                </a:solidFill>
              </a:defRPr>
            </a:pPr>
            <a:r>
              <a:rPr sz="2700" b="1">
                <a:solidFill>
                  <a:srgbClr val="10213B"/>
                </a:solidFill>
              </a:rPr>
              <a:t>Phân công rõ vai trò, nhưng chất lượng là trách nhiệm chung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43D00F-8087-4E53-B154-0B0FDD4F0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895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78"/>
          </a:solidFill>
          <a:ln xmlns:a="http://schemas.openxmlformats.org/drawingml/2006/main" w="0">
            <a:solidFill>
              <a:srgbClr val="00A97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9EB18D-5642-4D63-BA8F-7D464BA21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104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57D"/>
                </a:solidFill>
              </a:defRPr>
            </a:pPr>
            <a:r>
              <a:rPr sz="1200" b="0">
                <a:solidFill>
                  <a:srgbClr val="52657D"/>
                </a:solidFill>
              </a:rPr>
              <a:t>Mỗi đóng góp gắn với deliverable và pull request có thể truy vết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9F7519-872F-4894-AEFC-76CE8BEE0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9DA578-F028-4A74-AD59-E9030C6B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13B"/>
                </a:solidFill>
              </a:defRPr>
            </a:pPr>
            <a:r>
              <a:rPr sz="1575" b="1">
                <a:solidFill>
                  <a:srgbClr val="10213B"/>
                </a:solidFill>
              </a:rPr>
              <a:t>Trần Quốc Sang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985248-FB91-4596-BECC-DD4C6F20A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6FED"/>
                </a:solidFill>
              </a:defRPr>
            </a:pPr>
            <a:r>
              <a:rPr sz="1125" b="1">
                <a:solidFill>
                  <a:srgbClr val="2F6FED"/>
                </a:solidFill>
              </a:rPr>
              <a:t>PM / Tester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B7EB5B-0FD2-48EC-8247-2D9E13E8F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638300"/>
            <a:ext cx="542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57D"/>
                </a:solidFill>
              </a:defRPr>
            </a:pPr>
            <a:r>
              <a:rPr sz="1350" b="0">
                <a:solidFill>
                  <a:srgbClr val="52657D"/>
                </a:solidFill>
              </a:rPr>
              <a:t>Kế hoạch • Decision Table • Use Case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B3553B-47B4-45E6-B328-154623662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752600"/>
            <a:ext cx="16383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9525">
            <a:solidFill>
              <a:srgbClr val="2F6F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268AB7-A228-428E-9036-41D1F6381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75260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13B"/>
                </a:solidFill>
              </a:defRPr>
            </a:pPr>
            <a:r>
              <a:rPr sz="975" b="1">
                <a:solidFill>
                  <a:srgbClr val="10213B"/>
                </a:solidFill>
              </a:rPr>
              <a:t>PR #1 • #3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F80D01-C51E-4E22-BABA-36C44840C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78"/>
          </a:solidFill>
          <a:ln xmlns:a="http://schemas.openxmlformats.org/drawingml/2006/main" w="0">
            <a:solidFill>
              <a:srgbClr val="00A97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5B91A7-B3A0-40A0-BA55-8619A90C9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13B"/>
                </a:solidFill>
              </a:defRPr>
            </a:pPr>
            <a:r>
              <a:rPr sz="1575" b="1">
                <a:solidFill>
                  <a:srgbClr val="10213B"/>
                </a:solidFill>
              </a:rPr>
              <a:t>Lê Thị Văn Anh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6CBEC4-4039-417F-9A34-DA3015038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03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A978"/>
                </a:solidFill>
              </a:defRPr>
            </a:pPr>
            <a:r>
              <a:rPr sz="1125" b="1">
                <a:solidFill>
                  <a:srgbClr val="00A978"/>
                </a:solidFill>
              </a:rPr>
              <a:t>QA Leader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F1605E-BFA1-4A17-8783-E38152148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514600"/>
            <a:ext cx="542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57D"/>
                </a:solidFill>
              </a:defRPr>
            </a:pPr>
            <a:r>
              <a:rPr sz="1350" b="0">
                <a:solidFill>
                  <a:srgbClr val="52657D"/>
                </a:solidFill>
              </a:rPr>
              <a:t>Vitest/JSDOM • API tests • Dashboard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D5CCB6-D8C2-469A-9E0D-FE421E589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28900"/>
            <a:ext cx="16383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0A978"/>
          </a:solidFill>
          <a:ln xmlns:a="http://schemas.openxmlformats.org/drawingml/2006/main" w="9525">
            <a:solidFill>
              <a:srgbClr val="00A97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889279-4C45-4FFD-BA30-A73540209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62890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13B"/>
                </a:solidFill>
              </a:defRPr>
            </a:pPr>
            <a:r>
              <a:rPr sz="975" b="1">
                <a:solidFill>
                  <a:srgbClr val="10213B"/>
                </a:solidFill>
              </a:rPr>
              <a:t>PR #6 • #7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991E99-68E1-4368-B8E1-E713DF054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5280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B8"/>
          </a:solidFill>
          <a:ln xmlns:a="http://schemas.openxmlformats.org/drawingml/2006/main" w="0">
            <a:solidFill>
              <a:srgbClr val="008CB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C9A820-18B2-4CC8-8434-90C462CDD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528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13B"/>
                </a:solidFill>
              </a:defRPr>
            </a:pPr>
            <a:r>
              <a:rPr sz="1575" b="1">
                <a:solidFill>
                  <a:srgbClr val="10213B"/>
                </a:solidFill>
              </a:rPr>
              <a:t>Trương Quang Tuân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5E7891-DF11-4FC3-95A9-DF6051C25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8CB8"/>
                </a:solidFill>
              </a:defRPr>
            </a:pPr>
            <a:r>
              <a:rPr sz="1125" b="1">
                <a:solidFill>
                  <a:srgbClr val="008CB8"/>
                </a:solidFill>
              </a:rPr>
              <a:t>Tester 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73A84D-5625-492D-A2E3-07B552CCB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390900"/>
            <a:ext cx="542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57D"/>
                </a:solidFill>
              </a:defRPr>
            </a:pPr>
            <a:r>
              <a:rPr sz="1350" b="0">
                <a:solidFill>
                  <a:srgbClr val="52657D"/>
                </a:solidFill>
              </a:rPr>
              <a:t>Unit Tests • Workspace config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09E3DC-CDE0-4E59-9339-36E9943B2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505200"/>
            <a:ext cx="16383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08CB8"/>
          </a:solidFill>
          <a:ln xmlns:a="http://schemas.openxmlformats.org/drawingml/2006/main" w="9525">
            <a:solidFill>
              <a:srgbClr val="008CB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0B3ABF-CAA4-4156-BCCC-E3D9DE7A0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50520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13B"/>
                </a:solidFill>
              </a:defRPr>
            </a:pPr>
            <a:r>
              <a:rPr sz="975" b="1">
                <a:solidFill>
                  <a:srgbClr val="10213B"/>
                </a:solidFill>
              </a:rPr>
              <a:t>PR #2 • #4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ADF597-9176-4AEF-B105-79B60D1B1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2910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9400"/>
          </a:solidFill>
          <a:ln xmlns:a="http://schemas.openxmlformats.org/drawingml/2006/main" w="0">
            <a:solidFill>
              <a:srgbClr val="D3940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B9EAA4-07AB-41FF-8A91-74C1C41CF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291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13B"/>
                </a:solidFill>
              </a:defRPr>
            </a:pPr>
            <a:r>
              <a:rPr sz="1575" b="1">
                <a:solidFill>
                  <a:srgbClr val="10213B"/>
                </a:solidFill>
              </a:rPr>
              <a:t>Nguyễn Đào Văn Quý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45C605-CF11-42B5-BDA6-CD5112A76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52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9400"/>
                </a:solidFill>
              </a:defRPr>
            </a:pPr>
            <a:r>
              <a:rPr sz="1125" b="1">
                <a:solidFill>
                  <a:srgbClr val="D39400"/>
                </a:solidFill>
              </a:rPr>
              <a:t>Backend Dev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086182-A96E-4317-BEF6-107F34D9D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267200"/>
            <a:ext cx="542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57D"/>
                </a:solidFill>
              </a:defRPr>
            </a:pPr>
            <a:r>
              <a:rPr sz="1350" b="0">
                <a:solidFill>
                  <a:srgbClr val="52657D"/>
                </a:solidFill>
              </a:rPr>
              <a:t>API • Mock DB • Business fixes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B75B40-3423-486B-8128-C0D67DF29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381500"/>
            <a:ext cx="16383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39400"/>
          </a:solidFill>
          <a:ln xmlns:a="http://schemas.openxmlformats.org/drawingml/2006/main" w="9525">
            <a:solidFill>
              <a:srgbClr val="D3940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CC35E47-B8B7-4FD1-946F-16BB10D77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38150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4F8FC"/>
                </a:solidFill>
              </a:defRPr>
            </a:pPr>
            <a:r>
              <a:rPr sz="975" b="1">
                <a:solidFill>
                  <a:srgbClr val="F4F8FC"/>
                </a:solidFill>
              </a:rPr>
              <a:t>PR #5 • #8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49A76FC-DBEE-4430-9D83-88DD6BEAA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0540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2BC0"/>
          </a:solidFill>
          <a:ln xmlns:a="http://schemas.openxmlformats.org/drawingml/2006/main" w="0">
            <a:solidFill>
              <a:srgbClr val="A92BC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8360814-27D5-4AE6-8007-4167FD873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054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13B"/>
                </a:solidFill>
              </a:defRPr>
            </a:pPr>
            <a:r>
              <a:rPr sz="1575" b="1">
                <a:solidFill>
                  <a:srgbClr val="10213B"/>
                </a:solidFill>
              </a:rPr>
              <a:t>Lê Hữu Sơn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5B8ABAC-7A6F-4CE6-9C3A-5DF2036CA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292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92BC0"/>
                </a:solidFill>
              </a:defRPr>
            </a:pPr>
            <a:r>
              <a:rPr sz="1125" b="1">
                <a:solidFill>
                  <a:srgbClr val="A92BC0"/>
                </a:solidFill>
              </a:rPr>
              <a:t>Frontend Dev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6FF151E-21A1-4F8D-88DC-1623F01E2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143500"/>
            <a:ext cx="542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57D"/>
                </a:solidFill>
              </a:defRPr>
            </a:pPr>
            <a:r>
              <a:rPr sz="1350" b="0">
                <a:solidFill>
                  <a:srgbClr val="52657D"/>
                </a:solidFill>
              </a:rPr>
              <a:t>LoginPage • RTL component logic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460BEA8-7BAC-450E-9ECF-B75B7FA81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257800"/>
            <a:ext cx="16383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A92BC0"/>
          </a:solidFill>
          <a:ln xmlns:a="http://schemas.openxmlformats.org/drawingml/2006/main" w="9525">
            <a:solidFill>
              <a:srgbClr val="A92BC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9F7E79B-F6AE-4E80-B9F9-0794312B1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25780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13B"/>
                </a:solidFill>
              </a:defRPr>
            </a:pPr>
            <a:r>
              <a:rPr sz="975" b="1">
                <a:solidFill>
                  <a:srgbClr val="10213B"/>
                </a:solidFill>
              </a:rPr>
              <a:t>PR #9 • #10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1310CA1-2145-4058-A218-137C92112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81700"/>
            <a:ext cx="111252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C6D7E9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0680DC6-A352-450C-8719-09D4ADA46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8170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78"/>
          </a:solidFill>
          <a:ln xmlns:a="http://schemas.openxmlformats.org/drawingml/2006/main" w="0">
            <a:solidFill>
              <a:srgbClr val="00A97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4120485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44CA3F-587B-4E50-9989-C8B80BDCB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57D"/>
                </a:solidFill>
              </a:defRPr>
            </a:pPr>
            <a:r>
              <a:rPr sz="975" b="1">
                <a:solidFill>
                  <a:srgbClr val="52657D"/>
                </a:solidFill>
              </a:rPr>
              <a:t>PCS • QUALITY ENGINEERING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57CE76-8A5A-4B3F-9C89-B7608ABAA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8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57D"/>
                </a:solidFill>
              </a:defRPr>
            </a:pPr>
            <a:r>
              <a:rPr sz="975" b="1">
                <a:solidFill>
                  <a:srgbClr val="52657D"/>
                </a:solidFill>
              </a:rPr>
              <a:t>KẾT LUẬN &amp; BƯỚC TIẾP THEO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F3186C-60A1-4474-8659-D93FFC389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57D"/>
                </a:solidFill>
              </a:defRPr>
            </a:pPr>
            <a:r>
              <a:rPr sz="900" b="1">
                <a:solidFill>
                  <a:srgbClr val="52657D"/>
                </a:solidFill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CA7488-3E7E-4931-B006-FAD85B936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906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13B"/>
                </a:solidFill>
              </a:defRPr>
            </a:pPr>
            <a:r>
              <a:rPr sz="3000" b="1">
                <a:solidFill>
                  <a:srgbClr val="10213B"/>
                </a:solidFill>
              </a:rPr>
              <a:t>Một nền tảng kiểm thử đã hình thành.</a:t>
            </a:r>
          </a:p>
          <a:p xmlns:a="http://schemas.openxmlformats.org/drawingml/2006/main">
            <a:pPr algn="l">
              <a:defRPr sz="3000" b="1">
                <a:solidFill>
                  <a:srgbClr val="10213B"/>
                </a:solidFill>
              </a:defRPr>
            </a:pPr>
            <a:r>
              <a:rPr sz="3000" b="1">
                <a:solidFill>
                  <a:srgbClr val="10213B"/>
                </a:solidFill>
              </a:rPr>
              <a:t>Bước tiếp theo là tự động hóa nó trong CI/CD.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DCA374-D027-4683-B5B9-396A8DB30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78"/>
          </a:solidFill>
          <a:ln xmlns:a="http://schemas.openxmlformats.org/drawingml/2006/main" w="0">
            <a:solidFill>
              <a:srgbClr val="00A97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217800-A3AC-4C01-881D-F043D6E80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31051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7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4191D6-2D5A-470D-AB5D-AE6A69E22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38450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00A978"/>
                </a:solidFill>
              </a:defRPr>
            </a:pPr>
            <a:r>
              <a:rPr sz="2850" b="1">
                <a:solidFill>
                  <a:srgbClr val="00A978"/>
                </a:solidFill>
              </a:rPr>
              <a:t>53 / 53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C4263B-63BD-48B3-A039-4614B7344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718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57D"/>
                </a:solidFill>
              </a:defRPr>
            </a:pPr>
            <a:r>
              <a:rPr sz="1050" b="1">
                <a:solidFill>
                  <a:srgbClr val="52657D"/>
                </a:solidFill>
              </a:rPr>
              <a:t>AUTOMATED TESTS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E5FCA3-049E-4F8B-8810-1C032F83B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86050"/>
            <a:ext cx="31051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7E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8B3AD6-2AB6-484A-8549-9171F365F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838450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008CB8"/>
                </a:solidFill>
              </a:defRPr>
            </a:pPr>
            <a:r>
              <a:rPr sz="2850" b="1">
                <a:solidFill>
                  <a:srgbClr val="008CB8"/>
                </a:solidFill>
              </a:rPr>
              <a:t>&gt;92.5%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9D6117-C974-472A-943F-892694EE5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3718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57D"/>
                </a:solidFill>
              </a:defRPr>
            </a:pPr>
            <a:r>
              <a:rPr sz="1050" b="1">
                <a:solidFill>
                  <a:srgbClr val="52657D"/>
                </a:solidFill>
              </a:rPr>
              <a:t>TARGETED COVERAGE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35301E-727B-4700-BABF-7F99D5A0D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686050"/>
            <a:ext cx="31051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7E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78232B-ABCB-4F13-BC62-A1F50DBC7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838450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A92BC0"/>
                </a:solidFill>
              </a:defRPr>
            </a:pPr>
            <a:r>
              <a:rPr sz="2850" b="1">
                <a:solidFill>
                  <a:srgbClr val="A92BC0"/>
                </a:solidFill>
              </a:rPr>
              <a:t>100%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B03AE5-6B47-4E4E-A466-7F9E7DEF8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3718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57D"/>
                </a:solidFill>
              </a:defRPr>
            </a:pPr>
            <a:r>
              <a:rPr sz="1050" b="1">
                <a:solidFill>
                  <a:srgbClr val="52657D"/>
                </a:solidFill>
              </a:rPr>
              <a:t>DEFECTS CLOSED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59815C-74C1-4E8F-9898-0B54FA105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57D"/>
                </a:solidFill>
              </a:defRPr>
            </a:pPr>
            <a:r>
              <a:rPr sz="1350" b="1">
                <a:solidFill>
                  <a:srgbClr val="52657D"/>
                </a:solidFill>
              </a:rPr>
              <a:t>HƯỚNG PHÁT TRIỂN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F9714B-5F18-4A16-8CC5-B6FF29E88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34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7E9"/>
          </a:solidFill>
          <a:ln xmlns:a="http://schemas.openxmlformats.org/drawingml/2006/main" w="0">
            <a:solidFill>
              <a:srgbClr val="C6D7E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4A3499-06C9-4BA1-BD93-68EFF5409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A978"/>
                </a:solidFill>
              </a:defRPr>
            </a:pPr>
            <a:r>
              <a:rPr sz="1350" b="1">
                <a:solidFill>
                  <a:srgbClr val="00A978"/>
                </a:solidFill>
              </a:rPr>
              <a:t>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27E78A-F18B-4D27-985D-C2B2E479B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95300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13B"/>
                </a:solidFill>
              </a:defRPr>
            </a:pPr>
            <a:r>
              <a:rPr sz="1725" b="1">
                <a:solidFill>
                  <a:srgbClr val="10213B"/>
                </a:solidFill>
              </a:rPr>
              <a:t>GitHub Actions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1DE90B-6B00-42B1-AABD-76DBADA7F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95300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57D"/>
                </a:solidFill>
              </a:defRPr>
            </a:pPr>
            <a:r>
              <a:rPr sz="1350" b="0">
                <a:solidFill>
                  <a:srgbClr val="52657D"/>
                </a:solidFill>
              </a:rPr>
              <a:t>Chạy test và coverage gate trên mỗi Pull Request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46D46C-A076-43CE-9990-81DD34475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8CB8"/>
                </a:solidFill>
              </a:defRPr>
            </a:pPr>
            <a:r>
              <a:rPr sz="1350" b="1">
                <a:solidFill>
                  <a:srgbClr val="008CB8"/>
                </a:solidFill>
              </a:rPr>
              <a:t>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09074E-0E8D-40A5-9DC4-CED71E199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52450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13B"/>
                </a:solidFill>
              </a:defRPr>
            </a:pPr>
            <a:r>
              <a:rPr sz="1725" b="1">
                <a:solidFill>
                  <a:srgbClr val="10213B"/>
                </a:solidFill>
              </a:rPr>
              <a:t>Playwright E2E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A41EF6-9CF8-4BFE-813A-6AAE24537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52450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57D"/>
                </a:solidFill>
              </a:defRPr>
            </a:pPr>
            <a:r>
              <a:rPr sz="1350" b="0">
                <a:solidFill>
                  <a:srgbClr val="52657D"/>
                </a:solidFill>
              </a:rPr>
              <a:t>Mở rộng sang Chrome, Safari và các hành trình thật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AC2BA3-FF4D-4A04-B9C2-A47D0E6BF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943600"/>
            <a:ext cx="3143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0A978"/>
          </a:solidFill>
          <a:ln xmlns:a="http://schemas.openxmlformats.org/drawingml/2006/main" w="9525">
            <a:solidFill>
              <a:srgbClr val="00A97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F6CDE4-E92D-4083-97ED-298C98F37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943600"/>
            <a:ext cx="2990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4F8FC"/>
                </a:solidFill>
              </a:defRPr>
            </a:pPr>
            <a:r>
              <a:rPr sz="975" b="1">
                <a:solidFill>
                  <a:srgbClr val="F4F8FC"/>
                </a:solidFill>
              </a:rPr>
              <a:t>READY FOR THE NEXT QUALITY GATE</a:t>
            </a:r>
          </a:p>
        </p:txBody>
      </p:sp>
    </p:spTree>
    <p:extLst>
      <p:ext uri="{BB962C8B-B14F-4D97-AF65-F5344CB8AC3E}">
        <p14:creationId xmlns:p14="http://schemas.microsoft.com/office/powerpoint/2010/main" val="1103018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2026-07-19T11:38:42.8470000Z</dcterms:created>
  <dcterms:modified xsi:type="dcterms:W3CDTF">2026-07-19T11:38:42.8470000Z</dcterms:modified>
</coreProperties>
</file>