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afd9b8f6124ce0" /><Relationship Type="http://schemas.openxmlformats.org/officeDocument/2006/relationships/extended-properties" Target="/docProps/app.xml" Id="R3e2bebae006b449e" /><Relationship Type="http://schemas.openxmlformats.org/officeDocument/2006/relationships/officeDocument" Target="/ppt/presentation.xml" Id="R9e46414c773243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b58940bd694a25"/>
  </p:sldMasterIdLst>
  <p:notesMasterIdLst>
    <p:notesMasterId xmlns:r="http://schemas.openxmlformats.org/officeDocument/2006/relationships" r:id="R2596158d0330421d"/>
  </p:notesMasterIdLst>
  <p:sldIdLst>
    <p:sldId xmlns:r="http://schemas.openxmlformats.org/officeDocument/2006/relationships" id="256" r:id="R32f182f0cc804f96"/>
    <p:sldId xmlns:r="http://schemas.openxmlformats.org/officeDocument/2006/relationships" id="257" r:id="Reff73240b2b24bb7"/>
    <p:sldId xmlns:r="http://schemas.openxmlformats.org/officeDocument/2006/relationships" id="258" r:id="R15189d2288b44d1f"/>
    <p:sldId xmlns:r="http://schemas.openxmlformats.org/officeDocument/2006/relationships" id="259" r:id="Rdbb91d644ca44ecb"/>
    <p:sldId xmlns:r="http://schemas.openxmlformats.org/officeDocument/2006/relationships" id="260" r:id="R55e77c719fa34207"/>
    <p:sldId xmlns:r="http://schemas.openxmlformats.org/officeDocument/2006/relationships" id="261" r:id="R25ff7b703f0f4614"/>
    <p:sldId xmlns:r="http://schemas.openxmlformats.org/officeDocument/2006/relationships" id="262" r:id="R17bd5aa022e14138"/>
    <p:sldId xmlns:r="http://schemas.openxmlformats.org/officeDocument/2006/relationships" id="263" r:id="R303c4a54e37e4f63"/>
    <p:sldId xmlns:r="http://schemas.openxmlformats.org/officeDocument/2006/relationships" id="264" r:id="R3d43053afa614176"/>
    <p:sldId xmlns:r="http://schemas.openxmlformats.org/officeDocument/2006/relationships" id="265" r:id="Raf2f7307c3e1472b"/>
    <p:sldId xmlns:r="http://schemas.openxmlformats.org/officeDocument/2006/relationships" id="266" r:id="R8189fa55b59a4f54"/>
    <p:sldId xmlns:r="http://schemas.openxmlformats.org/officeDocument/2006/relationships" id="267" r:id="R1c64ff46e3884aac"/>
    <p:sldId xmlns:r="http://schemas.openxmlformats.org/officeDocument/2006/relationships" id="268" r:id="Rd67829b0e93a4700"/>
    <p:sldId xmlns:r="http://schemas.openxmlformats.org/officeDocument/2006/relationships" id="269" r:id="R466b788cf71f4d4c"/>
    <p:sldId xmlns:r="http://schemas.openxmlformats.org/officeDocument/2006/relationships" id="270" r:id="Rd7d6850c2f2d4f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135f52e42b4788" /><Relationship Type="http://schemas.openxmlformats.org/officeDocument/2006/relationships/slideMaster" Target="/ppt/slideMasters/slideMaster1.xml" Id="Rdeb58940bd694a25" /><Relationship Type="http://schemas.openxmlformats.org/officeDocument/2006/relationships/notesMaster" Target="/ppt/notesMasters/notesMaster1.xml" Id="R2596158d0330421d" /><Relationship Type="http://schemas.openxmlformats.org/officeDocument/2006/relationships/presProps" Target="/ppt/presProps.xml" Id="R297547038a644359" /><Relationship Type="http://schemas.openxmlformats.org/officeDocument/2006/relationships/tableStyles" Target="/ppt/tableStyles.xml" Id="Rabba55b5627f4224" /><Relationship Type="http://schemas.openxmlformats.org/officeDocument/2006/relationships/slide" Target="/ppt/slides/slide1.xml" Id="R32f182f0cc804f96" /><Relationship Type="http://schemas.openxmlformats.org/officeDocument/2006/relationships/slide" Target="/ppt/slides/slide2.xml" Id="Reff73240b2b24bb7" /><Relationship Type="http://schemas.openxmlformats.org/officeDocument/2006/relationships/slide" Target="/ppt/slides/slide3.xml" Id="R15189d2288b44d1f" /><Relationship Type="http://schemas.openxmlformats.org/officeDocument/2006/relationships/slide" Target="/ppt/slides/slide4.xml" Id="Rdbb91d644ca44ecb" /><Relationship Type="http://schemas.openxmlformats.org/officeDocument/2006/relationships/slide" Target="/ppt/slides/slide5.xml" Id="R55e77c719fa34207" /><Relationship Type="http://schemas.openxmlformats.org/officeDocument/2006/relationships/slide" Target="/ppt/slides/slide6.xml" Id="R25ff7b703f0f4614" /><Relationship Type="http://schemas.openxmlformats.org/officeDocument/2006/relationships/slide" Target="/ppt/slides/slide7.xml" Id="R17bd5aa022e14138" /><Relationship Type="http://schemas.openxmlformats.org/officeDocument/2006/relationships/slide" Target="/ppt/slides/slide8.xml" Id="R303c4a54e37e4f63" /><Relationship Type="http://schemas.openxmlformats.org/officeDocument/2006/relationships/slide" Target="/ppt/slides/slide9.xml" Id="R3d43053afa614176" /><Relationship Type="http://schemas.openxmlformats.org/officeDocument/2006/relationships/slide" Target="/ppt/slides/slide10.xml" Id="Raf2f7307c3e1472b" /><Relationship Type="http://schemas.openxmlformats.org/officeDocument/2006/relationships/slide" Target="/ppt/slides/slide11.xml" Id="R8189fa55b59a4f54" /><Relationship Type="http://schemas.openxmlformats.org/officeDocument/2006/relationships/slide" Target="/ppt/slides/slide12.xml" Id="R1c64ff46e3884aac" /><Relationship Type="http://schemas.openxmlformats.org/officeDocument/2006/relationships/slide" Target="/ppt/slides/slide13.xml" Id="Rd67829b0e93a4700" /><Relationship Type="http://schemas.openxmlformats.org/officeDocument/2006/relationships/slide" Target="/ppt/slides/slide14.xml" Id="R466b788cf71f4d4c" /><Relationship Type="http://schemas.openxmlformats.org/officeDocument/2006/relationships/slide" Target="/ppt/slides/slide15.xml" Id="Rd7d6850c2f2d4f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8cdd6056cf46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8034e526bb4263" /><Relationship Type="http://schemas.openxmlformats.org/officeDocument/2006/relationships/notesMaster" Target="/ppt/notesMasters/notesMaster1.xml" Id="Rbceda2250f8f48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e3148c0ea84f48" /><Relationship Type="http://schemas.openxmlformats.org/officeDocument/2006/relationships/notesMaster" Target="/ppt/notesMasters/notesMaster1.xml" Id="R7ff22a723dcd46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e0bbd88f074de5" /><Relationship Type="http://schemas.openxmlformats.org/officeDocument/2006/relationships/notesMaster" Target="/ppt/notesMasters/notesMaster1.xml" Id="R7b7ea228bc394d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2dd49b23e049ba" /><Relationship Type="http://schemas.openxmlformats.org/officeDocument/2006/relationships/notesMaster" Target="/ppt/notesMasters/notesMaster1.xml" Id="Rc552fb684a7849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7022bc046044db" /><Relationship Type="http://schemas.openxmlformats.org/officeDocument/2006/relationships/notesMaster" Target="/ppt/notesMasters/notesMaster1.xml" Id="R584084757d3341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8cb759f22d43a6" /><Relationship Type="http://schemas.openxmlformats.org/officeDocument/2006/relationships/notesMaster" Target="/ppt/notesMasters/notesMaster1.xml" Id="R58306779cc5b4c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b61e09aa5548d2" /><Relationship Type="http://schemas.openxmlformats.org/officeDocument/2006/relationships/notesMaster" Target="/ppt/notesMasters/notesMaster1.xml" Id="R4665b6d488c045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54e98443e74a8a" /><Relationship Type="http://schemas.openxmlformats.org/officeDocument/2006/relationships/notesMaster" Target="/ppt/notesMasters/notesMaster1.xml" Id="R06b5de9d375443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fa22e25b2944c0" /><Relationship Type="http://schemas.openxmlformats.org/officeDocument/2006/relationships/notesMaster" Target="/ppt/notesMasters/notesMaster1.xml" Id="R3e6f19a823ae49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954ba1c70a4b14" /><Relationship Type="http://schemas.openxmlformats.org/officeDocument/2006/relationships/notesMaster" Target="/ppt/notesMasters/notesMaster1.xml" Id="Rced200b2177742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b00b112acc4aa5" /><Relationship Type="http://schemas.openxmlformats.org/officeDocument/2006/relationships/notesMaster" Target="/ppt/notesMasters/notesMaster1.xml" Id="Rbc915ce0ef794a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f3402dbbac43b0" /><Relationship Type="http://schemas.openxmlformats.org/officeDocument/2006/relationships/notesMaster" Target="/ppt/notesMasters/notesMaster1.xml" Id="Rc32843673aa64b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947d0c878f4480" /><Relationship Type="http://schemas.openxmlformats.org/officeDocument/2006/relationships/notesMaster" Target="/ppt/notesMasters/notesMaster1.xml" Id="Raf4a815e54fb46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ad29c480be5429a" /><Relationship Type="http://schemas.openxmlformats.org/officeDocument/2006/relationships/notesMaster" Target="/ppt/notesMasters/notesMaster1.xml" Id="R63101ef053c146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63ce8fa45142a0" /><Relationship Type="http://schemas.openxmlformats.org/officeDocument/2006/relationships/notesMaster" Target="/ppt/notesMasters/notesMaster1.xml" Id="Rcca79fb8aabf47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0bbde3f19241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0d9969668c4a9b" /><Relationship Type="http://schemas.openxmlformats.org/officeDocument/2006/relationships/slideLayout" Target="/ppt/slideLayouts/slideLayout1.xml" Id="Ref696f951d8245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696f951d8245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0941cd9be46c8" /><Relationship Type="http://schemas.openxmlformats.org/officeDocument/2006/relationships/notesSlide" Target="/ppt/notesSlides/notesSlide1.xml" Id="R427ba4060b3c41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1db043ab6454f" /><Relationship Type="http://schemas.openxmlformats.org/officeDocument/2006/relationships/notesSlide" Target="/ppt/notesSlides/notesSlide2.xml" Id="Rf3e060d062674a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ac0bd507843cb" /><Relationship Type="http://schemas.openxmlformats.org/officeDocument/2006/relationships/notesSlide" Target="/ppt/notesSlides/notesSlide3.xml" Id="R5d957ce9c12b42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eec3bc99944db" /><Relationship Type="http://schemas.openxmlformats.org/officeDocument/2006/relationships/notesSlide" Target="/ppt/notesSlides/notesSlide4.xml" Id="R2e0f5904634541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82b9dc6a4408f" /><Relationship Type="http://schemas.openxmlformats.org/officeDocument/2006/relationships/notesSlide" Target="/ppt/notesSlides/notesSlide5.xml" Id="R964190c137cd48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e73c788f94001" /><Relationship Type="http://schemas.openxmlformats.org/officeDocument/2006/relationships/notesSlide" Target="/ppt/notesSlides/notesSlide6.xml" Id="R6cc9f26682ba4f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6121773e84c81" /><Relationship Type="http://schemas.openxmlformats.org/officeDocument/2006/relationships/notesSlide" Target="/ppt/notesSlides/notesSlide7.xml" Id="R0bafed95cc134d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8b2de9945408e" /><Relationship Type="http://schemas.openxmlformats.org/officeDocument/2006/relationships/notesSlide" Target="/ppt/notesSlides/notesSlide8.xml" Id="R663d7f4cb29044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a12700be2469f" /><Relationship Type="http://schemas.openxmlformats.org/officeDocument/2006/relationships/image" Target="/ppt/media/image.png" Id="R727c62e0a14c43b9" /><Relationship Type="http://schemas.openxmlformats.org/officeDocument/2006/relationships/notesSlide" Target="/ppt/notesSlides/notesSlide9.xml" Id="R04052c79d80843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3f816475a40d8" /><Relationship Type="http://schemas.openxmlformats.org/officeDocument/2006/relationships/notesSlide" Target="/ppt/notesSlides/notesSlide10.xml" Id="R21d9903ee8ef41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0a670f8304bad" /><Relationship Type="http://schemas.openxmlformats.org/officeDocument/2006/relationships/notesSlide" Target="/ppt/notesSlides/notesSlide11.xml" Id="R9194b9b6536745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b78cfb76945ab" /><Relationship Type="http://schemas.openxmlformats.org/officeDocument/2006/relationships/notesSlide" Target="/ppt/notesSlides/notesSlide12.xml" Id="Rdbbd4400ad4444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bbe185db2409c" /><Relationship Type="http://schemas.openxmlformats.org/officeDocument/2006/relationships/notesSlide" Target="/ppt/notesSlides/notesSlide13.xml" Id="Read356e9c3ad400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265a7df5a4491" /><Relationship Type="http://schemas.openxmlformats.org/officeDocument/2006/relationships/notesSlide" Target="/ppt/notesSlides/notesSlide14.xml" Id="Rba21f4ef5b4b45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e7ff008cf4357" /><Relationship Type="http://schemas.openxmlformats.org/officeDocument/2006/relationships/notesSlide" Target="/ppt/notesSlides/notesSlide15.xml" Id="R7e216d8de60a4f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4A7A78-FB6A-4998-AB13-77479FBD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FC683-F109-47D2-B908-6E4E0EC9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BÁO CÁO TỔNG KẾT 10 TUẦN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BE927-6655-4F09-BF36-F2722C6C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50B5C-52B7-496B-BC74-C1E82E5B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DỰ ÁN KIỂM THỬ HỆ THỐNG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22067-CA11-4BF8-A1F1-DA075CC2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AFC"/>
                </a:solidFill>
              </a:defRPr>
            </a:pPr>
            <a:r>
              <a:rPr sz="3900" b="1">
                <a:solidFill>
                  <a:srgbClr val="F8FAFC"/>
                </a:solidFill>
              </a:rPr>
              <a:t>Pickleball Court &amp; Coach</a:t>
            </a:r>
          </a:p>
          <a:p xmlns:a="http://schemas.openxmlformats.org/drawingml/2006/main">
            <a:pPr algn="l">
              <a:defRPr sz="3900" b="1">
                <a:solidFill>
                  <a:srgbClr val="F8FAFC"/>
                </a:solidFill>
              </a:defRPr>
            </a:pPr>
            <a:r>
              <a:rPr sz="3900" b="1">
                <a:solidFill>
                  <a:srgbClr val="F8FAFC"/>
                </a:solidFill>
              </a:rPr>
              <a:t>Booking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2E962-3F03-440B-8716-141A3AC6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5C2D6"/>
                </a:solidFill>
              </a:defRPr>
            </a:pPr>
            <a:r>
              <a:rPr sz="1800" b="0">
                <a:solidFill>
                  <a:srgbClr val="B5C2D6"/>
                </a:solidFill>
              </a:rPr>
              <a:t>Báo cáo hoạt động kiểm thử &amp; tự động hóa</a:t>
            </a:r>
          </a:p>
          <a:p xmlns:a="http://schemas.openxmlformats.org/drawingml/2006/main">
            <a:pPr algn="l">
              <a:defRPr sz="1800" b="0">
                <a:solidFill>
                  <a:srgbClr val="B5C2D6"/>
                </a:solidFill>
              </a:defRPr>
            </a:pPr>
            <a:r>
              <a:rPr sz="1800" b="0">
                <a:solidFill>
                  <a:srgbClr val="B5C2D6"/>
                </a:solidFill>
              </a:rPr>
              <a:t>10 tuần đồng hành cùng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A28E5-C066-42D5-9966-9C31D6FE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015A5-CE18-4CD8-8901-65FCC9B2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NHÓM 3 • SWP391_SE1701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678A4-BD64-4D2C-AB3D-3E1D476D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291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Đại học FPT TP.HCM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ED8CC-F543-4645-9DFD-F50E7893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81100"/>
            <a:ext cx="3657600" cy="3886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3F751-7088-453C-9486-EAF9064E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668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93F4A-526A-4743-A9C2-59A11C74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47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C2D6"/>
                </a:solidFill>
              </a:defRPr>
            </a:pPr>
            <a:r>
              <a:rPr sz="1200" b="1">
                <a:solidFill>
                  <a:srgbClr val="B5C2D6"/>
                </a:solidFill>
              </a:rPr>
              <a:t>CORE TEAM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049E1-90D3-44C7-B5CF-E71EADC8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Trần Quốc Sang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7C118-FCB5-4F0B-AF64-134503D9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5C2D6"/>
                </a:solidFill>
              </a:defRPr>
            </a:pPr>
            <a:r>
              <a:rPr sz="1050" b="0">
                <a:solidFill>
                  <a:srgbClr val="B5C2D6"/>
                </a:solidFill>
              </a:rPr>
              <a:t>PM / Tester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BD27A-125A-4928-8B09-3E1F668F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4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Lê Thị Văn Anh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8331C-C81D-4640-9C94-A506672C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717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D89C"/>
                </a:solidFill>
              </a:defRPr>
            </a:pPr>
            <a:r>
              <a:rPr sz="1050" b="0">
                <a:solidFill>
                  <a:srgbClr val="00D89C"/>
                </a:solidFill>
              </a:rPr>
              <a:t>QA Leader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5E961C-8A14-4F7A-975F-9289FE26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765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Trương Quang Tuân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24CDE-8AD1-4177-A4DD-49559719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5C2D6"/>
                </a:solidFill>
              </a:defRPr>
            </a:pPr>
            <a:r>
              <a:rPr sz="1050" b="0">
                <a:solidFill>
                  <a:srgbClr val="B5C2D6"/>
                </a:solidFill>
              </a:rPr>
              <a:t>Tester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1BD18-A6E3-4DEA-B73F-D60B2645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Nguyễn Đào Văn Quý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850A0-EE61-47AB-B5E4-F82A9B3A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957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5C2D6"/>
                </a:solidFill>
              </a:defRPr>
            </a:pPr>
            <a:r>
              <a:rPr sz="1050" b="0">
                <a:solidFill>
                  <a:srgbClr val="B5C2D6"/>
                </a:solidFill>
              </a:rPr>
              <a:t>Backend Developer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2DC209-98E0-4413-825E-3EFBF06D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005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Lê Hữu Sơn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F5E3FA-B5CA-4508-B4E2-5F2DF0BE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57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5C2D6"/>
                </a:solidFill>
              </a:defRPr>
            </a:pPr>
            <a:r>
              <a:rPr sz="1050" b="0">
                <a:solidFill>
                  <a:srgbClr val="B5C2D6"/>
                </a:solidFill>
              </a:rPr>
              <a:t>Frontend Developer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38E9FF-8A4B-476C-84A2-9A017FDA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14950"/>
            <a:ext cx="3657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F725F0-2C5E-4EC3-8032-CD524BDB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149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1B32"/>
                </a:solidFill>
              </a:defRPr>
            </a:pPr>
            <a:r>
              <a:rPr sz="975" b="1">
                <a:solidFill>
                  <a:srgbClr val="0D1B32"/>
                </a:solidFill>
              </a:rPr>
              <a:t>QUALITY • AUTOMATION • TRACEABILITY</a:t>
            </a:r>
          </a:p>
        </p:txBody>
      </p:sp>
    </p:spTree>
    <p:extLst>
      <p:ext uri="{BB962C8B-B14F-4D97-AF65-F5344CB8AC3E}">
        <p14:creationId xmlns:p14="http://schemas.microsoft.com/office/powerpoint/2010/main" val="1964911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24FEF3-6046-4BA2-B74F-5386AA3C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9EEAB-5245-4463-9458-E2B3DEE6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BỐI CẢNH &amp; MỤC TIÊU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C9F82-F521-42EA-9768-85CE8D34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7B5DE-93A2-4A01-84D8-8DC64089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PCS cần độ tin cậy ở những luồng có rủi ro cao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5311F-E1CC-48B3-86E4-59F768BC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E149A-8A51-4C91-BA66-B130B9D7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Đặt sân, thanh toán và dữ liệu vận hành phải nhất quán theo thời gian thực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AF1AA-AD33-4B4E-B0D4-91AE9E1F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2552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028B0-E9E2-43A7-BF8F-8DB4152D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D89C"/>
                </a:solidFill>
              </a:defRPr>
            </a:pPr>
            <a:r>
              <a:rPr sz="1500" b="1">
                <a:solidFill>
                  <a:srgbClr val="00D89C"/>
                </a:solidFill>
              </a:rPr>
              <a:t>Đặt sân &amp; HLV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55C6B-2D90-40C5-ACA8-288B6F00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Giữ slot, kiểm tra trùng lịch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BE6AA-F39C-4A47-B28B-9BF32B8B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552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EB3BE-C19B-4196-9CC2-210DA5B4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097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BEE8"/>
                </a:solidFill>
              </a:defRPr>
            </a:pPr>
            <a:r>
              <a:rPr sz="1500" b="1">
                <a:solidFill>
                  <a:srgbClr val="08BEE8"/>
                </a:solidFill>
              </a:rPr>
              <a:t>Thanh toán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1950A-9171-4960-A7F6-664D3B1B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717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PayOS, webhook, hoàn tiền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C923F-52DE-41F5-901B-7AD379E6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76400"/>
            <a:ext cx="2552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B5A77-6E40-46A6-84EF-928E237D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E48F3"/>
                </a:solidFill>
              </a:defRPr>
            </a:pPr>
            <a:r>
              <a:rPr sz="1500" b="1">
                <a:solidFill>
                  <a:srgbClr val="DE48F3"/>
                </a:solidFill>
              </a:rPr>
              <a:t>Ghép cặp &amp;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C9C7B-561A-4931-A710-040ABE1B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Skill matching, Gemini chatbot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7F877-E473-4022-95B7-DC0E6546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552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1D05A-3286-4533-8B89-68D4F897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097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D98FF"/>
                </a:solidFill>
              </a:defRPr>
            </a:pPr>
            <a:r>
              <a:rPr sz="1500" b="1">
                <a:solidFill>
                  <a:srgbClr val="5D98FF"/>
                </a:solidFill>
              </a:rPr>
              <a:t>SaaS Admin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3B581-DCD6-4486-89A6-788247B5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717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Doanh thu, báo cáo, vận hành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5DAB5E-5885-44DC-88D2-02F7865E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4 mục tiêu kiểm thử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FFCC43-F000-4367-8141-A99781FA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03272-843C-4ABA-B455-AA31B2FC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699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Zero double-booking trong luồng đặt sân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1F274-6E84-4113-88F5-C1227E86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C97A1F-F39E-4DE7-B73D-978891CF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699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Kiểm soát đúng hoàn tiền, giới hạn đặt và voucher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F26FDF-3A07-45DC-8F44-D79D1DFF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8BCA96-79BB-4BD2-9619-513FFD86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699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Tự động hóa hồi quy cho các luồng trọng yếu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09FBF6-BCCB-4FCF-A87F-F3E5389B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48283E-515E-4AB5-BE6B-015AECE4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699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Coverage lớp logic backend vượt ngưỡng 90%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216086-F35A-424D-8E72-39740EB5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29527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84A2F2-3438-46A7-956E-CB6ADD69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290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&gt;90%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99EC64-E746-4FA5-969E-E93C300C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62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5C2D6"/>
                </a:solidFill>
              </a:defRPr>
            </a:pPr>
            <a:r>
              <a:rPr sz="1050" b="1">
                <a:solidFill>
                  <a:srgbClr val="B5C2D6"/>
                </a:solidFill>
              </a:rPr>
              <a:t>MỤC TIÊU COVERAGE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1E9CF8-B61A-491D-B880-628A3246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72025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6F325E-70D9-4C44-BC4B-A06EBD9B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72025"/>
            <a:ext cx="19716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8D6446-B039-49A0-8696-9058EF43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24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5C2D6"/>
                </a:solidFill>
              </a:defRPr>
            </a:pPr>
            <a:r>
              <a:rPr sz="1050" b="0">
                <a:solidFill>
                  <a:srgbClr val="B5C2D6"/>
                </a:solidFill>
              </a:rPr>
              <a:t>Ngưỡng chất lượng trước bàn giao</a:t>
            </a:r>
          </a:p>
        </p:txBody>
      </p:sp>
    </p:spTree>
    <p:extLst>
      <p:ext uri="{BB962C8B-B14F-4D97-AF65-F5344CB8AC3E}">
        <p14:creationId xmlns:p14="http://schemas.microsoft.com/office/powerpoint/2010/main" val="20427175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9D89A6-82EC-4B40-8BEA-16259C4A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175D7-9E86-4F4E-B742-9FFE826C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PHẠM VI KIỂM THỬ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B1841-3E49-4D4F-B34C-92893412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EE59A-B8DC-498B-B22D-63FBCF49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Tập trung kiểm thử nơi lỗi gây ảnh hưởng trực tiếp đến người dùng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3DEE4-EE81-4C77-B32C-B9DA0F8B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1C53C-EC28-45C6-9226-272C569F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Ba lớp kiểm thử tự động, ba nhóm ngoại lệ được quản lý rõ ràng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07838-C31F-45BF-B360-0544C2F9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D89C"/>
                </a:solidFill>
              </a:defRPr>
            </a:pPr>
            <a:r>
              <a:rPr sz="1500" b="1">
                <a:solidFill>
                  <a:srgbClr val="00D89C"/>
                </a:solidFill>
              </a:rPr>
              <a:t>IN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95F0A-4B55-4BAA-BA9A-44EB7433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741EC-0FF0-4867-BB5A-480399A1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5143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A49B5-98BD-4EA1-945A-E2B06C84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704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7B375-5AC4-4152-8786-2DEE5E74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1B32"/>
                </a:solidFill>
              </a:defRPr>
            </a:pPr>
            <a:r>
              <a:rPr sz="975" b="1">
                <a:solidFill>
                  <a:srgbClr val="0D1B32"/>
                </a:solidFill>
              </a:rPr>
              <a:t>UNIT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98622-5839-48DA-B29C-72338072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479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Service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93EFB-42E3-40E1-AECA-F49CCEF1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717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Refund • Booking • Promotion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0C91B-311A-4CE6-A449-021337F6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0425"/>
            <a:ext cx="5143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09806-522F-457D-AD6B-39ED33BA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704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E135F-7B9B-415B-97DE-AB80453F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1B32"/>
                </a:solidFill>
              </a:defRPr>
            </a:pPr>
            <a:r>
              <a:rPr sz="975" b="1">
                <a:solidFill>
                  <a:srgbClr val="0D1B32"/>
                </a:solidFill>
              </a:rPr>
              <a:t>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5B336-7A12-4F8E-9699-31BFC272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147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Route integration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23123-4518-4359-BE28-9F2324E6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385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Auth • Booking • Payment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A3EB7-37D6-4A45-B37B-805A583D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67225"/>
            <a:ext cx="5143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C7B69-5FE0-444A-9873-D406DB3D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704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E48F3"/>
          </a:solidFill>
          <a:ln xmlns:a="http://schemas.openxmlformats.org/drawingml/2006/main" w="9525">
            <a:solidFill>
              <a:srgbClr val="DE48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77C823-E0C2-4847-A472-0C420C3A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1B32"/>
                </a:solidFill>
              </a:defRPr>
            </a:pPr>
            <a:r>
              <a:rPr sz="975" b="1">
                <a:solidFill>
                  <a:srgbClr val="0D1B32"/>
                </a:solidFill>
              </a:rPr>
              <a:t>UI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4436C3-84BB-4540-8C4E-64CECD8C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815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Component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B566B-35AC-4023-91C4-DA4DB3A6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053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LoginPage • RTL • JSDOM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BC4639-4919-4954-A5EF-A835A027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975"/>
                </a:solidFill>
              </a:defRPr>
            </a:pPr>
            <a:r>
              <a:rPr sz="1500" b="1">
                <a:solidFill>
                  <a:srgbClr val="FF6975"/>
                </a:solidFill>
              </a:rPr>
              <a:t>OUT OF SCOPE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639319-5520-4E33-8DB4-862D7396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47875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975"/>
          </a:solidFill>
          <a:ln xmlns:a="http://schemas.openxmlformats.org/drawingml/2006/main" w="0">
            <a:solidFill>
              <a:srgbClr val="FF697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E28054-DA76-40B3-8D14-F4898257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473428-3513-4ACA-A5D8-4CC75472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81250"/>
            <a:ext cx="451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Stress / Load testing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3F408E-1C45-4D89-BAC3-21F676F6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62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AB340B-8822-4C04-B203-76A4578C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451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Cổng ngân hàng thật - chỉ dùng PayOS sandbox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40E546-1A7D-4CC1-8C42-9AC47C89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3D6946-3397-48AC-A8B4-5F8FA30A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90950"/>
            <a:ext cx="451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Penetration testing hạ tầng mạng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EF1F21-B754-4222-BE75-D882304F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72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536322-805C-406A-89A7-4F70585E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95800"/>
            <a:ext cx="451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Chứng nhận cross-browser trên thiết bị thật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9373FF-AB05-4D0F-A24D-BD367086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76850"/>
            <a:ext cx="5143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6151E"/>
          </a:solidFill>
          <a:ln xmlns:a="http://schemas.openxmlformats.org/drawingml/2006/main" w="9525">
            <a:solidFill>
              <a:srgbClr val="FF697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369451-DF38-4812-AF18-F48604A7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102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975"/>
                </a:solidFill>
              </a:defRPr>
            </a:pPr>
            <a:r>
              <a:rPr sz="1350" b="1">
                <a:solidFill>
                  <a:srgbClr val="FF6975"/>
                </a:solidFill>
              </a:rPr>
              <a:t>Phạm vi rõ → bằng chứng kiểm thử có thể bảo vệ</a:t>
            </a:r>
          </a:p>
        </p:txBody>
      </p:sp>
    </p:spTree>
    <p:extLst>
      <p:ext uri="{BB962C8B-B14F-4D97-AF65-F5344CB8AC3E}">
        <p14:creationId xmlns:p14="http://schemas.microsoft.com/office/powerpoint/2010/main" val="20775707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DC0BD00-2669-4286-AB65-538237BC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3423D-14F2-4CF5-A55D-BD07F86A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THIẾT KẾ HỘP ĐEN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71331-F661-4C6C-8141-C124E353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73390-B51D-4430-A693-A83A9A13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8 quy tắc bao phủ toàn bộ tổ hợp đăng ký tài khoản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35647-8045-4DC9-8C3D-CC3FFAC8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B0330-531C-4846-ADED-89106D0A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Decision Table biến ba điều kiện đầu vào thành hành vi có thể kiểm chứng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70231-898A-431B-A538-92AC1902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2952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211EC-B304-4405-AA5E-EF384897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Điều kiện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F4A41-2F12-4B80-81C6-2ACA2F56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E4C4F-8B1C-4C6F-85A3-E10EDC48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5C2D6"/>
                </a:solidFill>
              </a:defRPr>
            </a:pPr>
            <a:r>
              <a:rPr sz="1125" b="1">
                <a:solidFill>
                  <a:srgbClr val="B5C2D6"/>
                </a:solidFill>
              </a:rPr>
              <a:t>R1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A79AB-90B0-476B-9331-336187AC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D9987-CA05-4B4C-9EC9-7B60FCAF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5C2D6"/>
                </a:solidFill>
              </a:defRPr>
            </a:pPr>
            <a:r>
              <a:rPr sz="1125" b="1">
                <a:solidFill>
                  <a:srgbClr val="B5C2D6"/>
                </a:solidFill>
              </a:rPr>
              <a:t>R2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E7925-8184-4D19-8C27-53E0A470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928E1-53FF-4FF1-A73A-91FE84B1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5C2D6"/>
                </a:solidFill>
              </a:defRPr>
            </a:pPr>
            <a:r>
              <a:rPr sz="1125" b="1">
                <a:solidFill>
                  <a:srgbClr val="B5C2D6"/>
                </a:solidFill>
              </a:rPr>
              <a:t>R3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B3D7B-2ECE-4790-BEDB-BC43D2BE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C97CB-CB3A-4FBA-8052-6D6010D7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5C2D6"/>
                </a:solidFill>
              </a:defRPr>
            </a:pPr>
            <a:r>
              <a:rPr sz="1125" b="1">
                <a:solidFill>
                  <a:srgbClr val="B5C2D6"/>
                </a:solidFill>
              </a:rPr>
              <a:t>R4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68369-8869-4F9C-B668-94BD98D3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149B56-0CDA-4FE9-A8FD-F7EA579B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5C2D6"/>
                </a:solidFill>
              </a:defRPr>
            </a:pPr>
            <a:r>
              <a:rPr sz="1125" b="1">
                <a:solidFill>
                  <a:srgbClr val="B5C2D6"/>
                </a:solidFill>
              </a:rPr>
              <a:t>R5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A470B8-3537-4591-B74B-6227E547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EE1A4-58AF-43FE-9C71-B6936CF2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5C2D6"/>
                </a:solidFill>
              </a:defRPr>
            </a:pPr>
            <a:r>
              <a:rPr sz="1125" b="1">
                <a:solidFill>
                  <a:srgbClr val="B5C2D6"/>
                </a:solidFill>
              </a:rPr>
              <a:t>R6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78B829-1464-42D9-BFA9-A40DA56D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7BDAC9-7079-44E0-9C37-A75EAB9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5C2D6"/>
                </a:solidFill>
              </a:defRPr>
            </a:pPr>
            <a:r>
              <a:rPr sz="1125" b="1">
                <a:solidFill>
                  <a:srgbClr val="B5C2D6"/>
                </a:solidFill>
              </a:rPr>
              <a:t>R7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3B8CC0-C67A-4BE5-A862-A4E2D626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14EC63-2950-40C8-93FA-2F366D3B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5C2D6"/>
                </a:solidFill>
              </a:defRPr>
            </a:pPr>
            <a:r>
              <a:rPr sz="1125" b="1">
                <a:solidFill>
                  <a:srgbClr val="B5C2D6"/>
                </a:solidFill>
              </a:rPr>
              <a:t>R8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139006-DB28-4965-A195-B8AE0E6E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2952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8112C4-B01C-4A5C-B2D5-24629B2C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Email hợp lệ &amp; duy nhất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57AA82-7496-4372-8562-FD966B90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56CAA9-AC66-47C4-9272-F5DC2141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121252-F173-4F38-B7E7-D33713DC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113E64-9FA2-41BA-A860-10CBDEB8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2AF1C0-881D-4377-95CB-FE10F272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F4C083-6369-47FF-B00A-45C169B9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7A2640-A7C8-4AC5-BED8-6E4D9666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C2935D-BC00-4220-A9C5-3762789E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E811A6-BEEA-46F7-B21C-77877287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C70A7A-3F60-4BAA-81C7-6BE50BEB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B23487-C6F3-4321-807A-8E0C6179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8E8E69-588B-4902-B0C6-0737A6EE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2BE3F5-59CB-45CF-8004-7DAF77F4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0AD78F-FC80-47AA-98AB-8F5EFF8F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7FC38E-A91C-4F50-A37A-003ED18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B31F39-A3A0-4DC1-BA7C-AD54DCB1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216BC3-AC76-482B-86CF-060BF68A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2952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B7D0DC-4E5D-4177-82BC-3DB03380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SĐT hợp lệ &amp; duy nhất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A4ADF9-AD88-485C-BD66-C403FDA4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30CC8A-01F5-4889-B7D5-956A93DF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045496-096F-41B0-88E6-BE537840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91A365-BC74-4BDE-A4F6-EB6DE045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5A9984-ED61-4AC0-A6FC-CBBCCB3B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27C5B8-B54C-4815-B8B7-579ED749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62BCCD-9BEE-41EC-B9FE-FE5AB819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619E8D-9C9B-414E-8580-580E4528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C19C9F-CD39-4AA8-984F-E8FBC8F3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9A1A5F-C608-4182-A27A-DEEF72E4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BA11D7-9547-4E9C-947F-5DACA8F4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525B02-67EA-4DCE-AD5C-F77323D0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1AC1649-7769-4F0A-B7E4-54A65C41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E99BC2-7635-4789-8D18-5E3C05AF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F6BCE8-2D75-43BF-B260-EF2D0D0E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4B6F0FE-90E8-4518-9EE4-80B67BE0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75FEEE6-837C-4E9E-824E-678A5A7A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2952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6D60213-26E7-41F8-9923-952CE310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Mật khẩu mạnh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C54B18-0092-474B-B752-68971859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B2283E-5B82-42F2-94DD-4FC030CB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60E25E5-AC73-486F-9073-66B34447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67B9B6D-C51E-4ECD-A080-F22AF1E4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C04F5AE-CFFE-4E30-92E4-3DD60BD4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7AB41FC-753A-4B7A-98FB-C1B51934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94DCCFB-EA00-446E-AAFE-3038215B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64A1E23-B4DF-4DB1-B253-20362890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353C1F0-5D74-4509-B1B2-FD0EFAB4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D2F8514-50E9-4061-8598-58FCB2D6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FDC6821-10F1-486F-B69F-C55833C5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1CC8BC1-E9F3-4539-8C07-0E6172AC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94C6679-9E44-44F6-84D1-CCC09115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7F56D0C-93C3-4950-8BAE-4AD9A241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E9571B9-A3BC-4059-B9BA-5FC7287B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D475B77-166D-4DC8-AF40-BBFB5DB0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7A967B4-ED64-49C0-9CBD-C15CB449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2952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528583D-1AA1-4003-A7B9-90CFD427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D89C"/>
                </a:solidFill>
              </a:defRPr>
            </a:pPr>
            <a:r>
              <a:rPr sz="1200" b="1">
                <a:solidFill>
                  <a:srgbClr val="00D89C"/>
                </a:solidFill>
              </a:rPr>
              <a:t>Kết quả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9A9067B-2F2F-48EA-9E2C-F395727B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DD23D71-CCE6-4BFE-B6E0-D593C190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OK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5140AC3-9F40-4A9A-9E34-2F5F989E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91E2111-1C64-4553-AD46-57E6156E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Pass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19F5397-E30A-4786-B1BD-31AD1ECA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E81D01B-AD01-4C58-94C9-57DC1E35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Phone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6970049-69DE-4E98-9595-AC8A1928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3B9DCAB-029B-4ABD-BF0F-7D0DEE5F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Both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31DE7F2-AE26-43F1-A246-8C3541A2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1BA61F2-1C1F-49E5-9F27-54460EDB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Email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A66031C-041F-479D-BA0B-050B0AC9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A80EB28-1992-4A1F-B551-7C0E3560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Both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B6239B9-A623-4DD0-8332-9CAB0284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A87F4C9-1990-49DD-86D3-3D11DC5B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Both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954D9CB-31A5-402E-B68E-65B3D128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8C8C218-7CA4-4D69-B971-D2434A55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All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911D99C-6081-4B91-B9C8-F22713F9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11125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38EEC81-306E-4045-8AF5-D93A7659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8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F49D1D0-654A-4B97-A43C-20C3D49C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5C2D6"/>
                </a:solidFill>
              </a:defRPr>
            </a:pPr>
            <a:r>
              <a:rPr sz="1050" b="1">
                <a:solidFill>
                  <a:srgbClr val="B5C2D6"/>
                </a:solidFill>
              </a:rPr>
              <a:t>TEST CASES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3CB5D46-489B-49B0-8F71-19999984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334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TC_DT_01 → TC_DT_08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8F33029-886C-477B-B8A3-2A5BE65E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19700"/>
            <a:ext cx="493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Phát hiện lỗi nhập liệu đồng thời thay vì chỉ kiểm tra từng trường riêng lẻ</a:t>
            </a:r>
          </a:p>
        </p:txBody>
      </p:sp>
    </p:spTree>
    <p:extLst>
      <p:ext uri="{BB962C8B-B14F-4D97-AF65-F5344CB8AC3E}">
        <p14:creationId xmlns:p14="http://schemas.microsoft.com/office/powerpoint/2010/main" val="5451338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455BDD-04C8-46B5-98CA-89E911F8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BABBB-E0A1-4E07-979C-7116DDEC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THIẾT KẾ USE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4AE63-F753-4DCE-BC8D-8A098FE2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AEBC8-5A08-4760-B0D2-4B6D4ED8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UC-04 khóa chặt hành trình Đặt sân → Thanh toán → Xác nhận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FB206-5810-45FD-A06A-05E2349A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3F2A7-BC44-4174-B185-CBE680FC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Luồng cơ bản và ba ngoại lệ xác định rõ trạng thái của slot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7A02F-9EB3-4A51-807B-ADC26CDA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21050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5AEFB-5584-494A-8834-333689E2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3B7A9-48DF-4B41-AAB2-3509CBCA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85633-DC70-4007-8896-13A246FD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Chọn sân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&amp; khung giờ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46144-2678-49B7-AA86-D25FBF50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0610" y="21050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07841-3A01-402B-9FB2-EB9D386F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F4907-7929-43A2-BC7E-712AC8DB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47DE9-B1C1-4FE2-8277-99A6BA56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Giữ slot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10 phút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FAB0B-A4CB-4040-8E28-BB1A1136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1050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8A449-0CC8-436F-A039-65D3132C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99DE7-4351-43F9-8BEE-96927899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89DB8-21EB-4C53-ADCD-6EF40AAB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Quét QR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PayOS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1F251-BB01-4240-AFB5-19F61E33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270" y="21050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DD335-7997-4572-B5CE-874FA29D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0E49FD-10F0-4A71-93EF-FF3DCFBC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C8C284-3F66-4FD6-B150-7F509A50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Webhook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IPN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7CA907-CDEC-4CE7-8C7F-018B7FE3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4E67D-4F1D-4A5D-BBE7-CB49C76B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890DB3-C233-4949-AC7C-E9E731D8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Đơn Paid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Khóa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C8DDAC-6E23-4A3A-AD33-332093BE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3 luồng ngoại lệ quyết định độ bền của hệ thống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BE1D7C-6D3F-4FEC-A16E-0EBD51F0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975"/>
          </a:solidFill>
          <a:ln xmlns:a="http://schemas.openxmlformats.org/drawingml/2006/main" w="0">
            <a:solidFill>
              <a:srgbClr val="FF697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702826-F949-4AAB-A06F-BCBFA132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975"/>
                </a:solidFill>
              </a:defRPr>
            </a:pPr>
            <a:r>
              <a:rPr sz="1350" b="1">
                <a:solidFill>
                  <a:srgbClr val="FF6975"/>
                </a:solidFill>
              </a:rPr>
              <a:t>AF1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1149DB-12D0-4AC0-860E-CE3255D4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Trùng giờ chơi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8AD15F-69A2-47E8-A27F-0E65DDBD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861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Từ chối khi slot đã bị khóa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6E40A6-7A04-43B1-970B-DF7CAEB3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64"/>
          </a:solidFill>
          <a:ln xmlns:a="http://schemas.openxmlformats.org/drawingml/2006/main" w="0">
            <a:solidFill>
              <a:srgbClr val="FFD0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35844A-52F9-42A5-9685-79DA362B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064"/>
                </a:solidFill>
              </a:defRPr>
            </a:pPr>
            <a:r>
              <a:rPr sz="1350" b="1">
                <a:solidFill>
                  <a:srgbClr val="FFD064"/>
                </a:solidFill>
              </a:rPr>
              <a:t>AF2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FE5845-53EE-4CFC-8641-6F274282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Vượt giới hạn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D11B7E-09AE-4D5F-9CB3-5ECF2E25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67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Chặn đơn thứ 4 trong ngày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CB7867-62F7-4B28-B63E-2DC52434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571C06-65EC-411A-B717-79FAE2D1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BEE8"/>
                </a:solidFill>
              </a:defRPr>
            </a:pPr>
            <a:r>
              <a:rPr sz="1350" b="1">
                <a:solidFill>
                  <a:srgbClr val="08BEE8"/>
                </a:solidFill>
              </a:rPr>
              <a:t>AF3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175D54-3568-4D5D-A45F-09BF04D3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Hủy / hết hạn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18E262-FD6B-4C91-8930-0D944D46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48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Giải phóng slot sau 10 phút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E09244-BB75-4F2C-B104-B3A1F287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FB0EE3-C562-4E8F-B20A-0110C3D0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B5183E-BBAC-4247-8971-29D3EA2E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57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5C2D6"/>
                </a:solidFill>
              </a:defRPr>
            </a:pPr>
            <a:r>
              <a:rPr sz="1050" b="1">
                <a:solidFill>
                  <a:srgbClr val="B5C2D6"/>
                </a:solidFill>
              </a:rPr>
              <a:t>USE CASE TCs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0B656E-DD19-45D6-BF05-BE624D5C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386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TC_UC_01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→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TC_UC_04</a:t>
            </a:r>
          </a:p>
        </p:txBody>
      </p:sp>
    </p:spTree>
    <p:extLst>
      <p:ext uri="{BB962C8B-B14F-4D97-AF65-F5344CB8AC3E}">
        <p14:creationId xmlns:p14="http://schemas.microsoft.com/office/powerpoint/2010/main" val="7726310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E0122B-4E92-4946-91AA-DAB2E0DE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526D2-6C89-4FED-94EA-771BD3CB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WHITE-BOX &amp; BVA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41EEC-127C-4F6F-88F6-50033F4A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67810-5A3D-490D-97A0-2404A14A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Các biên nghiệp vụ được chuyển thành điểm kiểm thử cụ thể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1B1EF-419C-412E-9D0A-28A8DBDF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76A65-44DA-4D02-815D-708C28D7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Không chỉ phủ dòng lệnh — nhóm kiểm tra đúng nơi hành vi thay đổi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C4A9B-8E93-4FA5-9858-4E6EC30C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1EB57-7464-4FBF-ABBA-51D2314D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BEE8"/>
                </a:solidFill>
              </a:defRPr>
            </a:pPr>
            <a:r>
              <a:rPr sz="1050" b="1">
                <a:solidFill>
                  <a:srgbClr val="08BEE8"/>
                </a:solidFill>
              </a:rPr>
              <a:t>HOÀN TIỀN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DB6B7-7481-47C9-B4A2-2904C985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calculateRefundAmount()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AEBFC-4E88-426F-96D9-63FBF609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3A097-2961-45B2-A8AE-16BA923F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BEE8"/>
                </a:solidFill>
              </a:defRPr>
            </a:pPr>
            <a:r>
              <a:rPr sz="975" b="1">
                <a:solidFill>
                  <a:srgbClr val="08BEE8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9FE46-FBC3-474C-8535-04F12112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&lt; 2h: 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83AA9-94BB-4A48-BC73-1B7A8F3A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BEE8"/>
                </a:solidFill>
              </a:defRPr>
            </a:pPr>
            <a:r>
              <a:rPr sz="975" b="1">
                <a:solidFill>
                  <a:srgbClr val="08BEE8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81B639-F428-4451-99A8-07F19D3B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1952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2–12h: 70%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16997-4DBA-4C57-8050-E0689338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BEE8"/>
                </a:solidFill>
              </a:defRPr>
            </a:pPr>
            <a:r>
              <a:rPr sz="975" b="1">
                <a:solidFill>
                  <a:srgbClr val="08BEE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21F439-66B4-4534-B42A-BD4A0D77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&gt; 12h: 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671774-93C6-4D05-868B-2DBDA885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907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F2BF3-99CB-453E-A947-F3DF5F57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D89C"/>
                </a:solidFill>
              </a:defRPr>
            </a:pPr>
            <a:r>
              <a:rPr sz="1050" b="1">
                <a:solidFill>
                  <a:srgbClr val="00D89C"/>
                </a:solidFill>
              </a:rPr>
              <a:t>GIỚI HẠN ĐẶT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B189A7-8E9F-42AB-8CB9-5CE17003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createBooking()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F15D5-D9C4-4F34-AB21-BA0C58BE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C47BD2-4E28-4753-97F5-C309109E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B6FD6-00E9-4266-BC42-A7638614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956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Lượt 3: 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254C55-51F3-4919-8256-66250DC1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76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19588E-327A-4809-8837-5586AAD2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1952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Lượt 4: Block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59F95A-47A0-4159-AA8F-A3D866C3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005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BE2142-BEE8-48AA-94BE-6D0846CC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434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Ranh giới/ngày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BF2B37-4D6B-4DAA-980E-7EBF66D1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907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703479-EC0F-41A6-918E-4D6CB135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E48F3"/>
                </a:solidFill>
              </a:defRPr>
            </a:pPr>
            <a:r>
              <a:rPr sz="1050" b="1">
                <a:solidFill>
                  <a:srgbClr val="DE48F3"/>
                </a:solidFill>
              </a:rPr>
              <a:t>VOUCHER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12F01D-91C5-4569-831C-64CFEE4D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validatePromotion()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7BF789-F314-4D0D-AA26-F8E77CC2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48F3"/>
          </a:solidFill>
          <a:ln xmlns:a="http://schemas.openxmlformats.org/drawingml/2006/main" w="0">
            <a:solidFill>
              <a:srgbClr val="DE48F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005A41-4F15-4450-BA4A-C20193CD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E48F3"/>
                </a:solidFill>
              </a:defRPr>
            </a:pPr>
            <a:r>
              <a:rPr sz="975" b="1">
                <a:solidFill>
                  <a:srgbClr val="DE48F3"/>
                </a:solidFill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52FA07-1E61-4625-B85B-A7FE527F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956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Hết hạn T/F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A09645-8AE3-4673-9D24-FA2F6370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E48F3"/>
                </a:solidFill>
              </a:defRPr>
            </a:pPr>
            <a:r>
              <a:rPr sz="975" b="1">
                <a:solidFill>
                  <a:srgbClr val="DE48F3"/>
                </a:solidFill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68CCFD-4CDC-4060-8329-0C24BE0D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1952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Min order T/F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D6303A-484D-4D4E-A8BA-44BFF41A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E48F3"/>
                </a:solidFill>
              </a:defRPr>
            </a:pPr>
            <a:r>
              <a:rPr sz="975" b="1">
                <a:solidFill>
                  <a:srgbClr val="DE48F3"/>
                </a:solidFill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60B753-50B0-4C82-9CB8-3B41EA89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34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Phủ nhánh if/else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A2838E-9927-409F-8501-24C73091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KỸ THUẬT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0CC4E9-6B54-44DC-99C9-B022895D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67350"/>
            <a:ext cx="685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D98FF"/>
          </a:solidFill>
          <a:ln xmlns:a="http://schemas.openxmlformats.org/drawingml/2006/main" w="9525">
            <a:solidFill>
              <a:srgbClr val="5D98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89EBDD-E756-409E-BDBA-7369A131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67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EP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515AD6-5370-4E16-8246-BD728F99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67350"/>
            <a:ext cx="781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E23C27-3B39-4A0C-9513-D1EEE6CC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673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1B32"/>
                </a:solidFill>
              </a:defRPr>
            </a:pPr>
            <a:r>
              <a:rPr sz="975" b="1">
                <a:solidFill>
                  <a:srgbClr val="0D1B32"/>
                </a:solidFill>
              </a:rPr>
              <a:t>BVA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AFE08D-E117-40A6-9E70-4E7755D3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6735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9EA5C0-2CA1-4297-A941-D2353895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673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1B32"/>
                </a:solidFill>
              </a:defRPr>
            </a:pPr>
            <a:r>
              <a:rPr sz="975" b="1">
                <a:solidFill>
                  <a:srgbClr val="0D1B32"/>
                </a:solidFill>
              </a:rPr>
              <a:t>STATEMENT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A054D4-1374-4771-8D18-DF52EDB6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673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E48F3"/>
          </a:solidFill>
          <a:ln xmlns:a="http://schemas.openxmlformats.org/drawingml/2006/main" w="9525">
            <a:solidFill>
              <a:srgbClr val="DE48F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768A3A-3FA9-4AA8-B816-9E56AB7B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673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BRANCH</a:t>
            </a:r>
          </a:p>
        </p:txBody>
      </p:sp>
    </p:spTree>
    <p:extLst>
      <p:ext uri="{BB962C8B-B14F-4D97-AF65-F5344CB8AC3E}">
        <p14:creationId xmlns:p14="http://schemas.microsoft.com/office/powerpoint/2010/main" val="13302050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6EE615-999B-4660-8ADC-E048C5E3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A6D43-7B23-4FB0-9D3F-20DEC342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AUTOMATION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17B16-35D4-496E-8C9C-015DF093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C1E4A-AF2F-4C09-8932-60F493AA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Vitest tạo một workspace kiểm thử nhanh, thống nhất và dễ bảo trì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89437-BB5A-4B91-9160-3C3AC405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1193A-82C4-4D1D-A095-70B5DEF7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Backend chạy Node, UI chạy JSDOM, dữ liệu dùng chung qua testData.ts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64610-2EAD-46C7-B03B-C1730725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4095750" cy="3486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E8697-8939-4282-A61B-F53A3E42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D89C"/>
                </a:solidFill>
              </a:defRPr>
            </a:pPr>
            <a:r>
              <a:rPr sz="2100" b="1">
                <a:solidFill>
                  <a:srgbClr val="00D89C"/>
                </a:solidFill>
              </a:rPr>
              <a:t>VITEST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1081C-9012-4FC4-9A2A-27DE98E9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Lý do lựa chọn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DD19B-353C-4B88-B0A0-AFF95D66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23B19-4CCF-4DD3-A060-48578BAD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TypeScript &amp; Next.js không cần Babel phức tạp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92DB0-D219-46E7-8B01-059A2415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344B3-A0FE-4071-8E77-1B23E8C0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Chạy song song nhiều suite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7C0EDA-5856-4495-8A90-DA31FCCF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53949-9A55-4106-9997-1611C57C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Mock API, repository và dependency linh hoạt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B4C2D4-F165-4075-ACF8-AEB21DE2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CFFE61-3FA5-4DF8-B32A-C64CAEA7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Coverage V8 tích hợp trực tiếp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CC06A-5043-40B4-B555-4AC8E6B9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6591300" cy="3486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439C30-3A75-4AE5-899D-6C509735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38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8FFF1-0CE6-4AFC-88D8-AE9DE963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19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C2D6"/>
                </a:solidFill>
              </a:defRPr>
            </a:pPr>
            <a:r>
              <a:rPr sz="1200" b="1">
                <a:solidFill>
                  <a:srgbClr val="B5C2D6"/>
                </a:solidFill>
              </a:rPr>
              <a:t>WORKSPACE ARCHITECTURE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C3D469-0786-4EAA-B04A-EB1931DE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0003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546AB7-A87D-49E4-BB51-0C8F3080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47950"/>
            <a:ext cx="1376363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57F898-2130-4EEF-B2F2-080D04FF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33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B2202B-905A-46AC-B789-D01F1707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1147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vitest.config.ts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FD355-ADB0-4AF0-98E8-FE80CDCE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003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1A9846-FFFF-4079-936A-4A9E9B03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647950"/>
            <a:ext cx="1376363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A0148C-B575-428C-BB6F-10E9DC78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163" y="2733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603A54-85F9-4DE8-B60B-3B16020D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163" y="2914650"/>
            <a:ext cx="1147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Backend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Node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273654-A7BB-46B1-ABEC-55603AD3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038" y="30003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847827-3AD7-46C9-B448-014166F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47950"/>
            <a:ext cx="1376363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907D00-A5BB-4864-9888-27CB1505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33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F9F67E-C67B-42A8-BDB3-A2F9748B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14650"/>
            <a:ext cx="1147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Frontend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JSDOM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17F258-C87E-461E-9CF5-B87A5972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488" y="2647950"/>
            <a:ext cx="1376363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57F223-DF3F-4C25-BB17-7252CE51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788" y="2733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2036BE-92E6-4E49-8D73-5FD51B8E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788" y="2914650"/>
            <a:ext cx="1147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Coverage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V8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9824F4-2C6B-42F4-8442-71D8FC0E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48100"/>
            <a:ext cx="541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E932D2-B88D-4B81-A205-B3732D59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3505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49B59C-A557-4822-A12F-530F5E6C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9575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1B32"/>
                </a:solidFill>
              </a:defRPr>
            </a:pPr>
            <a:r>
              <a:rPr sz="975" b="1">
                <a:solidFill>
                  <a:srgbClr val="0D1B32"/>
                </a:solidFill>
              </a:rPr>
              <a:t>tests/data/testData.ts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38665D-DE20-4094-B8AD-AE122F8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5C2D6"/>
                </a:solidFill>
              </a:defRPr>
            </a:pPr>
            <a:r>
              <a:rPr sz="1275" b="0">
                <a:solidFill>
                  <a:srgbClr val="B5C2D6"/>
                </a:solidFill>
              </a:rPr>
              <a:t>Mock accounts • courts • slots • vouchers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EE508C-1D06-4182-8995-660DA486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125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B2830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40A3B8-6F91-4176-A10B-863D7FEC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Một nguồn dữ liệu kiểm thử → ít trùng lặp → thay đổi schema nhanh hơn</a:t>
            </a:r>
          </a:p>
        </p:txBody>
      </p:sp>
    </p:spTree>
    <p:extLst>
      <p:ext uri="{BB962C8B-B14F-4D97-AF65-F5344CB8AC3E}">
        <p14:creationId xmlns:p14="http://schemas.microsoft.com/office/powerpoint/2010/main" val="12270452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6A0D12-7E4D-4A55-8EE1-30191FEB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66F96-6479-440B-B519-CD4BC366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KẾT QUẢ THỰC THI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D4E6E-9544-40A0-82C2-6B85C7BC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728CB-56CF-4E66-9DBF-DF6642F0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53 test tự động đạt 100% pass trong chưa đầy 5 giây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E68C5-CCCA-4924-892B-517C2CAC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E921F-B772-4F48-9AE7-5579E77A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Coverage các lớp logic trọng yếu vượt mục tiêu ban đầu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41E80-6BCA-47E2-B359-B18227C0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588A6-0FD1-4894-B547-5E95F535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72941-F11B-48C1-AF95-3CDBDF1C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5C2D6"/>
                </a:solidFill>
              </a:defRPr>
            </a:pPr>
            <a:r>
              <a:rPr sz="1050" b="1">
                <a:solidFill>
                  <a:srgbClr val="B5C2D6"/>
                </a:solidFill>
              </a:rPr>
              <a:t>TOTAL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954C2-19C1-4E8F-977B-2A8DDEEB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3B94B-D564-47FD-A4B4-782E7307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53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0FF2A-7964-4979-B35D-3651A17C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5C2D6"/>
                </a:solidFill>
              </a:defRPr>
            </a:pPr>
            <a:r>
              <a:rPr sz="1050" b="1">
                <a:solidFill>
                  <a:srgbClr val="B5C2D6"/>
                </a:solidFill>
              </a:rPr>
              <a:t>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BF1DB-627F-4DF7-A0AC-E7858B30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FC0CA-1F92-485F-9350-A5004BB8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6975"/>
                </a:solidFill>
              </a:defRPr>
            </a:pPr>
            <a:r>
              <a:rPr sz="2850" b="1">
                <a:solidFill>
                  <a:srgbClr val="FF6975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88267A-5EA1-4871-B333-554739D1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5C2D6"/>
                </a:solidFill>
              </a:defRPr>
            </a:pPr>
            <a:r>
              <a:rPr sz="1050" b="1">
                <a:solidFill>
                  <a:srgbClr val="B5C2D6"/>
                </a:solidFill>
              </a:rPr>
              <a:t>FAILED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6C235-DBA1-4EED-9254-4102D8BE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43071-0894-4AA0-A4DE-8F8D2726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55214-8A05-43D4-BE21-B3ED170E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5C2D6"/>
                </a:solidFill>
              </a:defRPr>
            </a:pPr>
            <a:r>
              <a:rPr sz="1050" b="1">
                <a:solidFill>
                  <a:srgbClr val="B5C2D6"/>
                </a:solidFill>
              </a:rPr>
              <a:t>PASS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2F3A43-746E-479F-9785-C8DC8FB0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7D31A-5009-4929-A419-8E10E1B9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BEE8"/>
                </a:solidFill>
              </a:defRPr>
            </a:pPr>
            <a:r>
              <a:rPr sz="2850" b="1">
                <a:solidFill>
                  <a:srgbClr val="08BEE8"/>
                </a:solidFill>
              </a:rPr>
              <a:t>4.22s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9E25F-E423-4806-A99C-E6D7006D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5C2D6"/>
                </a:solidFill>
              </a:defRPr>
            </a:pPr>
            <a:r>
              <a:rPr sz="1050" b="1">
                <a:solidFill>
                  <a:srgbClr val="B5C2D6"/>
                </a:solidFill>
              </a:rPr>
              <a:t>LOCAL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6257E2-8843-4543-87F6-1EC702D6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A18F2E-3266-4830-865B-73B7F628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C2D6"/>
                </a:solidFill>
              </a:defRPr>
            </a:pPr>
            <a:r>
              <a:rPr sz="1200" b="1">
                <a:solidFill>
                  <a:srgbClr val="B5C2D6"/>
                </a:solidFill>
              </a:rPr>
              <a:t>TEST SUITE ALLOCATION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27EA98-188E-45B4-A2CB-B9487BE9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Unit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A714B5-0761-4F5E-942F-156D2C66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41 TCs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23248D-6F02-4418-AF81-262F59B5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90950"/>
            <a:ext cx="7105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2ED3FA-A5A4-46CE-927A-CC7BE416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90950"/>
            <a:ext cx="549682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B75D65-FEC9-41F8-BFBE-601710B9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529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API Integration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3E5B4F-4859-42FD-BC4C-F5800BC0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52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9 TCs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E689FF-E180-40E6-8299-C919406C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29125"/>
            <a:ext cx="7105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8ED116-0A7D-4083-9A93-CE213EBD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29125"/>
            <a:ext cx="120662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73AF78-3BCD-4639-9CC2-E1ED8B01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UI Component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D12B25-3BA6-4170-9E16-D43EFCE4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911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3 TCs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9EF9A1-5E94-47C2-8440-E5EB313E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67300"/>
            <a:ext cx="7105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2F1339-53CE-4688-B844-D2E40B51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67300"/>
            <a:ext cx="40220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48F3"/>
          </a:solidFill>
          <a:ln xmlns:a="http://schemas.openxmlformats.org/drawingml/2006/main" w="0">
            <a:solidFill>
              <a:srgbClr val="DE48F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163C51-4FCF-41BF-AEFD-9622E64B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F230E4-C90A-4B89-B605-EAA4178D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Statements 92.5%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6B4338-8DC2-4A40-B2C7-AE059C73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8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BEE8"/>
                </a:solidFill>
              </a:defRPr>
            </a:pPr>
            <a:r>
              <a:rPr sz="1275" b="1">
                <a:solidFill>
                  <a:srgbClr val="08BEE8"/>
                </a:solidFill>
              </a:rPr>
              <a:t>Branches 88.3%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1F95B1-948E-4F00-99C1-09F16D03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8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E48F3"/>
                </a:solidFill>
              </a:defRPr>
            </a:pPr>
            <a:r>
              <a:rPr sz="1275" b="1">
                <a:solidFill>
                  <a:srgbClr val="DE48F3"/>
                </a:solidFill>
              </a:rPr>
              <a:t>Functions 95.0%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C04676-CFA3-4E3E-BD54-CE8508CE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816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98FF"/>
                </a:solidFill>
              </a:defRPr>
            </a:pPr>
            <a:r>
              <a:rPr sz="1275" b="1">
                <a:solidFill>
                  <a:srgbClr val="5D98FF"/>
                </a:solidFill>
              </a:rPr>
              <a:t>Lines 92.5%</a:t>
            </a:r>
          </a:p>
        </p:txBody>
      </p:sp>
    </p:spTree>
    <p:extLst>
      <p:ext uri="{BB962C8B-B14F-4D97-AF65-F5344CB8AC3E}">
        <p14:creationId xmlns:p14="http://schemas.microsoft.com/office/powerpoint/2010/main" val="4464502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6F0E36-9046-455D-9576-DC77DB4A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3B187-4051-4CCF-A4FA-BC2C014B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QA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CE714-4801-4DB6-9D67-EDDC8FCB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894F7-08F4-40B1-AB1A-4A6B2A54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Dashboard biến kết quả kiểm thử thành bằng chứng có thể đọc ngay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8AE6A-5889-4126-9E9A-B506E067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30130-CC68-4EB7-9506-390994CC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Một màn hình kết nối pass rate, phân bổ suite và trạng thái pipeline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c62e0a14c43b9"/>
          <a:stretch xmlns:a="http://schemas.openxmlformats.org/drawingml/2006/main"/>
        </p:blipFill>
        <p:spPr>
          <a:xfrm xmlns:a="http://schemas.openxmlformats.org/drawingml/2006/main">
            <a:off x="533400" y="1844018"/>
            <a:ext cx="7810500" cy="3951015"/>
          </a:xfrm>
          <a:prstGeom xmlns:a="http://schemas.openxmlformats.org/drawingml/2006/main" prst="roundRect">
            <a:avLst>
              <a:gd name="adj" fmla="val 259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300C2-658C-47EE-A9FC-76C8C2CC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526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AB108-36FD-420E-A1DF-8009C9FD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5C2D6"/>
                </a:solidFill>
              </a:defRPr>
            </a:pPr>
            <a:r>
              <a:rPr sz="1275" b="1">
                <a:solidFill>
                  <a:srgbClr val="B5C2D6"/>
                </a:solidFill>
              </a:rPr>
              <a:t>OVERVIEW PORTAL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BAFD8-1133-4891-82B0-35091A27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77C53-DF67-4A63-B741-1B98FB59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24100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53 Passed / 0 Failed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8B891-5414-4BA8-BC40-C7A4DCF8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6B394-1F42-4214-9C8C-5C8DD641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05125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100% automation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8157D-3187-489C-AA05-71046016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D8255-5649-43FE-8F05-BD870487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86150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Phân bổ Unit • API •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6F728A-789C-45B2-9B7F-6370AC2E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43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44157-6196-4CAB-A727-0503014D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67175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Pipeline 7 bước trực quan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1D65A-BF06-410E-BBD8-70745F23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24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1BBE47-0D2C-4885-A15F-7F1BD03B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48200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Coverage theo 4 chỉ số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6072BB-094E-4BC5-97AE-72904032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34000"/>
            <a:ext cx="28003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2830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FA79FE-EAE9-4918-8B7A-8A79E3DC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Evidence → quyết định</a:t>
            </a:r>
          </a:p>
        </p:txBody>
      </p:sp>
    </p:spTree>
    <p:extLst>
      <p:ext uri="{BB962C8B-B14F-4D97-AF65-F5344CB8AC3E}">
        <p14:creationId xmlns:p14="http://schemas.microsoft.com/office/powerpoint/2010/main" val="2556681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1A4498-CEB4-4765-B413-62FAA33E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5A686-FB52-4E13-88AF-CEA3DF09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DASHBOARD VẬN HÀNH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68ECC-32BD-4D03-A77F-D8CA522C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AE79C-9C27-4EFE-BAE8-80219C04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Test Execution và Defect Center rút ngắn vòng phản hồi QA–Dev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90CC1-F6D2-43C1-87E9-FD4026D9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60CBA-92A8-4C49-A8A0-6FF21461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Mỗi kết quả đều có thể lọc, truy vết và mở chi tiết xử lý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B2E7A-060D-493D-B851-0B07C9F3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D7FF6-507F-4683-AD97-D179F8D6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C2D6"/>
                </a:solidFill>
              </a:defRPr>
            </a:pPr>
            <a:r>
              <a:rPr sz="1200" b="1">
                <a:solidFill>
                  <a:srgbClr val="B5C2D6"/>
                </a:solidFill>
              </a:rPr>
              <a:t>TEST EXECUTION GRID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7FEA6-4440-451D-9042-EC30DAF3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Search • Filter • Pagination • Priority •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942EA-992C-41DF-B108-6109C430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C2D6"/>
                </a:solidFill>
              </a:defRPr>
            </a:pPr>
            <a:r>
              <a:rPr sz="1050" b="1">
                <a:solidFill>
                  <a:srgbClr val="B5C2D6"/>
                </a:solidFill>
              </a:rPr>
              <a:t>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778BA-7E67-4AB3-AC20-2466F141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C2D6"/>
                </a:solidFill>
              </a:defRPr>
            </a:pPr>
            <a:r>
              <a:rPr sz="1050" b="1">
                <a:solidFill>
                  <a:srgbClr val="B5C2D6"/>
                </a:solidFill>
              </a:rPr>
              <a:t>MODULE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35406-63EA-4F69-BAA3-BD121642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C2D6"/>
                </a:solidFill>
              </a:defRPr>
            </a:pPr>
            <a:r>
              <a:rPr sz="1050" b="1">
                <a:solidFill>
                  <a:srgbClr val="B5C2D6"/>
                </a:solidFill>
              </a:rPr>
              <a:t>PRIORITY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9E123-83B2-4EC8-8FDC-E01BBCDC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C2D6"/>
                </a:solidFill>
              </a:defRPr>
            </a:pPr>
            <a:r>
              <a:rPr sz="1050" b="1">
                <a:solidFill>
                  <a:srgbClr val="B5C2D6"/>
                </a:solidFill>
              </a:rPr>
              <a:t>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A142F-3A96-48D3-BA8A-5F2EB8BF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546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8ECA3-A5F3-4FB1-890D-ABE3C230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TC_PAY_01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1914B-8C5F-400B-ACCF-C33806E6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Payment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30222-D1F9-4485-BC2B-22F00BD1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High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80F77-0C6C-442F-863A-6AB03629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9C"/>
                </a:solidFill>
              </a:defRPr>
            </a:pPr>
            <a:r>
              <a:rPr sz="1125" b="1">
                <a:solidFill>
                  <a:srgbClr val="00D89C"/>
                </a:solidFill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6A806-EB3D-4473-8DAB-DC5C6EE8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546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EFAB39-AFA3-4042-AFB4-C572A459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TC_BOOK_04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4A1E5-B138-4B45-A575-8D5781DA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Booking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22AA48-D83D-403E-A667-8951D83D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High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5D842B-C3D4-43B5-925A-E598F689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9C"/>
                </a:solidFill>
              </a:defRPr>
            </a:pPr>
            <a:r>
              <a:rPr sz="1125" b="1">
                <a:solidFill>
                  <a:srgbClr val="00D89C"/>
                </a:solidFill>
              </a:rPr>
              <a:t>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F4CD0D-B475-4908-B562-725D1C6C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546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589462-5199-46FF-936C-774D583A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TC_REG_03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749376-0B5E-4162-928F-731D27CE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67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Auth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FE0404-4814-4A15-B84A-9AC33052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67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Medium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B66823-60C3-4C96-BAB7-99E89BC6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867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9C"/>
                </a:solidFill>
              </a:defRPr>
            </a:pPr>
            <a:r>
              <a:rPr sz="1125" b="1">
                <a:solidFill>
                  <a:srgbClr val="00D89C"/>
                </a:solidFill>
              </a:rPr>
              <a:t>PASS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29770E-4DCC-4F72-94D8-0EC9F73B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546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E49863-71C6-4E9D-9949-0C83A889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TC_UI_02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7A87C1-D5EC-49B1-B420-E19A3FDC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Login UI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579088-0581-40FC-BE44-1C5FCD02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7DB1C5-0586-495E-8FAC-A0C45B50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9C"/>
                </a:solidFill>
              </a:defRPr>
            </a:pPr>
            <a:r>
              <a:rPr sz="1125" b="1">
                <a:solidFill>
                  <a:srgbClr val="00D89C"/>
                </a:solidFill>
              </a:rPr>
              <a:t>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DD79F9-FA9E-452E-A396-3785007B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57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5D2195-A82E-4E33-B011-1A14CDC7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38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C2D6"/>
                </a:solidFill>
              </a:defRPr>
            </a:pPr>
            <a:r>
              <a:rPr sz="1200" b="1">
                <a:solidFill>
                  <a:srgbClr val="B5C2D6"/>
                </a:solidFill>
              </a:rPr>
              <a:t>DEFECT DETAIL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82C733-C0E5-46EA-892A-6F1C14A2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51816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064DFC-7A91-4F8A-B4ED-EA1FE7B2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6975"/>
          </a:solidFill>
          <a:ln xmlns:a="http://schemas.openxmlformats.org/drawingml/2006/main" w="9525">
            <a:solidFill>
              <a:srgbClr val="FF697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7C4B8D-FBBA-4E40-8481-8BDFF493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HIGH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E1D9DD-7B62-4396-A135-6A7F9A31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DF_PAY_01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B71865-E5E9-48E1-A4A4-3E42AB6C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Timezone drift in refund calculation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975962-24D7-4056-92B5-BBCAAD93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19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STEPS TO REPRODUCE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CB3BEC-BDB4-48EC-972E-601EF81E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1. Create booking near boundary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2. Cancel using local timezone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3. Compare expected refund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0BEC02-6C17-492B-8702-78027F6A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6636D9-1377-4E87-8DAB-F4BBA399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SUGGESTED FIX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F9FC7B-7646-48A9-AB1C-E4F1BD1E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Normalize timezone or inject controlled clock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C4F2E3-B7FE-45ED-B4EE-9B271B4D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A2F13A-1BB5-404A-BCCE-D091BB9A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Chi tiết đủ ngữ cảnh giúp Dev tái hiện và sửa lỗi ngay trong một vòng</a:t>
            </a:r>
          </a:p>
        </p:txBody>
      </p:sp>
    </p:spTree>
    <p:extLst>
      <p:ext uri="{BB962C8B-B14F-4D97-AF65-F5344CB8AC3E}">
        <p14:creationId xmlns:p14="http://schemas.microsoft.com/office/powerpoint/2010/main" val="14671898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4F2903-717F-4675-B6D8-F72CB4E9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1219C-4E43-4D1A-87B0-9C7A4710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TRUY VẾT &amp; XU HƯỚNG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7C706-D34E-4C29-BA4A-4E11B12E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823B1-4F0D-43AC-9B8E-A2993A84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Traceability nối yêu cầu với test — trend chứng minh chất lượng cải thiện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F24C1-C54B-41C9-955C-DFA17642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FCB87-9250-4960-8CE0-95678459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Dashboard trả lời đồng thời: đã kiểm gì, ở đâu và thay đổi ra sao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22DE1-D324-4517-B47B-1B0CD7EF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2578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F27BA-95CA-433E-978C-FBB2D53F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648A4-6371-4C43-A3E2-242FD329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C2D6"/>
                </a:solidFill>
              </a:defRPr>
            </a:pPr>
            <a:r>
              <a:rPr sz="1200" b="1">
                <a:solidFill>
                  <a:srgbClr val="B5C2D6"/>
                </a:solidFill>
              </a:rPr>
              <a:t>REQUIREMENT TRACEABILITY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FCAD9-2336-40BF-8467-1BAD5277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D98FF"/>
          </a:solidFill>
          <a:ln xmlns:a="http://schemas.openxmlformats.org/drawingml/2006/main" w="9525">
            <a:solidFill>
              <a:srgbClr val="5D9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F68F9-9C98-495A-81CF-CEC25C29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UC-01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E5251-D785-4712-8615-543E9F8B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574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TC_USR_01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46E3E-2A76-482B-8FBA-EFCAA70E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57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5C2D6"/>
                </a:solidFill>
              </a:defRPr>
            </a:pPr>
            <a:r>
              <a:rPr sz="1125" b="0">
                <a:solidFill>
                  <a:srgbClr val="B5C2D6"/>
                </a:solidFill>
              </a:rPr>
              <a:t>tests/unit/user.test.ts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4597E-85EA-402B-AF6A-A7549A9A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D98FF"/>
          </a:solidFill>
          <a:ln xmlns:a="http://schemas.openxmlformats.org/drawingml/2006/main" w="9525">
            <a:solidFill>
              <a:srgbClr val="5D98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3BA15-0DB2-4176-9E5C-E41F14F6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UC-04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E69E3-E7EF-481D-96D8-C00B702B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242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TC_PAY_01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777D1-30DB-4D22-8558-18216B53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5C2D6"/>
                </a:solidFill>
              </a:defRPr>
            </a:pPr>
            <a:r>
              <a:rPr sz="1125" b="0">
                <a:solidFill>
                  <a:srgbClr val="B5C2D6"/>
                </a:solidFill>
              </a:rPr>
              <a:t>tests/api/payment.api.test.ts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F50E1A-1528-4868-B3D8-CBBB7B61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D98FF"/>
          </a:solidFill>
          <a:ln xmlns:a="http://schemas.openxmlformats.org/drawingml/2006/main" w="9525">
            <a:solidFill>
              <a:srgbClr val="5D98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CB1CD-A2E0-4AB0-B2DE-147F7EFF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FR-12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4DB76B-A586-40CF-9190-42BF5BCB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TC_BOOK_04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A37E59-A17A-4F00-B63C-588132E2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90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5C2D6"/>
                </a:solidFill>
              </a:defRPr>
            </a:pPr>
            <a:r>
              <a:rPr sz="1125" b="0">
                <a:solidFill>
                  <a:srgbClr val="B5C2D6"/>
                </a:solidFill>
              </a:rPr>
              <a:t>tests/unit/booking.test.ts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575EDC-AA28-47DC-B37C-47D27338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57350"/>
            <a:ext cx="54864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D3DC5B-5EDE-4BA1-A568-F37478F7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D81133-6CD6-4426-A08F-6281317C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66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C2D6"/>
                </a:solidFill>
              </a:defRPr>
            </a:pPr>
            <a:r>
              <a:rPr sz="1200" b="1">
                <a:solidFill>
                  <a:srgbClr val="B5C2D6"/>
                </a:solidFill>
              </a:rPr>
              <a:t>TREND ANALYTICS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B744FD-6C1E-4512-BA26-66A50311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0ACB19-E874-4CDF-9F7E-6BCC5A24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47950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6DFCA6-38A7-4DC6-B1CC-F78B5AF6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41727">
            <a:off x="6781800" y="4038600"/>
            <a:ext cx="91638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C0C467-B28E-467F-82B9-D8618AA6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06097">
            <a:off x="7639050" y="3714750"/>
            <a:ext cx="90362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D8670B-D4A1-449C-A9A1-7150E850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37749">
            <a:off x="8496300" y="3429000"/>
            <a:ext cx="93810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C5EE27-F27C-4834-8660-E1DFCB49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6805">
            <a:off x="9353550" y="3048000"/>
            <a:ext cx="89230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159846-B9C1-4FE1-9BD0-CE4E70EE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78596">
            <a:off x="10210800" y="2800350"/>
            <a:ext cx="77709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FB713E-6C3F-4FA1-BD8A-F9329AE0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803FA8-14A0-4A5E-BD37-2103CB25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R1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137241-0E2B-4805-986D-A802DDF6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5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32ACFA-D9B5-4657-AD6A-1F38DD87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R2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B3D6E7-4A5E-44FF-87B8-65679B27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71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B173DF-8563-45A0-9289-90EDA23D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R3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6F9D56-50B2-48A6-83F8-B034E467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D9EB9B-2205-4D03-9150-4B9E08A5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R4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0B59B6-2533-4C1F-A49B-B50A84F9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F0192D-35F6-44CC-8FB6-BB5BB06C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R5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5B449B-17E1-4F2A-9DB4-6AD28683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590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9C06EF-C2E1-442E-B106-2163F1D4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R6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9DAEE1-16F8-49B7-8844-C7C57DD5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PASS RATE / COVERAGE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64017D-CEB5-466E-B6CD-E6414FBB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81776B-68E5-4535-9E0E-6C2F7457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History Log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3F5CB7-5E5E-4B4B-8F92-5B49EF2F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Đối soát Run A / B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92DA96-D3D1-487C-B446-87CD249B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34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565DC5-43DE-4AB1-A847-06C58AAF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57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Report Center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1B2924-92D1-4766-B223-0322EFBF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62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Tải báo cáo Markdown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B8A657-C574-47FC-9AB6-90EB4888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48F3"/>
          </a:solidFill>
          <a:ln xmlns:a="http://schemas.openxmlformats.org/drawingml/2006/main" w="0">
            <a:solidFill>
              <a:srgbClr val="DE48F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07B65C-ED11-49D4-92EB-00F6BE33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57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Settings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D0D69E-3BC3-4E75-A7A9-3CD4D640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62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Vitest • Timezone • Mock DB</a:t>
            </a:r>
          </a:p>
        </p:txBody>
      </p:sp>
    </p:spTree>
    <p:extLst>
      <p:ext uri="{BB962C8B-B14F-4D97-AF65-F5344CB8AC3E}">
        <p14:creationId xmlns:p14="http://schemas.microsoft.com/office/powerpoint/2010/main" val="16051351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C025FE-F72E-4FF2-AAEA-2545E2DC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66CC0-7DA2-4D9E-BB2C-A4224DE0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DEFECT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0DFDD-F9AD-4225-8B37-9BA97CE0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F373F-AC86-4419-9119-6D3DD336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Ba lỗi được đóng bằng một quy trình retest có kiểm soát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4B9F3-651A-40C6-B0E2-FB5A407E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6F360-EAC1-42FA-B7D0-F58BA062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Mỗi defect đi qua cùng một lifecycle và giữ bằng chứng sửa lỗi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E94D4-0ABC-4CFC-9B7D-CCA0C099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42163-39FD-4E7B-B446-E546B81E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C02F5-9E5B-410A-9C3B-548B467D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7ABA7-4DBE-4199-B9D6-17AFEAED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New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71C4E-5EEC-4DDA-AD1A-2DC8F236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C0FBB-C540-4780-9FD2-68222324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175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1592F-4572-45F1-A06C-E4ED9563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475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05D0F-3318-4B8C-8271-50AD4EB0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475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Assigned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AA355-7E08-40C3-881C-BEFB0459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2BB951-8336-40B3-B13C-1962B589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754D3-25DA-4B08-82BA-D2F228DF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2B6FB3-CF57-42B3-8229-A477690A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In Progress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A16010-873F-4814-917B-C4937E43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050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25E96C-1EF3-439A-8F47-185566D6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5333A1-D07A-4932-9BBA-411042D5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129D5C-5C10-4A24-A597-1FBDBD1F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Fixed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74B3E7-1C88-4536-80B8-1F6953C1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825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6A8B24-8A8A-4F4F-8938-D82C8E29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B0101-A2D9-4C17-B984-9CF11881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A6CD82-BD36-4D75-8863-6949DAFB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Retest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E1FC36-5650-4272-98F2-43D2ACC6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275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125647-E3C3-47B0-AE68-05FD1350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575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4F5920-68C1-4472-85FB-D7FF0ECE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575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Closed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AA93CA-76D3-4D29-AA69-5730493E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34290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A6D67C-F88B-4E36-A33E-746C375D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914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6975"/>
          </a:solidFill>
          <a:ln xmlns:a="http://schemas.openxmlformats.org/drawingml/2006/main" w="9525">
            <a:solidFill>
              <a:srgbClr val="FF697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B0C951-7EAD-4FC7-8A6F-9D9D470C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HIGH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18ACCD-A62B-48E0-8183-D9DF9321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00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DF_PAY_01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3BE932-9A43-4E02-B4B3-93F190A4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Lệch múi giờ hoàn tiền</a:t>
            </a:r>
          </a:p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UTC vs UTC+7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D13B21-CB94-4A35-A4E3-8293EB14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D89C"/>
                </a:solidFill>
              </a:defRPr>
            </a:pPr>
            <a:r>
              <a:rPr sz="1050" b="1">
                <a:solidFill>
                  <a:srgbClr val="00D89C"/>
                </a:solidFill>
              </a:rPr>
              <a:t>FIXED • RETESTED • CLOSED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B37E0A-2033-46C2-B904-5D0C045B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71800"/>
            <a:ext cx="34290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0B3069-5583-4DF3-A569-7C198EDE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914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D064"/>
          </a:solidFill>
          <a:ln xmlns:a="http://schemas.openxmlformats.org/drawingml/2006/main" w="9525">
            <a:solidFill>
              <a:srgbClr val="FFD06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FA9742-9727-4116-BF83-78156255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004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1B32"/>
                </a:solidFill>
              </a:defRPr>
            </a:pPr>
            <a:r>
              <a:rPr sz="975" b="1">
                <a:solidFill>
                  <a:srgbClr val="0D1B32"/>
                </a:solidFill>
              </a:rPr>
              <a:t>MEDIUM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87D20D-AC7B-48E2-A6D6-D6DBB1FF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00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DF_REG_01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635B91-B967-4B7E-BCAC-9665B88B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Email hai dấu chấm</a:t>
            </a:r>
          </a:p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được Zod chấp nhận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A93B76-0A1F-4371-BF3F-1FF9F61C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482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D89C"/>
                </a:solidFill>
              </a:defRPr>
            </a:pPr>
            <a:r>
              <a:rPr sz="1050" b="1">
                <a:solidFill>
                  <a:srgbClr val="00D89C"/>
                </a:solidFill>
              </a:rPr>
              <a:t>FIXED • RETESTED • CLOSED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E0496D-CD58-4CB0-BC5E-C75B1E46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71800"/>
            <a:ext cx="34290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E91A76-1638-4BF9-AA66-138C4A5C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914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8CFF26-F68B-4659-AEBF-199CBC0D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1B32"/>
                </a:solidFill>
              </a:defRPr>
            </a:pPr>
            <a:r>
              <a:rPr sz="975" b="1">
                <a:solidFill>
                  <a:srgbClr val="0D1B32"/>
                </a:solidFill>
              </a:rPr>
              <a:t>MEDIUM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0A44645-E6A0-4496-9C62-09A6E75B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00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DF_PAY_02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A94800-7983-4DA1-B1DF-D23EDA81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Webhook thiếu</a:t>
            </a:r>
          </a:p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success indicator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D26D71-FDD4-41C5-8BDA-EDAA3AED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D89C"/>
                </a:solidFill>
              </a:defRPr>
            </a:pPr>
            <a:r>
              <a:rPr sz="1050" b="1">
                <a:solidFill>
                  <a:srgbClr val="00D89C"/>
                </a:solidFill>
              </a:rPr>
              <a:t>FIXED • RETESTED • CLOSED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CCF40D-4824-4705-BF1E-D273F79E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111252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2830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182DFF-9329-4099-A719-2825B64A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100%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C14FA3-60A1-4DFA-9267-8877C28B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5C2D6"/>
                </a:solidFill>
              </a:defRPr>
            </a:pPr>
            <a:r>
              <a:rPr sz="1050" b="1">
                <a:solidFill>
                  <a:srgbClr val="B5C2D6"/>
                </a:solidFill>
              </a:rPr>
              <a:t>DEFECTS CLOSED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B039CD-A939-489D-953E-98F33637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4355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Không còn defect Critical/High mở trước khi bàn giao</a:t>
            </a:r>
          </a:p>
        </p:txBody>
      </p:sp>
    </p:spTree>
    <p:extLst>
      <p:ext uri="{BB962C8B-B14F-4D97-AF65-F5344CB8AC3E}">
        <p14:creationId xmlns:p14="http://schemas.microsoft.com/office/powerpoint/2010/main" val="17074964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B0027E-7B0B-44AC-B9CF-84F939C0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1D499-8ABF-4388-8675-D7B71B09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AI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3ECF0-42EB-467F-97EC-4DF9F79E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32908-A318-4BBD-90E6-A4FCDCB8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AI tăng tốc khởi tạo — nhóm vẫn chịu trách nhiệm kiểm chứng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F5838-C94C-4ED7-B3F7-6062EFBA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1A474-D7D0-4220-853F-AE12AB66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Prompt engineering hiệu quả khi mọi gợi ý đều được review bằng tài liệu và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08508-524E-47CE-9ADC-CB01A7C8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FB6E4-2214-452B-886B-DA7B6508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D89C"/>
                </a:solidFill>
              </a:defRPr>
            </a:pPr>
            <a:r>
              <a:rPr sz="1650" b="1">
                <a:solidFill>
                  <a:srgbClr val="00D89C"/>
                </a:solidFill>
              </a:rPr>
              <a:t>ChatGPT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05292-A32A-4E8E-B080-A25968DF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Boilerplate test &amp; NextRequest mocks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DDD98-6773-489E-80BC-EE3B2A24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9545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2ABD9-17AC-4FED-95C9-87EA2D31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47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BEE8"/>
                </a:solidFill>
              </a:defRPr>
            </a:pPr>
            <a:r>
              <a:rPr sz="1650" b="1">
                <a:solidFill>
                  <a:srgbClr val="08BEE8"/>
                </a:solidFill>
              </a:rPr>
              <a:t>Claude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2269E-469C-4991-8BAD-1A3C35E6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980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Use Case branches &amp; workspace config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180FF-FBDF-4B60-8D89-8A6456E0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05126-6610-496A-8061-96C3ED7A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47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E48F3"/>
                </a:solidFill>
              </a:defRPr>
            </a:pPr>
            <a:r>
              <a:rPr sz="1650" b="1">
                <a:solidFill>
                  <a:srgbClr val="DE48F3"/>
                </a:solidFill>
              </a:rPr>
              <a:t>GitHub Copilot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B6F936-D313-4087-9763-03DF87E8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Gợi ý mã trong 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0BCA2-3B68-4C83-ABD1-64A478F5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51816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402E58-5BFE-4A28-A253-7CCD3CF7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8CD3E-0B2D-4DA0-A2CA-668C923E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C2D6"/>
                </a:solidFill>
              </a:defRPr>
            </a:pPr>
            <a:r>
              <a:rPr sz="1200" b="1">
                <a:solidFill>
                  <a:srgbClr val="B5C2D6"/>
                </a:solidFill>
              </a:rPr>
              <a:t>GIÁ TRỊ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21BFF-7F3E-45A4-B079-FEEDBC5D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~50%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143AF9-EA46-465D-94A0-E77551F2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5C2D6"/>
                </a:solidFill>
              </a:defRPr>
            </a:pPr>
            <a:r>
              <a:rPr sz="1050" b="1">
                <a:solidFill>
                  <a:srgbClr val="B5C2D6"/>
                </a:solidFill>
              </a:rPr>
              <a:t>BOILERPLATE ĐƯỢC HỖ TRỢ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EF6FF5-2BBD-41D7-9603-02FECB55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5C2D6"/>
                </a:solidFill>
              </a:defRPr>
            </a:pPr>
            <a:r>
              <a:rPr sz="1275" b="0">
                <a:solidFill>
                  <a:srgbClr val="B5C2D6"/>
                </a:solidFill>
              </a:rPr>
              <a:t>Tiết kiệm thời gian khởi tạo để tập trung vào logic nghiệp vụ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7CCE17-9FC4-434F-B803-328F9789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55626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211720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D2D71D-75BD-43E7-8886-DA7AF1CA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729C2-47CC-42AF-92FB-E783B832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C2D6"/>
                </a:solidFill>
              </a:defRPr>
            </a:pPr>
            <a:r>
              <a:rPr sz="1200" b="1">
                <a:solidFill>
                  <a:srgbClr val="B5C2D6"/>
                </a:solidFill>
              </a:rPr>
              <a:t>AI MISTAKES → HUMAN FIX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9363B6-135A-4383-995B-60C0963C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B4C63E-2866-45CC-B8FF-383885F4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67150"/>
            <a:ext cx="461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UTC cứng làm refund test fail ngẫu nhiên → dùng ngày động / clock kiểm soát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CA951D-4AEC-4B19-AD7A-D0C2C583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67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D4CBDD-3224-49DC-A702-38616A65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91050"/>
            <a:ext cx="461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Cú pháp RTL cũ → đối chiếu tài liệu v16 và cập nhật test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82DBAD-8F8B-44DD-8560-A5B66A57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Nguyên tắc: AI đề xuất • Con người xác minh • Test quyết định</a:t>
            </a:r>
          </a:p>
        </p:txBody>
      </p:sp>
    </p:spTree>
    <p:extLst>
      <p:ext uri="{BB962C8B-B14F-4D97-AF65-F5344CB8AC3E}">
        <p14:creationId xmlns:p14="http://schemas.microsoft.com/office/powerpoint/2010/main" val="15666313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B2187A-CDE2-4B0F-B2B7-7E993219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7CC45-D0B6-4033-83C4-47E063DE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ĐÓNG GÓP THÀNH VIÊN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5EFAA-2B71-42C1-88F2-947C8326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FB0DA-7F24-4CFE-A6DA-74AF104D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Phân công rõ vai trò, nhưng chất lượng là trách nhiệm chung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BBD01-AC74-4F99-B0AA-451B140D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E82BA-21B4-4654-BB09-2E2EB8FF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C2D6"/>
                </a:solidFill>
              </a:defRPr>
            </a:pPr>
            <a:r>
              <a:rPr sz="1200" b="0">
                <a:solidFill>
                  <a:srgbClr val="B5C2D6"/>
                </a:solidFill>
              </a:rPr>
              <a:t>Mỗi đóng góp gắn với deliverable và pull request có thể truy vết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16020-1DCE-4C5B-808B-B6F7475E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8FF"/>
          </a:solidFill>
          <a:ln xmlns:a="http://schemas.openxmlformats.org/drawingml/2006/main" w="0">
            <a:solidFill>
              <a:srgbClr val="5D9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83D6B-A267-440E-A836-6C322123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Trần Quốc Sang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519FA-73D4-4E60-883D-40F1BBE8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98FF"/>
                </a:solidFill>
              </a:defRPr>
            </a:pPr>
            <a:r>
              <a:rPr sz="1125" b="1">
                <a:solidFill>
                  <a:srgbClr val="5D98FF"/>
                </a:solidFill>
              </a:rPr>
              <a:t>PM / Tester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3E31F-8B9E-4E74-AD7E-97D552FD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383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Kế hoạch • Decision Table • Use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BD243-9536-4794-8301-927F29E8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526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D98FF"/>
          </a:solidFill>
          <a:ln xmlns:a="http://schemas.openxmlformats.org/drawingml/2006/main" w="9525">
            <a:solidFill>
              <a:srgbClr val="5D9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0DD61-F27C-4FE3-AEFA-EE00EDD5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526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PR #1 • #3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75C75-648D-491F-9C65-D2AF82B2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FAFBA-7037-4C39-925D-CC2B8AA1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Lê Thị Văn Anh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2CC38-3FD9-4D05-B8CC-8A650692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9C"/>
                </a:solidFill>
              </a:defRPr>
            </a:pPr>
            <a:r>
              <a:rPr sz="1125" b="1">
                <a:solidFill>
                  <a:srgbClr val="00D89C"/>
                </a:solidFill>
              </a:rPr>
              <a:t>QA Leader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A289A-5BC4-490D-981F-7C6606FD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146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Vitest/JSDOM • API tests •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18C5CD-7ABE-42F7-A9E6-31035BA2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289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6249F-C5B8-4C05-8645-B8870FB6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289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PR #6 • #7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63258-7EA4-4EE7-BE91-DF6C9ABC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94A351-54DE-4869-A476-B5A662A0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Trương Quang Tuân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4C91D7-D11F-4244-B52F-01157864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BEE8"/>
                </a:solidFill>
              </a:defRPr>
            </a:pPr>
            <a:r>
              <a:rPr sz="1125" b="1">
                <a:solidFill>
                  <a:srgbClr val="08BEE8"/>
                </a:solidFill>
              </a:rPr>
              <a:t>Tester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7F4EA-4002-48F5-AAC4-C52CE185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909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Unit Tests • Workspace config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19F33D-606E-40DB-9D93-F3FA2C03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052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233257-CE26-4F22-A956-EC99E5E0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052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PR #2 • #4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D96C03-4C89-4622-B2CF-E96E65D2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64"/>
          </a:solidFill>
          <a:ln xmlns:a="http://schemas.openxmlformats.org/drawingml/2006/main" w="0">
            <a:solidFill>
              <a:srgbClr val="FFD0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DD5DE5-B733-4063-B285-EFE66DA2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Nguyễn Đào Văn Quý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489AB-6D81-46EA-92DE-EA0E3754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064"/>
                </a:solidFill>
              </a:defRPr>
            </a:pPr>
            <a:r>
              <a:rPr sz="1125" b="1">
                <a:solidFill>
                  <a:srgbClr val="FFD064"/>
                </a:solidFill>
              </a:rPr>
              <a:t>Backend Dev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E30B56-D22F-40F1-8853-AE1AD472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672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API • Mock DB • Business fixes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B0139D-A0B0-40FA-A76E-BFFEBE3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815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D064"/>
          </a:solidFill>
          <a:ln xmlns:a="http://schemas.openxmlformats.org/drawingml/2006/main" w="9525">
            <a:solidFill>
              <a:srgbClr val="FFD0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D5A1FC-B027-45DE-9AF5-5D6F3AE0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815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1B32"/>
                </a:solidFill>
              </a:defRPr>
            </a:pPr>
            <a:r>
              <a:rPr sz="975" b="1">
                <a:solidFill>
                  <a:srgbClr val="0D1B32"/>
                </a:solidFill>
              </a:rPr>
              <a:t>PR #5 • #8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CA3D66-E07F-4168-B4B1-DF0995CF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48F3"/>
          </a:solidFill>
          <a:ln xmlns:a="http://schemas.openxmlformats.org/drawingml/2006/main" w="0">
            <a:solidFill>
              <a:srgbClr val="DE48F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BF67B7-1695-404B-ACBE-A204A5DE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Lê Hữu Sơn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4B8A00-5B0B-4702-BF2B-5B11E6EA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E48F3"/>
                </a:solidFill>
              </a:defRPr>
            </a:pPr>
            <a:r>
              <a:rPr sz="1125" b="1">
                <a:solidFill>
                  <a:srgbClr val="DE48F3"/>
                </a:solidFill>
              </a:rPr>
              <a:t>Frontend Dev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B59FF0-EFF7-4F2E-960F-6A9624B6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435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LoginPage • RTL component logic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87A4F5-A106-42DF-A357-F65187FA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578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E48F3"/>
          </a:solidFill>
          <a:ln xmlns:a="http://schemas.openxmlformats.org/drawingml/2006/main" w="9525">
            <a:solidFill>
              <a:srgbClr val="DE48F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B323F2-F869-4145-831E-AEFC80CE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578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PR #9 • #10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C893B9-C22D-4C9D-A877-ECF12EB6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1125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A2E4D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AA59BF-DBE9-4BEC-A7E9-18268A16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875668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3F6C87-0B44-4054-9F9D-89B0D7D9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4EF65-7DE5-4C6D-B92B-C266B6AC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C2D6"/>
                </a:solidFill>
              </a:defRPr>
            </a:pPr>
            <a:r>
              <a:rPr sz="975" b="1">
                <a:solidFill>
                  <a:srgbClr val="B5C2D6"/>
                </a:solidFill>
              </a:rPr>
              <a:t>KẾT LUẬN &amp; BƯỚC TIẾP THEO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0F416-7BF5-408E-8743-862A8E30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2D6"/>
                </a:solidFill>
              </a:defRPr>
            </a:pPr>
            <a:r>
              <a:rPr sz="900" b="1">
                <a:solidFill>
                  <a:srgbClr val="B5C2D6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9DCE4-495F-4E6C-8354-77CA43DF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Một nền tảng kiểm thử đã hình thành.</a:t>
            </a:r>
          </a:p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Bước tiếp theo là tự động hóa nó trong CI/CD.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EF26E-4C2A-46C0-860C-0A4B8D41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1D927-BC62-4D71-AFF7-3C0ED6EE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10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6094A-CDF8-4BC5-9225-567C3209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53 / 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8B022-3F22-4880-8E8C-9460AF54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5C2D6"/>
                </a:solidFill>
              </a:defRPr>
            </a:pPr>
            <a:r>
              <a:rPr sz="1050" b="1">
                <a:solidFill>
                  <a:srgbClr val="B5C2D6"/>
                </a:solidFill>
              </a:rPr>
              <a:t>AUTOMATED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8E0DF-D919-4C01-9E95-5FCD5BC1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310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9AD53-BA2A-484D-BC27-61427F3B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384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BEE8"/>
                </a:solidFill>
              </a:defRPr>
            </a:pPr>
            <a:r>
              <a:rPr sz="2850" b="1">
                <a:solidFill>
                  <a:srgbClr val="08BEE8"/>
                </a:solidFill>
              </a:rPr>
              <a:t>&gt;92.5%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61F07-1AD3-45B0-A9EC-E18B4550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71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5C2D6"/>
                </a:solidFill>
              </a:defRPr>
            </a:pPr>
            <a:r>
              <a:rPr sz="1050" b="1">
                <a:solidFill>
                  <a:srgbClr val="B5C2D6"/>
                </a:solidFill>
              </a:rPr>
              <a:t>TARGETED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21A7C-5518-4B6F-B99D-CD71FB7C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86050"/>
            <a:ext cx="310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2641"/>
          </a:solidFill>
          <a:ln xmlns:a="http://schemas.openxmlformats.org/drawingml/2006/main" w="9525">
            <a:solidFill>
              <a:srgbClr val="35507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75469-3408-41B2-B412-0CFF740F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384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E48F3"/>
                </a:solidFill>
              </a:defRPr>
            </a:pPr>
            <a:r>
              <a:rPr sz="2850" b="1">
                <a:solidFill>
                  <a:srgbClr val="DE48F3"/>
                </a:solidFill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D5F5A-42BF-4A9D-A9D0-AFA8A55D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5C2D6"/>
                </a:solidFill>
              </a:defRPr>
            </a:pPr>
            <a:r>
              <a:rPr sz="1050" b="1">
                <a:solidFill>
                  <a:srgbClr val="B5C2D6"/>
                </a:solidFill>
              </a:rPr>
              <a:t>DEFECTS CLOSED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E84D7-652D-48DB-81A9-61BA0E47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C2D6"/>
                </a:solidFill>
              </a:defRPr>
            </a:pPr>
            <a:r>
              <a:rPr sz="1350" b="1">
                <a:solidFill>
                  <a:srgbClr val="B5C2D6"/>
                </a:solidFill>
              </a:rPr>
              <a:t>HƯỚNG PHÁT TRIỂN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9EDDF-EF9F-4465-8258-0037024F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1"/>
          </a:solidFill>
          <a:ln xmlns:a="http://schemas.openxmlformats.org/drawingml/2006/main" w="0">
            <a:solidFill>
              <a:srgbClr val="35507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1DB5C-7EDC-40CF-AF75-32F1A887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89458-D788-42F8-8DE8-5C5BA70A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GitHub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74289-74EA-474D-B0D5-B2348AB6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530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Chạy test và coverage gate trên mỗi Pull Request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27251B-39A2-4BC3-9166-B85357A9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BEE8"/>
                </a:solidFill>
              </a:defRPr>
            </a:pPr>
            <a:r>
              <a:rPr sz="1350" b="1">
                <a:solidFill>
                  <a:srgbClr val="08BEE8"/>
                </a:solidFill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0AD31B-F504-46A3-90A5-F936661D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Playwright E2E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E3B881-E160-4285-962C-4499EDC3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5245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5C2D6"/>
                </a:solidFill>
              </a:defRPr>
            </a:pPr>
            <a:r>
              <a:rPr sz="1350" b="0">
                <a:solidFill>
                  <a:srgbClr val="B5C2D6"/>
                </a:solidFill>
              </a:rPr>
              <a:t>Mở rộng sang Chrome, Safari và các hành trình thật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06F49-DAEE-46B6-9A2F-0DE5E947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43600"/>
            <a:ext cx="3143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9794A-12D1-44E7-8F41-E51BF481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9436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1B32"/>
                </a:solidFill>
              </a:defRPr>
            </a:pPr>
            <a:r>
              <a:rPr sz="975" b="1">
                <a:solidFill>
                  <a:srgbClr val="0D1B32"/>
                </a:solidFill>
              </a:rPr>
              <a:t>READY FOR THE NEXT QUALITY GATE</a:t>
            </a:r>
          </a:p>
        </p:txBody>
      </p:sp>
    </p:spTree>
    <p:extLst>
      <p:ext uri="{BB962C8B-B14F-4D97-AF65-F5344CB8AC3E}">
        <p14:creationId xmlns:p14="http://schemas.microsoft.com/office/powerpoint/2010/main" val="2481615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2026-07-19T11:35:31.3070000Z</dcterms:created>
  <dcterms:modified xsi:type="dcterms:W3CDTF">2026-07-19T11:35:31.3070000Z</dcterms:modified>
</coreProperties>
</file>